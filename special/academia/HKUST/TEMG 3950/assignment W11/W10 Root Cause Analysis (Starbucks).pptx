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57" r:id="rId4"/>
    <p:sldId id="258" r:id="rId5"/>
    <p:sldId id="259" r:id="rId6"/>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6" d="100"/>
          <a:sy n="76" d="100"/>
        </p:scale>
        <p:origin x="88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141C-74D3-25CF-9F81-25CC34941B00}"/>
              </a:ext>
            </a:extLst>
          </p:cNvPr>
          <p:cNvSpPr>
            <a:spLocks noGrp="1"/>
          </p:cNvSpPr>
          <p:nvPr>
            <p:ph type="ctrTitle"/>
          </p:nvPr>
        </p:nvSpPr>
        <p:spPr>
          <a:xfrm>
            <a:off x="1524000" y="1122363"/>
            <a:ext cx="9144000" cy="2387600"/>
          </a:xfrm>
        </p:spPr>
        <p:txBody>
          <a:bodyPr anchor="b"/>
          <a:lstStyle>
            <a:lvl1pPr algn="ctr">
              <a:defRPr sz="6000"/>
            </a:lvl1pPr>
          </a:lstStyle>
          <a:p>
            <a:r>
              <a:rPr lang="en-US" altLang="zh-HK"/>
              <a:t>Click to edit Master title style</a:t>
            </a:r>
            <a:endParaRPr lang="zh-HK" altLang="en-US"/>
          </a:p>
        </p:txBody>
      </p:sp>
      <p:sp>
        <p:nvSpPr>
          <p:cNvPr id="3" name="Subtitle 2">
            <a:extLst>
              <a:ext uri="{FF2B5EF4-FFF2-40B4-BE49-F238E27FC236}">
                <a16:creationId xmlns:a16="http://schemas.microsoft.com/office/drawing/2014/main" id="{3F8C1B15-B430-38EE-7C17-2D88532A70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HK"/>
              <a:t>Click to edit Master subtitle style</a:t>
            </a:r>
            <a:endParaRPr lang="zh-HK" altLang="en-US"/>
          </a:p>
        </p:txBody>
      </p:sp>
      <p:sp>
        <p:nvSpPr>
          <p:cNvPr id="4" name="Date Placeholder 3">
            <a:extLst>
              <a:ext uri="{FF2B5EF4-FFF2-40B4-BE49-F238E27FC236}">
                <a16:creationId xmlns:a16="http://schemas.microsoft.com/office/drawing/2014/main" id="{7370E2AF-13DB-4673-C6FB-7E639A4E9D9A}"/>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5" name="Footer Placeholder 4">
            <a:extLst>
              <a:ext uri="{FF2B5EF4-FFF2-40B4-BE49-F238E27FC236}">
                <a16:creationId xmlns:a16="http://schemas.microsoft.com/office/drawing/2014/main" id="{6EC5D44E-9E40-A24C-35E5-B9A9553B1AB1}"/>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C7CF09CD-F673-C7C8-8A30-2BDE1AC7C24E}"/>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1194943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DA47-810C-203D-2BBC-3415F57C9A59}"/>
              </a:ext>
            </a:extLst>
          </p:cNvPr>
          <p:cNvSpPr>
            <a:spLocks noGrp="1"/>
          </p:cNvSpPr>
          <p:nvPr>
            <p:ph type="title"/>
          </p:nvPr>
        </p:nvSpPr>
        <p:spPr/>
        <p:txBody>
          <a:body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8672B620-280E-2765-6731-806B46C99EC0}"/>
              </a:ext>
            </a:extLst>
          </p:cNvPr>
          <p:cNvSpPr>
            <a:spLocks noGrp="1"/>
          </p:cNvSpPr>
          <p:nvPr>
            <p:ph idx="1"/>
          </p:nvPr>
        </p:nvSpPr>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8FFE744-AAF3-27B1-6629-EC864B87A9FD}"/>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5" name="Footer Placeholder 4">
            <a:extLst>
              <a:ext uri="{FF2B5EF4-FFF2-40B4-BE49-F238E27FC236}">
                <a16:creationId xmlns:a16="http://schemas.microsoft.com/office/drawing/2014/main" id="{47EA4479-6C64-36E8-B545-9B119BBFA6AF}"/>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BF3DDA31-7812-A7B4-821F-0F33392B3273}"/>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958801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9BC1-6011-C68E-8708-C16A11E07623}"/>
              </a:ext>
            </a:extLst>
          </p:cNvPr>
          <p:cNvSpPr>
            <a:spLocks noGrp="1"/>
          </p:cNvSpPr>
          <p:nvPr>
            <p:ph type="title"/>
          </p:nvPr>
        </p:nvSpPr>
        <p:spPr>
          <a:xfrm>
            <a:off x="831850" y="1709738"/>
            <a:ext cx="10515600" cy="2852737"/>
          </a:xfrm>
        </p:spPr>
        <p:txBody>
          <a:bodyPr anchor="b"/>
          <a:lstStyle>
            <a:lvl1pPr>
              <a:defRPr sz="6000"/>
            </a:lvl1p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6E542353-0504-96C7-5B86-73A64C5245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HK"/>
              <a:t>Click to edit Master text styles</a:t>
            </a:r>
          </a:p>
        </p:txBody>
      </p:sp>
      <p:sp>
        <p:nvSpPr>
          <p:cNvPr id="4" name="Date Placeholder 3">
            <a:extLst>
              <a:ext uri="{FF2B5EF4-FFF2-40B4-BE49-F238E27FC236}">
                <a16:creationId xmlns:a16="http://schemas.microsoft.com/office/drawing/2014/main" id="{1B74EF01-2F77-0C23-C963-A416A2AE6E00}"/>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5" name="Footer Placeholder 4">
            <a:extLst>
              <a:ext uri="{FF2B5EF4-FFF2-40B4-BE49-F238E27FC236}">
                <a16:creationId xmlns:a16="http://schemas.microsoft.com/office/drawing/2014/main" id="{45D37CFA-10DC-FD56-6229-30C99C300B03}"/>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097BE295-1389-29FB-31BF-547BA350F6ED}"/>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743951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11BE-AB0E-16CD-F4F9-15B7816DD94D}"/>
              </a:ext>
            </a:extLst>
          </p:cNvPr>
          <p:cNvSpPr>
            <a:spLocks noGrp="1"/>
          </p:cNvSpPr>
          <p:nvPr>
            <p:ph type="title"/>
          </p:nvPr>
        </p:nvSpPr>
        <p:spPr/>
        <p:txBody>
          <a:body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009269B2-FFC9-2338-857E-C1E16934653D}"/>
              </a:ext>
            </a:extLst>
          </p:cNvPr>
          <p:cNvSpPr>
            <a:spLocks noGrp="1"/>
          </p:cNvSpPr>
          <p:nvPr>
            <p:ph sz="half" idx="1"/>
          </p:nvPr>
        </p:nvSpPr>
        <p:spPr>
          <a:xfrm>
            <a:off x="838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Content Placeholder 3">
            <a:extLst>
              <a:ext uri="{FF2B5EF4-FFF2-40B4-BE49-F238E27FC236}">
                <a16:creationId xmlns:a16="http://schemas.microsoft.com/office/drawing/2014/main" id="{79F8C9CD-6AB4-0006-0216-D2921DE1BE98}"/>
              </a:ext>
            </a:extLst>
          </p:cNvPr>
          <p:cNvSpPr>
            <a:spLocks noGrp="1"/>
          </p:cNvSpPr>
          <p:nvPr>
            <p:ph sz="half" idx="2"/>
          </p:nvPr>
        </p:nvSpPr>
        <p:spPr>
          <a:xfrm>
            <a:off x="6172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Date Placeholder 4">
            <a:extLst>
              <a:ext uri="{FF2B5EF4-FFF2-40B4-BE49-F238E27FC236}">
                <a16:creationId xmlns:a16="http://schemas.microsoft.com/office/drawing/2014/main" id="{E05E363E-A41B-D5F4-41B3-51477A43E9BF}"/>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6" name="Footer Placeholder 5">
            <a:extLst>
              <a:ext uri="{FF2B5EF4-FFF2-40B4-BE49-F238E27FC236}">
                <a16:creationId xmlns:a16="http://schemas.microsoft.com/office/drawing/2014/main" id="{5294A09F-225E-D7C9-3CC0-6D2BEB7C4935}"/>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6337394F-D9A3-17E3-08FD-505FDF5243AA}"/>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9342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BA5-8D85-9C64-F82D-F62A3FA40030}"/>
              </a:ext>
            </a:extLst>
          </p:cNvPr>
          <p:cNvSpPr>
            <a:spLocks noGrp="1"/>
          </p:cNvSpPr>
          <p:nvPr>
            <p:ph type="title"/>
          </p:nvPr>
        </p:nvSpPr>
        <p:spPr>
          <a:xfrm>
            <a:off x="839788" y="365125"/>
            <a:ext cx="10515600" cy="1325563"/>
          </a:xfrm>
        </p:spPr>
        <p:txBody>
          <a:body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19E6F7AA-7D42-EF66-9092-831944B778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4" name="Content Placeholder 3">
            <a:extLst>
              <a:ext uri="{FF2B5EF4-FFF2-40B4-BE49-F238E27FC236}">
                <a16:creationId xmlns:a16="http://schemas.microsoft.com/office/drawing/2014/main" id="{907260F6-C282-EBE5-71C3-CDD1A9B75D7C}"/>
              </a:ext>
            </a:extLst>
          </p:cNvPr>
          <p:cNvSpPr>
            <a:spLocks noGrp="1"/>
          </p:cNvSpPr>
          <p:nvPr>
            <p:ph sz="half" idx="2"/>
          </p:nvPr>
        </p:nvSpPr>
        <p:spPr>
          <a:xfrm>
            <a:off x="839788" y="2505075"/>
            <a:ext cx="5157787" cy="368458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Text Placeholder 4">
            <a:extLst>
              <a:ext uri="{FF2B5EF4-FFF2-40B4-BE49-F238E27FC236}">
                <a16:creationId xmlns:a16="http://schemas.microsoft.com/office/drawing/2014/main" id="{1C8C532F-BD81-60B3-ECA9-745EB6D69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6" name="Content Placeholder 5">
            <a:extLst>
              <a:ext uri="{FF2B5EF4-FFF2-40B4-BE49-F238E27FC236}">
                <a16:creationId xmlns:a16="http://schemas.microsoft.com/office/drawing/2014/main" id="{A42348A9-4962-CFFD-A400-28935CE64D81}"/>
              </a:ext>
            </a:extLst>
          </p:cNvPr>
          <p:cNvSpPr>
            <a:spLocks noGrp="1"/>
          </p:cNvSpPr>
          <p:nvPr>
            <p:ph sz="quarter" idx="4"/>
          </p:nvPr>
        </p:nvSpPr>
        <p:spPr>
          <a:xfrm>
            <a:off x="6172200" y="2505075"/>
            <a:ext cx="5183188" cy="368458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7" name="Date Placeholder 6">
            <a:extLst>
              <a:ext uri="{FF2B5EF4-FFF2-40B4-BE49-F238E27FC236}">
                <a16:creationId xmlns:a16="http://schemas.microsoft.com/office/drawing/2014/main" id="{368E4157-6FC2-E3E8-1268-EB66E19C5DAA}"/>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8" name="Footer Placeholder 7">
            <a:extLst>
              <a:ext uri="{FF2B5EF4-FFF2-40B4-BE49-F238E27FC236}">
                <a16:creationId xmlns:a16="http://schemas.microsoft.com/office/drawing/2014/main" id="{49DD4D23-A9B4-54EE-A38C-A05477A3BFA0}"/>
              </a:ext>
            </a:extLst>
          </p:cNvPr>
          <p:cNvSpPr>
            <a:spLocks noGrp="1"/>
          </p:cNvSpPr>
          <p:nvPr>
            <p:ph type="ftr" sz="quarter" idx="11"/>
          </p:nvPr>
        </p:nvSpPr>
        <p:spPr/>
        <p:txBody>
          <a:bodyPr/>
          <a:lstStyle/>
          <a:p>
            <a:endParaRPr lang="zh-HK" altLang="en-US"/>
          </a:p>
        </p:txBody>
      </p:sp>
      <p:sp>
        <p:nvSpPr>
          <p:cNvPr id="9" name="Slide Number Placeholder 8">
            <a:extLst>
              <a:ext uri="{FF2B5EF4-FFF2-40B4-BE49-F238E27FC236}">
                <a16:creationId xmlns:a16="http://schemas.microsoft.com/office/drawing/2014/main" id="{E848918D-1583-0728-5550-96978B01F133}"/>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789068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B44B-2495-0B7E-2CC0-7CC08B93D5F2}"/>
              </a:ext>
            </a:extLst>
          </p:cNvPr>
          <p:cNvSpPr>
            <a:spLocks noGrp="1"/>
          </p:cNvSpPr>
          <p:nvPr>
            <p:ph type="title"/>
          </p:nvPr>
        </p:nvSpPr>
        <p:spPr/>
        <p:txBody>
          <a:bodyPr/>
          <a:lstStyle/>
          <a:p>
            <a:r>
              <a:rPr lang="en-US" altLang="zh-HK"/>
              <a:t>Click to edit Master title style</a:t>
            </a:r>
            <a:endParaRPr lang="zh-HK" altLang="en-US"/>
          </a:p>
        </p:txBody>
      </p:sp>
      <p:sp>
        <p:nvSpPr>
          <p:cNvPr id="3" name="Date Placeholder 2">
            <a:extLst>
              <a:ext uri="{FF2B5EF4-FFF2-40B4-BE49-F238E27FC236}">
                <a16:creationId xmlns:a16="http://schemas.microsoft.com/office/drawing/2014/main" id="{50FA9234-EF24-D71D-1523-5723A0CEEB78}"/>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4" name="Footer Placeholder 3">
            <a:extLst>
              <a:ext uri="{FF2B5EF4-FFF2-40B4-BE49-F238E27FC236}">
                <a16:creationId xmlns:a16="http://schemas.microsoft.com/office/drawing/2014/main" id="{CCE93F32-1F61-442D-F4B8-3D96D60FF15A}"/>
              </a:ext>
            </a:extLst>
          </p:cNvPr>
          <p:cNvSpPr>
            <a:spLocks noGrp="1"/>
          </p:cNvSpPr>
          <p:nvPr>
            <p:ph type="ftr" sz="quarter" idx="11"/>
          </p:nvPr>
        </p:nvSpPr>
        <p:spPr/>
        <p:txBody>
          <a:bodyPr/>
          <a:lstStyle/>
          <a:p>
            <a:endParaRPr lang="zh-HK" altLang="en-US"/>
          </a:p>
        </p:txBody>
      </p:sp>
      <p:sp>
        <p:nvSpPr>
          <p:cNvPr id="5" name="Slide Number Placeholder 4">
            <a:extLst>
              <a:ext uri="{FF2B5EF4-FFF2-40B4-BE49-F238E27FC236}">
                <a16:creationId xmlns:a16="http://schemas.microsoft.com/office/drawing/2014/main" id="{47F9FE13-9EF7-A9D0-64DE-F38C02147260}"/>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434623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B4059-9CD9-C9CC-FDA7-342942A83E32}"/>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3" name="Footer Placeholder 2">
            <a:extLst>
              <a:ext uri="{FF2B5EF4-FFF2-40B4-BE49-F238E27FC236}">
                <a16:creationId xmlns:a16="http://schemas.microsoft.com/office/drawing/2014/main" id="{093D8AF7-2322-3B6C-7B7D-9AAF61D64592}"/>
              </a:ext>
            </a:extLst>
          </p:cNvPr>
          <p:cNvSpPr>
            <a:spLocks noGrp="1"/>
          </p:cNvSpPr>
          <p:nvPr>
            <p:ph type="ftr" sz="quarter" idx="11"/>
          </p:nvPr>
        </p:nvSpPr>
        <p:spPr/>
        <p:txBody>
          <a:bodyPr/>
          <a:lstStyle/>
          <a:p>
            <a:endParaRPr lang="zh-HK" altLang="en-US"/>
          </a:p>
        </p:txBody>
      </p:sp>
      <p:sp>
        <p:nvSpPr>
          <p:cNvPr id="4" name="Slide Number Placeholder 3">
            <a:extLst>
              <a:ext uri="{FF2B5EF4-FFF2-40B4-BE49-F238E27FC236}">
                <a16:creationId xmlns:a16="http://schemas.microsoft.com/office/drawing/2014/main" id="{5A0E124A-8439-30D0-4423-0DC1FA6FF768}"/>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500405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185C-A5CA-90D1-3065-A6DF38675E4A}"/>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96218BF7-8E5D-1D80-BE1F-0033397F2C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a:extLst>
              <a:ext uri="{FF2B5EF4-FFF2-40B4-BE49-F238E27FC236}">
                <a16:creationId xmlns:a16="http://schemas.microsoft.com/office/drawing/2014/main" id="{030CE25A-A2C4-0791-5BF1-613D5ECFD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HK"/>
              <a:t>Click to edit Master text styles</a:t>
            </a:r>
          </a:p>
        </p:txBody>
      </p:sp>
      <p:sp>
        <p:nvSpPr>
          <p:cNvPr id="5" name="Date Placeholder 4">
            <a:extLst>
              <a:ext uri="{FF2B5EF4-FFF2-40B4-BE49-F238E27FC236}">
                <a16:creationId xmlns:a16="http://schemas.microsoft.com/office/drawing/2014/main" id="{26CA0F4B-CE6B-D45A-E405-A9E3CD7ED85D}"/>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6" name="Footer Placeholder 5">
            <a:extLst>
              <a:ext uri="{FF2B5EF4-FFF2-40B4-BE49-F238E27FC236}">
                <a16:creationId xmlns:a16="http://schemas.microsoft.com/office/drawing/2014/main" id="{A9839556-F383-689D-1C3C-225623A0761B}"/>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4126C017-A00F-4E90-9981-AAE96295F1CD}"/>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283523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7A46-C545-5A10-ED11-A74A51B608B4}"/>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zh-HK" altLang="en-US"/>
          </a:p>
        </p:txBody>
      </p:sp>
      <p:sp>
        <p:nvSpPr>
          <p:cNvPr id="3" name="Picture Placeholder 2">
            <a:extLst>
              <a:ext uri="{FF2B5EF4-FFF2-40B4-BE49-F238E27FC236}">
                <a16:creationId xmlns:a16="http://schemas.microsoft.com/office/drawing/2014/main" id="{F0EE0361-5F4A-6F1F-3D68-2567B12B20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HK" altLang="en-US"/>
          </a:p>
        </p:txBody>
      </p:sp>
      <p:sp>
        <p:nvSpPr>
          <p:cNvPr id="4" name="Text Placeholder 3">
            <a:extLst>
              <a:ext uri="{FF2B5EF4-FFF2-40B4-BE49-F238E27FC236}">
                <a16:creationId xmlns:a16="http://schemas.microsoft.com/office/drawing/2014/main" id="{9D7400EF-690F-EF76-1C28-9D7B91943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HK"/>
              <a:t>Click to edit Master text styles</a:t>
            </a:r>
          </a:p>
        </p:txBody>
      </p:sp>
      <p:sp>
        <p:nvSpPr>
          <p:cNvPr id="5" name="Date Placeholder 4">
            <a:extLst>
              <a:ext uri="{FF2B5EF4-FFF2-40B4-BE49-F238E27FC236}">
                <a16:creationId xmlns:a16="http://schemas.microsoft.com/office/drawing/2014/main" id="{CF81FBCB-0DE1-C2E8-FCD8-803617B7C14A}"/>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6" name="Footer Placeholder 5">
            <a:extLst>
              <a:ext uri="{FF2B5EF4-FFF2-40B4-BE49-F238E27FC236}">
                <a16:creationId xmlns:a16="http://schemas.microsoft.com/office/drawing/2014/main" id="{04B8D52F-CCD7-75D3-A335-15B721E35ECA}"/>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B25EA4C5-A06C-BE37-A8D9-6A32302F99D5}"/>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480832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CF63-7A43-36BE-47FC-A2D388346983}"/>
              </a:ext>
            </a:extLst>
          </p:cNvPr>
          <p:cNvSpPr>
            <a:spLocks noGrp="1"/>
          </p:cNvSpPr>
          <p:nvPr>
            <p:ph type="title"/>
          </p:nvPr>
        </p:nvSpPr>
        <p:spPr/>
        <p:txBody>
          <a:bodyPr/>
          <a:lstStyle/>
          <a:p>
            <a:r>
              <a:rPr lang="en-US" altLang="zh-HK"/>
              <a:t>Click to edit Master title style</a:t>
            </a:r>
            <a:endParaRPr lang="zh-HK" altLang="en-US"/>
          </a:p>
        </p:txBody>
      </p:sp>
      <p:sp>
        <p:nvSpPr>
          <p:cNvPr id="3" name="Vertical Text Placeholder 2">
            <a:extLst>
              <a:ext uri="{FF2B5EF4-FFF2-40B4-BE49-F238E27FC236}">
                <a16:creationId xmlns:a16="http://schemas.microsoft.com/office/drawing/2014/main" id="{EE7077BD-E50A-73F6-F949-21C7466C4A77}"/>
              </a:ext>
            </a:extLst>
          </p:cNvPr>
          <p:cNvSpPr>
            <a:spLocks noGrp="1"/>
          </p:cNvSpPr>
          <p:nvPr>
            <p:ph type="body" orient="vert" idx="1"/>
          </p:nvPr>
        </p:nvSpPr>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F4A4FC4-3C2E-FBC1-E73E-53CEFD0C78B7}"/>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5" name="Footer Placeholder 4">
            <a:extLst>
              <a:ext uri="{FF2B5EF4-FFF2-40B4-BE49-F238E27FC236}">
                <a16:creationId xmlns:a16="http://schemas.microsoft.com/office/drawing/2014/main" id="{C9598F0E-63FB-1A13-0768-82F3A7AF7678}"/>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3AC2377D-2365-4A47-F169-FA1E39F85CCA}"/>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251629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B86C1-6B93-0B21-E1F4-E74778B781BC}"/>
              </a:ext>
            </a:extLst>
          </p:cNvPr>
          <p:cNvSpPr>
            <a:spLocks noGrp="1"/>
          </p:cNvSpPr>
          <p:nvPr>
            <p:ph type="title" orient="vert"/>
          </p:nvPr>
        </p:nvSpPr>
        <p:spPr>
          <a:xfrm>
            <a:off x="8724900" y="365125"/>
            <a:ext cx="2628900" cy="5811838"/>
          </a:xfrm>
        </p:spPr>
        <p:txBody>
          <a:bodyPr vert="eaVert"/>
          <a:lstStyle/>
          <a:p>
            <a:r>
              <a:rPr lang="en-US" altLang="zh-HK"/>
              <a:t>Click to edit Master title style</a:t>
            </a:r>
            <a:endParaRPr lang="zh-HK" altLang="en-US"/>
          </a:p>
        </p:txBody>
      </p:sp>
      <p:sp>
        <p:nvSpPr>
          <p:cNvPr id="3" name="Vertical Text Placeholder 2">
            <a:extLst>
              <a:ext uri="{FF2B5EF4-FFF2-40B4-BE49-F238E27FC236}">
                <a16:creationId xmlns:a16="http://schemas.microsoft.com/office/drawing/2014/main" id="{C0EA89F7-68F3-81BC-76B0-7EA1A74B6F16}"/>
              </a:ext>
            </a:extLst>
          </p:cNvPr>
          <p:cNvSpPr>
            <a:spLocks noGrp="1"/>
          </p:cNvSpPr>
          <p:nvPr>
            <p:ph type="body" orient="vert" idx="1"/>
          </p:nvPr>
        </p:nvSpPr>
        <p:spPr>
          <a:xfrm>
            <a:off x="838200" y="365125"/>
            <a:ext cx="7734300" cy="5811838"/>
          </a:xfrm>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372C4FE3-5FF9-D936-BE69-778A951EF7E2}"/>
              </a:ext>
            </a:extLst>
          </p:cNvPr>
          <p:cNvSpPr>
            <a:spLocks noGrp="1"/>
          </p:cNvSpPr>
          <p:nvPr>
            <p:ph type="dt" sz="half" idx="10"/>
          </p:nvPr>
        </p:nvSpPr>
        <p:spPr/>
        <p:txBody>
          <a:bodyPr/>
          <a:lstStyle/>
          <a:p>
            <a:fld id="{2C7C8946-FA19-4747-8649-F6BD4CD27D46}" type="datetimeFigureOut">
              <a:rPr lang="zh-HK" altLang="en-US" smtClean="0"/>
              <a:t>24/6/2024</a:t>
            </a:fld>
            <a:endParaRPr lang="zh-HK" altLang="en-US"/>
          </a:p>
        </p:txBody>
      </p:sp>
      <p:sp>
        <p:nvSpPr>
          <p:cNvPr id="5" name="Footer Placeholder 4">
            <a:extLst>
              <a:ext uri="{FF2B5EF4-FFF2-40B4-BE49-F238E27FC236}">
                <a16:creationId xmlns:a16="http://schemas.microsoft.com/office/drawing/2014/main" id="{9CF69846-4A7E-2BA1-8BEE-B357FD765615}"/>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9339731F-4289-AD43-96BC-4922503EE8B0}"/>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1149163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63927C-EF42-2DB3-F9F5-AF1C147D76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51C58861-F222-7193-0C3C-A78F01A92E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B6C7A412-3AD6-73D3-20D9-D33F1FFA21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7C8946-FA19-4747-8649-F6BD4CD27D46}" type="datetimeFigureOut">
              <a:rPr lang="zh-HK" altLang="en-US" smtClean="0"/>
              <a:t>24/6/2024</a:t>
            </a:fld>
            <a:endParaRPr lang="zh-HK" altLang="en-US"/>
          </a:p>
        </p:txBody>
      </p:sp>
      <p:sp>
        <p:nvSpPr>
          <p:cNvPr id="5" name="Footer Placeholder 4">
            <a:extLst>
              <a:ext uri="{FF2B5EF4-FFF2-40B4-BE49-F238E27FC236}">
                <a16:creationId xmlns:a16="http://schemas.microsoft.com/office/drawing/2014/main" id="{232245FB-A7C8-EE69-3440-C23193A876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HK" altLang="en-US"/>
          </a:p>
        </p:txBody>
      </p:sp>
      <p:sp>
        <p:nvSpPr>
          <p:cNvPr id="6" name="Slide Number Placeholder 5">
            <a:extLst>
              <a:ext uri="{FF2B5EF4-FFF2-40B4-BE49-F238E27FC236}">
                <a16:creationId xmlns:a16="http://schemas.microsoft.com/office/drawing/2014/main" id="{1992AA4E-2966-8B92-169C-8ED6F30656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187025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7F14D-8354-69E7-3EAC-65258B0DE8F8}"/>
              </a:ext>
            </a:extLst>
          </p:cNvPr>
          <p:cNvSpPr>
            <a:spLocks noGrp="1"/>
          </p:cNvSpPr>
          <p:nvPr>
            <p:ph type="ctrTitle"/>
          </p:nvPr>
        </p:nvSpPr>
        <p:spPr/>
        <p:txBody>
          <a:bodyPr/>
          <a:lstStyle/>
          <a:p>
            <a:r>
              <a:rPr lang="en-US" altLang="zh-HK" dirty="0"/>
              <a:t>Root Cause Analysis (Starbucks)</a:t>
            </a:r>
            <a:endParaRPr lang="zh-HK" altLang="en-US" dirty="0"/>
          </a:p>
        </p:txBody>
      </p:sp>
      <p:sp>
        <p:nvSpPr>
          <p:cNvPr id="3" name="Subtitle 2">
            <a:extLst>
              <a:ext uri="{FF2B5EF4-FFF2-40B4-BE49-F238E27FC236}">
                <a16:creationId xmlns:a16="http://schemas.microsoft.com/office/drawing/2014/main" id="{3BA4C40E-3238-A057-30C1-C37C906A8F32}"/>
              </a:ext>
            </a:extLst>
          </p:cNvPr>
          <p:cNvSpPr>
            <a:spLocks noGrp="1"/>
          </p:cNvSpPr>
          <p:nvPr>
            <p:ph type="subTitle" idx="1"/>
          </p:nvPr>
        </p:nvSpPr>
        <p:spPr/>
        <p:txBody>
          <a:bodyPr/>
          <a:lstStyle/>
          <a:p>
            <a:r>
              <a:rPr lang="en-US" altLang="zh-HK"/>
              <a:t>William So</a:t>
            </a:r>
            <a:endParaRPr lang="zh-HK" altLang="en-US" dirty="0"/>
          </a:p>
        </p:txBody>
      </p:sp>
    </p:spTree>
    <p:extLst>
      <p:ext uri="{BB962C8B-B14F-4D97-AF65-F5344CB8AC3E}">
        <p14:creationId xmlns:p14="http://schemas.microsoft.com/office/powerpoint/2010/main" val="314968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p:txBody>
          <a:bodyPr/>
          <a:lstStyle/>
          <a:p>
            <a:r>
              <a:rPr lang="en-US" altLang="zh-HK" dirty="0"/>
              <a:t>Q1. Conduct Root Cause Analysis</a:t>
            </a:r>
            <a:endParaRPr lang="zh-HK" altLang="en-US" dirty="0"/>
          </a:p>
        </p:txBody>
      </p:sp>
      <p:sp>
        <p:nvSpPr>
          <p:cNvPr id="4" name="Rectangle: Rounded Corners 3">
            <a:extLst>
              <a:ext uri="{FF2B5EF4-FFF2-40B4-BE49-F238E27FC236}">
                <a16:creationId xmlns:a16="http://schemas.microsoft.com/office/drawing/2014/main" id="{871CD772-A2E9-54C0-0430-E4F6399E5F87}"/>
              </a:ext>
            </a:extLst>
          </p:cNvPr>
          <p:cNvSpPr/>
          <p:nvPr/>
        </p:nvSpPr>
        <p:spPr>
          <a:xfrm>
            <a:off x="100996" y="3488268"/>
            <a:ext cx="1228876" cy="541866"/>
          </a:xfrm>
          <a:prstGeom prst="round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solidFill>
                  <a:schemeClr val="bg1"/>
                </a:solidFill>
              </a:rPr>
              <a:t>Starbucks' operating income decreased from US$1B in 2007 to US$504M in 2008</a:t>
            </a:r>
            <a:endParaRPr lang="zh-HK" altLang="en-US" sz="800" dirty="0">
              <a:solidFill>
                <a:schemeClr val="bg1"/>
              </a:solidFill>
            </a:endParaRPr>
          </a:p>
        </p:txBody>
      </p:sp>
      <p:sp>
        <p:nvSpPr>
          <p:cNvPr id="5" name="Rectangle: Rounded Corners 4">
            <a:extLst>
              <a:ext uri="{FF2B5EF4-FFF2-40B4-BE49-F238E27FC236}">
                <a16:creationId xmlns:a16="http://schemas.microsoft.com/office/drawing/2014/main" id="{E2728D57-F2A6-08E0-96DE-56AEF7DBF01C}"/>
              </a:ext>
            </a:extLst>
          </p:cNvPr>
          <p:cNvSpPr/>
          <p:nvPr/>
        </p:nvSpPr>
        <p:spPr>
          <a:xfrm>
            <a:off x="1491948" y="3541487"/>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Sales decreased significantly</a:t>
            </a:r>
            <a:endParaRPr lang="zh-HK" altLang="en-US" sz="800" dirty="0"/>
          </a:p>
        </p:txBody>
      </p:sp>
      <p:cxnSp>
        <p:nvCxnSpPr>
          <p:cNvPr id="8" name="Connector: Elbow 7">
            <a:extLst>
              <a:ext uri="{FF2B5EF4-FFF2-40B4-BE49-F238E27FC236}">
                <a16:creationId xmlns:a16="http://schemas.microsoft.com/office/drawing/2014/main" id="{7DB0749A-67ED-4734-EB85-6C5BBEF3E2E5}"/>
              </a:ext>
            </a:extLst>
          </p:cNvPr>
          <p:cNvCxnSpPr>
            <a:cxnSpLocks/>
            <a:stCxn id="5" idx="1"/>
            <a:endCxn id="4" idx="3"/>
          </p:cNvCxnSpPr>
          <p:nvPr/>
        </p:nvCxnSpPr>
        <p:spPr>
          <a:xfrm rot="10800000">
            <a:off x="1329872" y="3759202"/>
            <a:ext cx="162076" cy="725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B98F2D93-6990-CC21-4F88-B678CAF1B194}"/>
              </a:ext>
            </a:extLst>
          </p:cNvPr>
          <p:cNvSpPr/>
          <p:nvPr/>
        </p:nvSpPr>
        <p:spPr>
          <a:xfrm>
            <a:off x="2514295" y="2456812"/>
            <a:ext cx="847877" cy="51850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Products did not meet customer expectations</a:t>
            </a:r>
            <a:endParaRPr lang="zh-HK" altLang="en-US" sz="800" dirty="0"/>
          </a:p>
        </p:txBody>
      </p:sp>
      <p:sp>
        <p:nvSpPr>
          <p:cNvPr id="12" name="Rectangle: Rounded Corners 11">
            <a:extLst>
              <a:ext uri="{FF2B5EF4-FFF2-40B4-BE49-F238E27FC236}">
                <a16:creationId xmlns:a16="http://schemas.microsoft.com/office/drawing/2014/main" id="{AB49D822-49BC-507D-FD98-EF7A815E0853}"/>
              </a:ext>
            </a:extLst>
          </p:cNvPr>
          <p:cNvSpPr/>
          <p:nvPr/>
        </p:nvSpPr>
        <p:spPr>
          <a:xfrm>
            <a:off x="3546623" y="2525377"/>
            <a:ext cx="847877"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 services degraded</a:t>
            </a:r>
            <a:endParaRPr lang="zh-HK" altLang="en-US" sz="800" dirty="0"/>
          </a:p>
        </p:txBody>
      </p:sp>
      <p:sp>
        <p:nvSpPr>
          <p:cNvPr id="13" name="Rectangle: Rounded Corners 12">
            <a:extLst>
              <a:ext uri="{FF2B5EF4-FFF2-40B4-BE49-F238E27FC236}">
                <a16:creationId xmlns:a16="http://schemas.microsoft.com/office/drawing/2014/main" id="{7A52C0F5-CB25-2E25-5AC9-8A0F727DF242}"/>
              </a:ext>
            </a:extLst>
          </p:cNvPr>
          <p:cNvSpPr/>
          <p:nvPr/>
        </p:nvSpPr>
        <p:spPr>
          <a:xfrm>
            <a:off x="4625521" y="1891400"/>
            <a:ext cx="988182" cy="6309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Customers expected good customer services</a:t>
            </a:r>
            <a:endParaRPr lang="zh-HK" altLang="en-US" sz="800" dirty="0"/>
          </a:p>
        </p:txBody>
      </p:sp>
      <p:sp>
        <p:nvSpPr>
          <p:cNvPr id="14" name="Rectangle: Rounded Corners 13">
            <a:extLst>
              <a:ext uri="{FF2B5EF4-FFF2-40B4-BE49-F238E27FC236}">
                <a16:creationId xmlns:a16="http://schemas.microsoft.com/office/drawing/2014/main" id="{2E37F7A1-50CB-7169-C8B3-709D7A5B4798}"/>
              </a:ext>
            </a:extLst>
          </p:cNvPr>
          <p:cNvSpPr/>
          <p:nvPr/>
        </p:nvSpPr>
        <p:spPr>
          <a:xfrm>
            <a:off x="4599213" y="3032735"/>
            <a:ext cx="108252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Baristas had less time to serve customers</a:t>
            </a:r>
            <a:endParaRPr lang="zh-HK" altLang="en-US" sz="800" dirty="0"/>
          </a:p>
        </p:txBody>
      </p:sp>
      <p:sp>
        <p:nvSpPr>
          <p:cNvPr id="15" name="Rectangle: Rounded Corners 14">
            <a:extLst>
              <a:ext uri="{FF2B5EF4-FFF2-40B4-BE49-F238E27FC236}">
                <a16:creationId xmlns:a16="http://schemas.microsoft.com/office/drawing/2014/main" id="{86ACD5F7-D667-B0CD-AF80-17AB69A83462}"/>
              </a:ext>
            </a:extLst>
          </p:cNvPr>
          <p:cNvSpPr/>
          <p:nvPr/>
        </p:nvSpPr>
        <p:spPr>
          <a:xfrm>
            <a:off x="5946614" y="1594228"/>
            <a:ext cx="1703124" cy="32795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mainly serviced club-appeal customers</a:t>
            </a:r>
            <a:endParaRPr lang="zh-HK" altLang="en-US" sz="800" dirty="0"/>
          </a:p>
        </p:txBody>
      </p:sp>
      <p:sp>
        <p:nvSpPr>
          <p:cNvPr id="16" name="Rectangle: Rounded Corners 15">
            <a:extLst>
              <a:ext uri="{FF2B5EF4-FFF2-40B4-BE49-F238E27FC236}">
                <a16:creationId xmlns:a16="http://schemas.microsoft.com/office/drawing/2014/main" id="{964F13F4-AE5A-0AE9-257A-DA4892FAD7F6}"/>
              </a:ext>
            </a:extLst>
          </p:cNvPr>
          <p:cNvSpPr/>
          <p:nvPr/>
        </p:nvSpPr>
        <p:spPr>
          <a:xfrm>
            <a:off x="5969001" y="3453930"/>
            <a:ext cx="108252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Not enough Baristas</a:t>
            </a:r>
            <a:endParaRPr lang="zh-HK" altLang="en-US" sz="800" dirty="0"/>
          </a:p>
        </p:txBody>
      </p:sp>
      <p:sp>
        <p:nvSpPr>
          <p:cNvPr id="17" name="Rectangle: Rounded Corners 16">
            <a:extLst>
              <a:ext uri="{FF2B5EF4-FFF2-40B4-BE49-F238E27FC236}">
                <a16:creationId xmlns:a16="http://schemas.microsoft.com/office/drawing/2014/main" id="{F79778B8-02B3-CA76-A519-D51553710969}"/>
              </a:ext>
            </a:extLst>
          </p:cNvPr>
          <p:cNvSpPr/>
          <p:nvPr/>
        </p:nvSpPr>
        <p:spPr>
          <a:xfrm>
            <a:off x="6000216" y="2702532"/>
            <a:ext cx="108252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Time is used on other things</a:t>
            </a:r>
            <a:endParaRPr lang="zh-HK" altLang="en-US" sz="800" dirty="0"/>
          </a:p>
        </p:txBody>
      </p:sp>
      <p:sp>
        <p:nvSpPr>
          <p:cNvPr id="18" name="Rectangle: Rounded Corners 17">
            <a:extLst>
              <a:ext uri="{FF2B5EF4-FFF2-40B4-BE49-F238E27FC236}">
                <a16:creationId xmlns:a16="http://schemas.microsoft.com/office/drawing/2014/main" id="{09371D6A-8931-EF7A-CE45-71ABD4B6C7F6}"/>
              </a:ext>
            </a:extLst>
          </p:cNvPr>
          <p:cNvSpPr/>
          <p:nvPr/>
        </p:nvSpPr>
        <p:spPr>
          <a:xfrm>
            <a:off x="9204781" y="2110751"/>
            <a:ext cx="1135421" cy="6309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Time is used on the sale of food, merchandise, and music</a:t>
            </a:r>
            <a:endParaRPr lang="zh-HK" altLang="en-US" sz="800" dirty="0"/>
          </a:p>
        </p:txBody>
      </p:sp>
      <p:sp>
        <p:nvSpPr>
          <p:cNvPr id="19" name="Rectangle: Rounded Corners 18">
            <a:extLst>
              <a:ext uri="{FF2B5EF4-FFF2-40B4-BE49-F238E27FC236}">
                <a16:creationId xmlns:a16="http://schemas.microsoft.com/office/drawing/2014/main" id="{4269B76F-D66C-4B45-6408-878BFADCA2E7}"/>
              </a:ext>
            </a:extLst>
          </p:cNvPr>
          <p:cNvSpPr/>
          <p:nvPr/>
        </p:nvSpPr>
        <p:spPr>
          <a:xfrm>
            <a:off x="9259916" y="2930634"/>
            <a:ext cx="108252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Time is used to serve more speedy delivery customers</a:t>
            </a:r>
            <a:endParaRPr lang="zh-HK" altLang="en-US" sz="800" dirty="0"/>
          </a:p>
        </p:txBody>
      </p:sp>
      <p:sp>
        <p:nvSpPr>
          <p:cNvPr id="20" name="Rectangle: Rounded Corners 19">
            <a:extLst>
              <a:ext uri="{FF2B5EF4-FFF2-40B4-BE49-F238E27FC236}">
                <a16:creationId xmlns:a16="http://schemas.microsoft.com/office/drawing/2014/main" id="{C9294EAF-0E58-C082-1AF2-62B31543FB18}"/>
              </a:ext>
            </a:extLst>
          </p:cNvPr>
          <p:cNvSpPr/>
          <p:nvPr/>
        </p:nvSpPr>
        <p:spPr>
          <a:xfrm>
            <a:off x="10990766" y="2762408"/>
            <a:ext cx="108252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grow customer base</a:t>
            </a:r>
            <a:endParaRPr lang="zh-HK" altLang="en-US" sz="800" dirty="0"/>
          </a:p>
        </p:txBody>
      </p:sp>
      <p:sp>
        <p:nvSpPr>
          <p:cNvPr id="21" name="Rectangle: Rounded Corners 20">
            <a:extLst>
              <a:ext uri="{FF2B5EF4-FFF2-40B4-BE49-F238E27FC236}">
                <a16:creationId xmlns:a16="http://schemas.microsoft.com/office/drawing/2014/main" id="{F35AA49C-35CE-780B-0E18-DEC7F4492A63}"/>
              </a:ext>
            </a:extLst>
          </p:cNvPr>
          <p:cNvSpPr/>
          <p:nvPr/>
        </p:nvSpPr>
        <p:spPr>
          <a:xfrm>
            <a:off x="10940540" y="2149933"/>
            <a:ext cx="108252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upsell</a:t>
            </a:r>
            <a:endParaRPr lang="zh-HK" altLang="en-US" sz="800" dirty="0"/>
          </a:p>
        </p:txBody>
      </p:sp>
      <p:cxnSp>
        <p:nvCxnSpPr>
          <p:cNvPr id="23" name="Connector: Elbow 22">
            <a:extLst>
              <a:ext uri="{FF2B5EF4-FFF2-40B4-BE49-F238E27FC236}">
                <a16:creationId xmlns:a16="http://schemas.microsoft.com/office/drawing/2014/main" id="{16B14232-C724-36E7-D1DE-02C5CC03FB02}"/>
              </a:ext>
            </a:extLst>
          </p:cNvPr>
          <p:cNvCxnSpPr>
            <a:cxnSpLocks/>
            <a:stCxn id="12" idx="1"/>
            <a:endCxn id="11" idx="3"/>
          </p:cNvCxnSpPr>
          <p:nvPr/>
        </p:nvCxnSpPr>
        <p:spPr>
          <a:xfrm rot="10800000">
            <a:off x="3362173" y="2716066"/>
            <a:ext cx="184451" cy="3428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08F3A22D-5564-F40F-4CAE-492E172C9A35}"/>
              </a:ext>
            </a:extLst>
          </p:cNvPr>
          <p:cNvCxnSpPr>
            <a:stCxn id="20" idx="1"/>
            <a:endCxn id="19" idx="3"/>
          </p:cNvCxnSpPr>
          <p:nvPr/>
        </p:nvCxnSpPr>
        <p:spPr>
          <a:xfrm rot="10800000" flipV="1">
            <a:off x="10342442" y="2987379"/>
            <a:ext cx="648325" cy="16822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917B0CE5-86E2-8773-DFA0-D4F9D484D450}"/>
              </a:ext>
            </a:extLst>
          </p:cNvPr>
          <p:cNvCxnSpPr>
            <a:cxnSpLocks/>
            <a:stCxn id="21" idx="1"/>
            <a:endCxn id="18" idx="3"/>
          </p:cNvCxnSpPr>
          <p:nvPr/>
        </p:nvCxnSpPr>
        <p:spPr>
          <a:xfrm rot="10800000" flipV="1">
            <a:off x="10340202" y="2374904"/>
            <a:ext cx="600338" cy="5130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601E3952-B1F9-B28C-DFB6-3BFFFBE4901B}"/>
              </a:ext>
            </a:extLst>
          </p:cNvPr>
          <p:cNvCxnSpPr>
            <a:cxnSpLocks/>
            <a:stCxn id="18" idx="1"/>
            <a:endCxn id="17" idx="3"/>
          </p:cNvCxnSpPr>
          <p:nvPr/>
        </p:nvCxnSpPr>
        <p:spPr>
          <a:xfrm rot="10800000" flipV="1">
            <a:off x="7082741" y="2426211"/>
            <a:ext cx="2122040" cy="50129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6BCFCB9B-7149-363F-BBA2-1A794B00B34F}"/>
              </a:ext>
            </a:extLst>
          </p:cNvPr>
          <p:cNvCxnSpPr>
            <a:stCxn id="19" idx="1"/>
            <a:endCxn id="17" idx="3"/>
          </p:cNvCxnSpPr>
          <p:nvPr/>
        </p:nvCxnSpPr>
        <p:spPr>
          <a:xfrm rot="10800000">
            <a:off x="7082742" y="2927503"/>
            <a:ext cx="2177175" cy="22810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A892DCC6-9F8C-75D4-7F18-36A9A434F8A5}"/>
              </a:ext>
            </a:extLst>
          </p:cNvPr>
          <p:cNvCxnSpPr>
            <a:stCxn id="17" idx="1"/>
            <a:endCxn id="14" idx="3"/>
          </p:cNvCxnSpPr>
          <p:nvPr/>
        </p:nvCxnSpPr>
        <p:spPr>
          <a:xfrm rot="10800000" flipV="1">
            <a:off x="5681738" y="2927502"/>
            <a:ext cx="318478" cy="33020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193F47B7-615A-FDB0-5D10-9017458F5D8C}"/>
              </a:ext>
            </a:extLst>
          </p:cNvPr>
          <p:cNvCxnSpPr>
            <a:stCxn id="16" idx="1"/>
            <a:endCxn id="14" idx="3"/>
          </p:cNvCxnSpPr>
          <p:nvPr/>
        </p:nvCxnSpPr>
        <p:spPr>
          <a:xfrm rot="10800000">
            <a:off x="5681739" y="3257707"/>
            <a:ext cx="287263" cy="42119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F5028803-A898-A3F0-5C82-E1BA01458D6C}"/>
              </a:ext>
            </a:extLst>
          </p:cNvPr>
          <p:cNvCxnSpPr>
            <a:stCxn id="14" idx="1"/>
            <a:endCxn id="12" idx="3"/>
          </p:cNvCxnSpPr>
          <p:nvPr/>
        </p:nvCxnSpPr>
        <p:spPr>
          <a:xfrm rot="10800000">
            <a:off x="4394501" y="2750348"/>
            <a:ext cx="204713" cy="50735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C7F926DA-A929-70C4-E74B-CEB418AC98AA}"/>
              </a:ext>
            </a:extLst>
          </p:cNvPr>
          <p:cNvCxnSpPr>
            <a:cxnSpLocks/>
            <a:stCxn id="13" idx="1"/>
            <a:endCxn id="12" idx="3"/>
          </p:cNvCxnSpPr>
          <p:nvPr/>
        </p:nvCxnSpPr>
        <p:spPr>
          <a:xfrm rot="10800000" flipV="1">
            <a:off x="4394501" y="2206860"/>
            <a:ext cx="231021" cy="54348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E363D9D4-AC4B-0E45-D87E-96037D868CB7}"/>
              </a:ext>
            </a:extLst>
          </p:cNvPr>
          <p:cNvCxnSpPr>
            <a:cxnSpLocks/>
            <a:stCxn id="11" idx="1"/>
            <a:endCxn id="5" idx="3"/>
          </p:cNvCxnSpPr>
          <p:nvPr/>
        </p:nvCxnSpPr>
        <p:spPr>
          <a:xfrm rot="10800000" flipV="1">
            <a:off x="2250319" y="2716066"/>
            <a:ext cx="263976" cy="105039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3611DD9F-2CC9-9D52-3938-614A0ABA74F4}"/>
              </a:ext>
            </a:extLst>
          </p:cNvPr>
          <p:cNvSpPr/>
          <p:nvPr/>
        </p:nvSpPr>
        <p:spPr>
          <a:xfrm>
            <a:off x="2482377" y="4676018"/>
            <a:ext cx="758371" cy="8442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Customers could not justify paying the premium price</a:t>
            </a:r>
            <a:endParaRPr lang="zh-HK" altLang="en-US" sz="800" dirty="0"/>
          </a:p>
        </p:txBody>
      </p:sp>
      <p:sp>
        <p:nvSpPr>
          <p:cNvPr id="57" name="Rectangle: Rounded Corners 56">
            <a:extLst>
              <a:ext uri="{FF2B5EF4-FFF2-40B4-BE49-F238E27FC236}">
                <a16:creationId xmlns:a16="http://schemas.microsoft.com/office/drawing/2014/main" id="{3F9BD5D3-2C3C-7BB4-9909-19FB8303F20D}"/>
              </a:ext>
            </a:extLst>
          </p:cNvPr>
          <p:cNvSpPr/>
          <p:nvPr/>
        </p:nvSpPr>
        <p:spPr>
          <a:xfrm>
            <a:off x="3512151" y="3584862"/>
            <a:ext cx="758371" cy="8442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Club-like appeal customers could not justify paying</a:t>
            </a:r>
            <a:endParaRPr lang="zh-HK" altLang="en-US" sz="800" dirty="0"/>
          </a:p>
        </p:txBody>
      </p:sp>
      <p:sp>
        <p:nvSpPr>
          <p:cNvPr id="58" name="Rectangle: Rounded Corners 57">
            <a:extLst>
              <a:ext uri="{FF2B5EF4-FFF2-40B4-BE49-F238E27FC236}">
                <a16:creationId xmlns:a16="http://schemas.microsoft.com/office/drawing/2014/main" id="{A1C33278-F064-EB36-62EA-5D698CAFD8D3}"/>
              </a:ext>
            </a:extLst>
          </p:cNvPr>
          <p:cNvSpPr/>
          <p:nvPr/>
        </p:nvSpPr>
        <p:spPr>
          <a:xfrm>
            <a:off x="4023741" y="4833119"/>
            <a:ext cx="758371" cy="9159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Speedy delivery customers could not justify paying</a:t>
            </a:r>
            <a:endParaRPr lang="zh-HK" altLang="en-US" sz="800" dirty="0"/>
          </a:p>
        </p:txBody>
      </p:sp>
      <p:sp>
        <p:nvSpPr>
          <p:cNvPr id="59" name="Rectangle: Rounded Corners 58">
            <a:extLst>
              <a:ext uri="{FF2B5EF4-FFF2-40B4-BE49-F238E27FC236}">
                <a16:creationId xmlns:a16="http://schemas.microsoft.com/office/drawing/2014/main" id="{4348669C-E0D2-4A4F-6055-2E88F5797281}"/>
              </a:ext>
            </a:extLst>
          </p:cNvPr>
          <p:cNvSpPr/>
          <p:nvPr/>
        </p:nvSpPr>
        <p:spPr>
          <a:xfrm>
            <a:off x="3484936" y="6175879"/>
            <a:ext cx="1137555" cy="48444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Customers had less disposable income</a:t>
            </a:r>
            <a:endParaRPr lang="zh-HK" altLang="en-US" sz="800" dirty="0"/>
          </a:p>
        </p:txBody>
      </p:sp>
      <p:sp>
        <p:nvSpPr>
          <p:cNvPr id="60" name="Rectangle: Rounded Corners 59">
            <a:extLst>
              <a:ext uri="{FF2B5EF4-FFF2-40B4-BE49-F238E27FC236}">
                <a16:creationId xmlns:a16="http://schemas.microsoft.com/office/drawing/2014/main" id="{BD4FA2F8-6086-5AED-7A9B-69F36EB7B89E}"/>
              </a:ext>
            </a:extLst>
          </p:cNvPr>
          <p:cNvSpPr/>
          <p:nvPr/>
        </p:nvSpPr>
        <p:spPr>
          <a:xfrm>
            <a:off x="5152743" y="6168509"/>
            <a:ext cx="1347223" cy="2986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Worse economy conditions</a:t>
            </a:r>
            <a:endParaRPr lang="zh-HK" altLang="en-US" sz="800" dirty="0"/>
          </a:p>
        </p:txBody>
      </p:sp>
      <p:sp>
        <p:nvSpPr>
          <p:cNvPr id="61" name="Rectangle: Rounded Corners 60">
            <a:extLst>
              <a:ext uri="{FF2B5EF4-FFF2-40B4-BE49-F238E27FC236}">
                <a16:creationId xmlns:a16="http://schemas.microsoft.com/office/drawing/2014/main" id="{13959C28-C880-A9AD-186D-B8934CB32CC8}"/>
              </a:ext>
            </a:extLst>
          </p:cNvPr>
          <p:cNvSpPr/>
          <p:nvPr/>
        </p:nvSpPr>
        <p:spPr>
          <a:xfrm>
            <a:off x="7487407" y="5520264"/>
            <a:ext cx="1567032" cy="35472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Speedy delivery customers wanted the best value with minimum price</a:t>
            </a:r>
            <a:endParaRPr lang="zh-HK" altLang="en-US" sz="800" dirty="0"/>
          </a:p>
        </p:txBody>
      </p:sp>
      <p:sp>
        <p:nvSpPr>
          <p:cNvPr id="62" name="Rectangle: Rounded Corners 61">
            <a:extLst>
              <a:ext uri="{FF2B5EF4-FFF2-40B4-BE49-F238E27FC236}">
                <a16:creationId xmlns:a16="http://schemas.microsoft.com/office/drawing/2014/main" id="{AF4CD239-4751-4EC2-D8B1-C06FDEBA5193}"/>
              </a:ext>
            </a:extLst>
          </p:cNvPr>
          <p:cNvSpPr/>
          <p:nvPr/>
        </p:nvSpPr>
        <p:spPr>
          <a:xfrm>
            <a:off x="9278004" y="4312193"/>
            <a:ext cx="758371" cy="8648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Competitors offered similar or higher-valued products</a:t>
            </a:r>
            <a:endParaRPr lang="zh-HK" altLang="en-US" sz="800" dirty="0"/>
          </a:p>
        </p:txBody>
      </p:sp>
      <p:sp>
        <p:nvSpPr>
          <p:cNvPr id="63" name="Rectangle: Rounded Corners 62">
            <a:extLst>
              <a:ext uri="{FF2B5EF4-FFF2-40B4-BE49-F238E27FC236}">
                <a16:creationId xmlns:a16="http://schemas.microsoft.com/office/drawing/2014/main" id="{DEE3EF6B-7E44-F79D-02C6-2F32D16D4AA4}"/>
              </a:ext>
            </a:extLst>
          </p:cNvPr>
          <p:cNvSpPr/>
          <p:nvPr/>
        </p:nvSpPr>
        <p:spPr>
          <a:xfrm>
            <a:off x="9276144" y="5867896"/>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Competitors had lower pricing</a:t>
            </a:r>
            <a:endParaRPr lang="zh-HK" altLang="en-US" sz="800" dirty="0"/>
          </a:p>
        </p:txBody>
      </p:sp>
      <p:sp>
        <p:nvSpPr>
          <p:cNvPr id="64" name="Rectangle: Rounded Corners 63">
            <a:extLst>
              <a:ext uri="{FF2B5EF4-FFF2-40B4-BE49-F238E27FC236}">
                <a16:creationId xmlns:a16="http://schemas.microsoft.com/office/drawing/2014/main" id="{9F8C9153-9614-D538-A0EF-D660930ABE12}"/>
              </a:ext>
            </a:extLst>
          </p:cNvPr>
          <p:cNvSpPr/>
          <p:nvPr/>
        </p:nvSpPr>
        <p:spPr>
          <a:xfrm>
            <a:off x="10641945" y="6129379"/>
            <a:ext cx="1477482" cy="2678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Competitors cared about pricing over quality</a:t>
            </a:r>
            <a:endParaRPr lang="zh-HK" altLang="en-US" sz="800" dirty="0"/>
          </a:p>
        </p:txBody>
      </p:sp>
      <p:sp>
        <p:nvSpPr>
          <p:cNvPr id="65" name="Rectangle: Rounded Corners 64">
            <a:extLst>
              <a:ext uri="{FF2B5EF4-FFF2-40B4-BE49-F238E27FC236}">
                <a16:creationId xmlns:a16="http://schemas.microsoft.com/office/drawing/2014/main" id="{DD794DD2-43DD-0D80-6572-06C279B3AC55}"/>
              </a:ext>
            </a:extLst>
          </p:cNvPr>
          <p:cNvSpPr/>
          <p:nvPr/>
        </p:nvSpPr>
        <p:spPr>
          <a:xfrm>
            <a:off x="10641945" y="5520264"/>
            <a:ext cx="1477482" cy="3409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cared about quality over pricing</a:t>
            </a:r>
            <a:endParaRPr lang="zh-HK" altLang="en-US" sz="800" dirty="0"/>
          </a:p>
        </p:txBody>
      </p:sp>
      <p:sp>
        <p:nvSpPr>
          <p:cNvPr id="66" name="Rectangle: Rounded Corners 65">
            <a:extLst>
              <a:ext uri="{FF2B5EF4-FFF2-40B4-BE49-F238E27FC236}">
                <a16:creationId xmlns:a16="http://schemas.microsoft.com/office/drawing/2014/main" id="{7643B709-8F60-FA6D-2DF8-886CC938E0F5}"/>
              </a:ext>
            </a:extLst>
          </p:cNvPr>
          <p:cNvSpPr/>
          <p:nvPr/>
        </p:nvSpPr>
        <p:spPr>
          <a:xfrm>
            <a:off x="10233848" y="5069060"/>
            <a:ext cx="1789217" cy="3790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Speedy delivery customers cared less about experience</a:t>
            </a:r>
            <a:endParaRPr lang="zh-HK" altLang="en-US" sz="800" dirty="0"/>
          </a:p>
        </p:txBody>
      </p:sp>
      <p:sp>
        <p:nvSpPr>
          <p:cNvPr id="67" name="Rectangle: Rounded Corners 66">
            <a:extLst>
              <a:ext uri="{FF2B5EF4-FFF2-40B4-BE49-F238E27FC236}">
                <a16:creationId xmlns:a16="http://schemas.microsoft.com/office/drawing/2014/main" id="{E8F82997-F875-A3A2-56BF-FF0ACB084D3F}"/>
              </a:ext>
            </a:extLst>
          </p:cNvPr>
          <p:cNvSpPr/>
          <p:nvPr/>
        </p:nvSpPr>
        <p:spPr>
          <a:xfrm>
            <a:off x="10257488" y="4145673"/>
            <a:ext cx="1840611" cy="1819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emphasized on experience</a:t>
            </a:r>
            <a:endParaRPr lang="zh-HK" altLang="en-US" sz="800" dirty="0"/>
          </a:p>
        </p:txBody>
      </p:sp>
      <p:sp>
        <p:nvSpPr>
          <p:cNvPr id="68" name="Rectangle: Rounded Corners 67">
            <a:extLst>
              <a:ext uri="{FF2B5EF4-FFF2-40B4-BE49-F238E27FC236}">
                <a16:creationId xmlns:a16="http://schemas.microsoft.com/office/drawing/2014/main" id="{4E1903B1-566C-3A57-168B-F157CA6F0C29}"/>
              </a:ext>
            </a:extLst>
          </p:cNvPr>
          <p:cNvSpPr/>
          <p:nvPr/>
        </p:nvSpPr>
        <p:spPr>
          <a:xfrm>
            <a:off x="4549547" y="3777872"/>
            <a:ext cx="758371" cy="8885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Club-like appeal customers wanted the best club-like experience</a:t>
            </a:r>
            <a:endParaRPr lang="zh-HK" altLang="en-US" sz="800" dirty="0"/>
          </a:p>
        </p:txBody>
      </p:sp>
      <p:sp>
        <p:nvSpPr>
          <p:cNvPr id="69" name="Rectangle: Rounded Corners 68">
            <a:extLst>
              <a:ext uri="{FF2B5EF4-FFF2-40B4-BE49-F238E27FC236}">
                <a16:creationId xmlns:a16="http://schemas.microsoft.com/office/drawing/2014/main" id="{92FFDFA6-DEBD-8055-9C56-7F902F707ABB}"/>
              </a:ext>
            </a:extLst>
          </p:cNvPr>
          <p:cNvSpPr/>
          <p:nvPr/>
        </p:nvSpPr>
        <p:spPr>
          <a:xfrm>
            <a:off x="5560373" y="4358254"/>
            <a:ext cx="1918799" cy="31410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Competitors offered similar or better experience</a:t>
            </a:r>
            <a:endParaRPr lang="zh-HK" altLang="en-US" sz="800" dirty="0"/>
          </a:p>
        </p:txBody>
      </p:sp>
      <p:sp>
        <p:nvSpPr>
          <p:cNvPr id="70" name="Rectangle: Rounded Corners 69">
            <a:extLst>
              <a:ext uri="{FF2B5EF4-FFF2-40B4-BE49-F238E27FC236}">
                <a16:creationId xmlns:a16="http://schemas.microsoft.com/office/drawing/2014/main" id="{63755EF9-03DA-BA00-F4B9-3353A36B5670}"/>
              </a:ext>
            </a:extLst>
          </p:cNvPr>
          <p:cNvSpPr/>
          <p:nvPr/>
        </p:nvSpPr>
        <p:spPr>
          <a:xfrm>
            <a:off x="7877042" y="4494671"/>
            <a:ext cx="1173751" cy="43907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Neighborhood stores were club-like inherently</a:t>
            </a:r>
            <a:endParaRPr lang="zh-HK" altLang="en-US" sz="800" dirty="0"/>
          </a:p>
        </p:txBody>
      </p:sp>
      <p:sp>
        <p:nvSpPr>
          <p:cNvPr id="71" name="Rectangle: Rounded Corners 70">
            <a:extLst>
              <a:ext uri="{FF2B5EF4-FFF2-40B4-BE49-F238E27FC236}">
                <a16:creationId xmlns:a16="http://schemas.microsoft.com/office/drawing/2014/main" id="{75AA555B-B85B-8320-51DC-7FE343BE60C7}"/>
              </a:ext>
            </a:extLst>
          </p:cNvPr>
          <p:cNvSpPr/>
          <p:nvPr/>
        </p:nvSpPr>
        <p:spPr>
          <a:xfrm>
            <a:off x="7846309" y="3802878"/>
            <a:ext cx="1222253" cy="33896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stores became less club-like</a:t>
            </a:r>
            <a:endParaRPr lang="zh-HK" altLang="en-US" sz="800" dirty="0"/>
          </a:p>
        </p:txBody>
      </p:sp>
      <p:sp>
        <p:nvSpPr>
          <p:cNvPr id="72" name="Rectangle: Rounded Corners 71">
            <a:extLst>
              <a:ext uri="{FF2B5EF4-FFF2-40B4-BE49-F238E27FC236}">
                <a16:creationId xmlns:a16="http://schemas.microsoft.com/office/drawing/2014/main" id="{E9BEA7D7-9DB2-C4B2-7D24-64285DCB9A87}"/>
              </a:ext>
            </a:extLst>
          </p:cNvPr>
          <p:cNvSpPr/>
          <p:nvPr/>
        </p:nvSpPr>
        <p:spPr>
          <a:xfrm>
            <a:off x="9255271" y="3466699"/>
            <a:ext cx="1222253" cy="27155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Rapid increase in stores</a:t>
            </a:r>
            <a:endParaRPr lang="zh-HK" altLang="en-US" sz="800" dirty="0"/>
          </a:p>
        </p:txBody>
      </p:sp>
      <p:sp>
        <p:nvSpPr>
          <p:cNvPr id="73" name="Rectangle: Rounded Corners 72">
            <a:extLst>
              <a:ext uri="{FF2B5EF4-FFF2-40B4-BE49-F238E27FC236}">
                <a16:creationId xmlns:a16="http://schemas.microsoft.com/office/drawing/2014/main" id="{DC06A975-01ED-1071-1096-EA83E3E90F36}"/>
              </a:ext>
            </a:extLst>
          </p:cNvPr>
          <p:cNvSpPr/>
          <p:nvPr/>
        </p:nvSpPr>
        <p:spPr>
          <a:xfrm>
            <a:off x="10951015" y="3476376"/>
            <a:ext cx="1122276" cy="2569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grow customer base</a:t>
            </a:r>
            <a:endParaRPr lang="zh-HK" altLang="en-US" sz="800" dirty="0"/>
          </a:p>
        </p:txBody>
      </p:sp>
      <p:cxnSp>
        <p:nvCxnSpPr>
          <p:cNvPr id="75" name="Connector: Elbow 74">
            <a:extLst>
              <a:ext uri="{FF2B5EF4-FFF2-40B4-BE49-F238E27FC236}">
                <a16:creationId xmlns:a16="http://schemas.microsoft.com/office/drawing/2014/main" id="{0D26C1C2-B4D6-2509-67A9-033ED6AC75F3}"/>
              </a:ext>
            </a:extLst>
          </p:cNvPr>
          <p:cNvCxnSpPr>
            <a:cxnSpLocks/>
            <a:stCxn id="56" idx="1"/>
            <a:endCxn id="5" idx="3"/>
          </p:cNvCxnSpPr>
          <p:nvPr/>
        </p:nvCxnSpPr>
        <p:spPr>
          <a:xfrm rot="10800000">
            <a:off x="2250319" y="3766459"/>
            <a:ext cx="232058" cy="133168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EFFDC67C-833D-D9B3-17B8-6F4124C4AA33}"/>
              </a:ext>
            </a:extLst>
          </p:cNvPr>
          <p:cNvCxnSpPr>
            <a:cxnSpLocks/>
            <a:stCxn id="57" idx="1"/>
            <a:endCxn id="56" idx="3"/>
          </p:cNvCxnSpPr>
          <p:nvPr/>
        </p:nvCxnSpPr>
        <p:spPr>
          <a:xfrm rot="10800000" flipV="1">
            <a:off x="3240749" y="4006985"/>
            <a:ext cx="271403" cy="10911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Connector: Elbow 78">
            <a:extLst>
              <a:ext uri="{FF2B5EF4-FFF2-40B4-BE49-F238E27FC236}">
                <a16:creationId xmlns:a16="http://schemas.microsoft.com/office/drawing/2014/main" id="{26679E46-6568-7379-7CC9-8699DDD18E22}"/>
              </a:ext>
            </a:extLst>
          </p:cNvPr>
          <p:cNvCxnSpPr>
            <a:cxnSpLocks/>
            <a:stCxn id="58" idx="1"/>
            <a:endCxn id="56" idx="3"/>
          </p:cNvCxnSpPr>
          <p:nvPr/>
        </p:nvCxnSpPr>
        <p:spPr>
          <a:xfrm rot="10800000">
            <a:off x="3240749" y="5098142"/>
            <a:ext cx="782993" cy="19295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Connector: Elbow 80">
            <a:extLst>
              <a:ext uri="{FF2B5EF4-FFF2-40B4-BE49-F238E27FC236}">
                <a16:creationId xmlns:a16="http://schemas.microsoft.com/office/drawing/2014/main" id="{25E48600-7DFF-7BD0-2EC9-FE5E5B3F1ED0}"/>
              </a:ext>
            </a:extLst>
          </p:cNvPr>
          <p:cNvCxnSpPr>
            <a:cxnSpLocks/>
            <a:stCxn id="59" idx="1"/>
            <a:endCxn id="56" idx="3"/>
          </p:cNvCxnSpPr>
          <p:nvPr/>
        </p:nvCxnSpPr>
        <p:spPr>
          <a:xfrm rot="10800000">
            <a:off x="3240748" y="5098141"/>
            <a:ext cx="244188" cy="13199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E8CB40D8-7AD0-947D-9912-F3010D75CD67}"/>
              </a:ext>
            </a:extLst>
          </p:cNvPr>
          <p:cNvCxnSpPr>
            <a:cxnSpLocks/>
            <a:stCxn id="68" idx="1"/>
            <a:endCxn id="57" idx="3"/>
          </p:cNvCxnSpPr>
          <p:nvPr/>
        </p:nvCxnSpPr>
        <p:spPr>
          <a:xfrm rot="10800000">
            <a:off x="4270523" y="4006985"/>
            <a:ext cx="279025" cy="2151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Connector: Elbow 84">
            <a:extLst>
              <a:ext uri="{FF2B5EF4-FFF2-40B4-BE49-F238E27FC236}">
                <a16:creationId xmlns:a16="http://schemas.microsoft.com/office/drawing/2014/main" id="{290F0462-6C43-0715-81B8-A0D6D61224BC}"/>
              </a:ext>
            </a:extLst>
          </p:cNvPr>
          <p:cNvCxnSpPr>
            <a:cxnSpLocks/>
            <a:stCxn id="69" idx="1"/>
            <a:endCxn id="68" idx="3"/>
          </p:cNvCxnSpPr>
          <p:nvPr/>
        </p:nvCxnSpPr>
        <p:spPr>
          <a:xfrm rot="10800000">
            <a:off x="5307919" y="4222147"/>
            <a:ext cx="252455" cy="2931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Connector: Elbow 86">
            <a:extLst>
              <a:ext uri="{FF2B5EF4-FFF2-40B4-BE49-F238E27FC236}">
                <a16:creationId xmlns:a16="http://schemas.microsoft.com/office/drawing/2014/main" id="{04D2A10B-0264-EDD2-33FB-8B2443B1B1CB}"/>
              </a:ext>
            </a:extLst>
          </p:cNvPr>
          <p:cNvCxnSpPr>
            <a:cxnSpLocks/>
            <a:stCxn id="71" idx="1"/>
            <a:endCxn id="69" idx="3"/>
          </p:cNvCxnSpPr>
          <p:nvPr/>
        </p:nvCxnSpPr>
        <p:spPr>
          <a:xfrm rot="10800000" flipV="1">
            <a:off x="7479173" y="3972359"/>
            <a:ext cx="367137" cy="54295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Connector: Elbow 88">
            <a:extLst>
              <a:ext uri="{FF2B5EF4-FFF2-40B4-BE49-F238E27FC236}">
                <a16:creationId xmlns:a16="http://schemas.microsoft.com/office/drawing/2014/main" id="{413BAA65-596D-0160-4ADD-4647C48EC3BA}"/>
              </a:ext>
            </a:extLst>
          </p:cNvPr>
          <p:cNvCxnSpPr>
            <a:cxnSpLocks/>
            <a:stCxn id="70" idx="1"/>
            <a:endCxn id="69" idx="3"/>
          </p:cNvCxnSpPr>
          <p:nvPr/>
        </p:nvCxnSpPr>
        <p:spPr>
          <a:xfrm rot="10800000">
            <a:off x="7479172" y="4515310"/>
            <a:ext cx="397870" cy="19889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0B22424A-69BB-55B3-20E5-1EC5E0E56E01}"/>
              </a:ext>
            </a:extLst>
          </p:cNvPr>
          <p:cNvCxnSpPr>
            <a:cxnSpLocks/>
            <a:stCxn id="72" idx="1"/>
            <a:endCxn id="71" idx="3"/>
          </p:cNvCxnSpPr>
          <p:nvPr/>
        </p:nvCxnSpPr>
        <p:spPr>
          <a:xfrm rot="10800000" flipV="1">
            <a:off x="9068563" y="3602473"/>
            <a:ext cx="186709" cy="36988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3" name="Connector: Elbow 92">
            <a:extLst>
              <a:ext uri="{FF2B5EF4-FFF2-40B4-BE49-F238E27FC236}">
                <a16:creationId xmlns:a16="http://schemas.microsoft.com/office/drawing/2014/main" id="{29EBF259-95B9-6A00-26EE-9E9A755F30E9}"/>
              </a:ext>
            </a:extLst>
          </p:cNvPr>
          <p:cNvCxnSpPr>
            <a:cxnSpLocks/>
            <a:stCxn id="73" idx="1"/>
            <a:endCxn id="72" idx="3"/>
          </p:cNvCxnSpPr>
          <p:nvPr/>
        </p:nvCxnSpPr>
        <p:spPr>
          <a:xfrm rot="10800000">
            <a:off x="10477525" y="3602475"/>
            <a:ext cx="473491" cy="235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Connector: Elbow 94">
            <a:extLst>
              <a:ext uri="{FF2B5EF4-FFF2-40B4-BE49-F238E27FC236}">
                <a16:creationId xmlns:a16="http://schemas.microsoft.com/office/drawing/2014/main" id="{7A41F322-1D28-AB87-C178-CC864F90858D}"/>
              </a:ext>
            </a:extLst>
          </p:cNvPr>
          <p:cNvCxnSpPr>
            <a:cxnSpLocks/>
            <a:stCxn id="61" idx="1"/>
            <a:endCxn id="58" idx="3"/>
          </p:cNvCxnSpPr>
          <p:nvPr/>
        </p:nvCxnSpPr>
        <p:spPr>
          <a:xfrm rot="10800000">
            <a:off x="4782113" y="5291094"/>
            <a:ext cx="2705295" cy="40653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Connector: Elbow 96">
            <a:extLst>
              <a:ext uri="{FF2B5EF4-FFF2-40B4-BE49-F238E27FC236}">
                <a16:creationId xmlns:a16="http://schemas.microsoft.com/office/drawing/2014/main" id="{FFAEFCC2-704B-B3D5-072E-59AA2ED4C342}"/>
              </a:ext>
            </a:extLst>
          </p:cNvPr>
          <p:cNvCxnSpPr>
            <a:cxnSpLocks/>
            <a:stCxn id="62" idx="1"/>
            <a:endCxn id="61" idx="3"/>
          </p:cNvCxnSpPr>
          <p:nvPr/>
        </p:nvCxnSpPr>
        <p:spPr>
          <a:xfrm rot="10800000" flipV="1">
            <a:off x="9054440" y="4744604"/>
            <a:ext cx="223565" cy="95302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2110DF93-7C46-459B-60DF-9A129A6088BF}"/>
              </a:ext>
            </a:extLst>
          </p:cNvPr>
          <p:cNvCxnSpPr>
            <a:cxnSpLocks/>
            <a:stCxn id="63" idx="1"/>
            <a:endCxn id="61" idx="3"/>
          </p:cNvCxnSpPr>
          <p:nvPr/>
        </p:nvCxnSpPr>
        <p:spPr>
          <a:xfrm rot="10800000">
            <a:off x="9054440" y="5697629"/>
            <a:ext cx="221705" cy="39523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1" name="Connector: Elbow 100">
            <a:extLst>
              <a:ext uri="{FF2B5EF4-FFF2-40B4-BE49-F238E27FC236}">
                <a16:creationId xmlns:a16="http://schemas.microsoft.com/office/drawing/2014/main" id="{DDA4868F-8DD3-DDF9-8444-37C29E66B9FC}"/>
              </a:ext>
            </a:extLst>
          </p:cNvPr>
          <p:cNvCxnSpPr>
            <a:cxnSpLocks/>
            <a:stCxn id="67" idx="1"/>
            <a:endCxn id="62" idx="3"/>
          </p:cNvCxnSpPr>
          <p:nvPr/>
        </p:nvCxnSpPr>
        <p:spPr>
          <a:xfrm rot="10800000" flipV="1">
            <a:off x="10036376" y="4236631"/>
            <a:ext cx="221113" cy="50797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nector: Elbow 102">
            <a:extLst>
              <a:ext uri="{FF2B5EF4-FFF2-40B4-BE49-F238E27FC236}">
                <a16:creationId xmlns:a16="http://schemas.microsoft.com/office/drawing/2014/main" id="{10ECA72F-CD94-2A02-0D11-8126F2DFA928}"/>
              </a:ext>
            </a:extLst>
          </p:cNvPr>
          <p:cNvCxnSpPr>
            <a:cxnSpLocks/>
            <a:stCxn id="66" idx="1"/>
            <a:endCxn id="62" idx="3"/>
          </p:cNvCxnSpPr>
          <p:nvPr/>
        </p:nvCxnSpPr>
        <p:spPr>
          <a:xfrm rot="10800000">
            <a:off x="10036376" y="4744606"/>
            <a:ext cx="197473" cy="51397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Connector: Elbow 104">
            <a:extLst>
              <a:ext uri="{FF2B5EF4-FFF2-40B4-BE49-F238E27FC236}">
                <a16:creationId xmlns:a16="http://schemas.microsoft.com/office/drawing/2014/main" id="{48C79C71-78E3-E01F-8B9B-4B14B2474C3B}"/>
              </a:ext>
            </a:extLst>
          </p:cNvPr>
          <p:cNvCxnSpPr>
            <a:cxnSpLocks/>
            <a:stCxn id="65" idx="1"/>
            <a:endCxn id="63" idx="3"/>
          </p:cNvCxnSpPr>
          <p:nvPr/>
        </p:nvCxnSpPr>
        <p:spPr>
          <a:xfrm rot="10800000" flipV="1">
            <a:off x="10034515" y="5690715"/>
            <a:ext cx="607430" cy="40215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 name="Connector: Elbow 106">
            <a:extLst>
              <a:ext uri="{FF2B5EF4-FFF2-40B4-BE49-F238E27FC236}">
                <a16:creationId xmlns:a16="http://schemas.microsoft.com/office/drawing/2014/main" id="{9B29F64D-CE61-4446-6DE5-04038109EA18}"/>
              </a:ext>
            </a:extLst>
          </p:cNvPr>
          <p:cNvCxnSpPr>
            <a:cxnSpLocks/>
            <a:stCxn id="64" idx="1"/>
            <a:endCxn id="63" idx="3"/>
          </p:cNvCxnSpPr>
          <p:nvPr/>
        </p:nvCxnSpPr>
        <p:spPr>
          <a:xfrm rot="10800000">
            <a:off x="10034515" y="6092867"/>
            <a:ext cx="607430" cy="17045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Connector: Elbow 108">
            <a:extLst>
              <a:ext uri="{FF2B5EF4-FFF2-40B4-BE49-F238E27FC236}">
                <a16:creationId xmlns:a16="http://schemas.microsoft.com/office/drawing/2014/main" id="{56D51D21-6A91-A2D8-5367-279835A3C683}"/>
              </a:ext>
            </a:extLst>
          </p:cNvPr>
          <p:cNvCxnSpPr>
            <a:cxnSpLocks/>
            <a:stCxn id="60" idx="1"/>
            <a:endCxn id="59" idx="3"/>
          </p:cNvCxnSpPr>
          <p:nvPr/>
        </p:nvCxnSpPr>
        <p:spPr>
          <a:xfrm rot="10800000" flipV="1">
            <a:off x="4622491" y="6317837"/>
            <a:ext cx="530252" cy="10026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0" name="Connector: Elbow 159">
            <a:extLst>
              <a:ext uri="{FF2B5EF4-FFF2-40B4-BE49-F238E27FC236}">
                <a16:creationId xmlns:a16="http://schemas.microsoft.com/office/drawing/2014/main" id="{F744E961-91AE-9116-10EB-725D88D81526}"/>
              </a:ext>
            </a:extLst>
          </p:cNvPr>
          <p:cNvCxnSpPr>
            <a:cxnSpLocks/>
            <a:stCxn id="15" idx="1"/>
            <a:endCxn id="13" idx="3"/>
          </p:cNvCxnSpPr>
          <p:nvPr/>
        </p:nvCxnSpPr>
        <p:spPr>
          <a:xfrm rot="10800000" flipV="1">
            <a:off x="5613704" y="1758205"/>
            <a:ext cx="332911" cy="4486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0EF6B392-CEF4-0B82-FD47-B10C3E71A78F}"/>
              </a:ext>
            </a:extLst>
          </p:cNvPr>
          <p:cNvSpPr txBox="1"/>
          <p:nvPr/>
        </p:nvSpPr>
        <p:spPr>
          <a:xfrm>
            <a:off x="2357876" y="3646247"/>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303" name="TextBox 302">
            <a:extLst>
              <a:ext uri="{FF2B5EF4-FFF2-40B4-BE49-F238E27FC236}">
                <a16:creationId xmlns:a16="http://schemas.microsoft.com/office/drawing/2014/main" id="{1353F72A-3FAE-A8D8-E28C-F514C4935B59}"/>
              </a:ext>
            </a:extLst>
          </p:cNvPr>
          <p:cNvSpPr txBox="1"/>
          <p:nvPr/>
        </p:nvSpPr>
        <p:spPr>
          <a:xfrm>
            <a:off x="4625521" y="2594706"/>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304" name="TextBox 303">
            <a:extLst>
              <a:ext uri="{FF2B5EF4-FFF2-40B4-BE49-F238E27FC236}">
                <a16:creationId xmlns:a16="http://schemas.microsoft.com/office/drawing/2014/main" id="{7BF51104-2269-7305-69FE-D27503B9315D}"/>
              </a:ext>
            </a:extLst>
          </p:cNvPr>
          <p:cNvSpPr txBox="1"/>
          <p:nvPr/>
        </p:nvSpPr>
        <p:spPr>
          <a:xfrm>
            <a:off x="5821741" y="3158207"/>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308" name="TextBox 307">
            <a:extLst>
              <a:ext uri="{FF2B5EF4-FFF2-40B4-BE49-F238E27FC236}">
                <a16:creationId xmlns:a16="http://schemas.microsoft.com/office/drawing/2014/main" id="{19E4204B-CDEA-A253-B79F-2143231213A1}"/>
              </a:ext>
            </a:extLst>
          </p:cNvPr>
          <p:cNvSpPr txBox="1"/>
          <p:nvPr/>
        </p:nvSpPr>
        <p:spPr>
          <a:xfrm>
            <a:off x="8290219" y="2673210"/>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311" name="TextBox 310">
            <a:extLst>
              <a:ext uri="{FF2B5EF4-FFF2-40B4-BE49-F238E27FC236}">
                <a16:creationId xmlns:a16="http://schemas.microsoft.com/office/drawing/2014/main" id="{B5C8D745-2A7C-D96B-54A4-01EE68C8BA55}"/>
              </a:ext>
            </a:extLst>
          </p:cNvPr>
          <p:cNvSpPr txBox="1"/>
          <p:nvPr/>
        </p:nvSpPr>
        <p:spPr>
          <a:xfrm>
            <a:off x="3414138" y="4772306"/>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314" name="TextBox 313">
            <a:extLst>
              <a:ext uri="{FF2B5EF4-FFF2-40B4-BE49-F238E27FC236}">
                <a16:creationId xmlns:a16="http://schemas.microsoft.com/office/drawing/2014/main" id="{428AF0F6-6D1E-1964-6F3A-5F9497050270}"/>
              </a:ext>
            </a:extLst>
          </p:cNvPr>
          <p:cNvSpPr txBox="1"/>
          <p:nvPr/>
        </p:nvSpPr>
        <p:spPr>
          <a:xfrm>
            <a:off x="7722180" y="4137620"/>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321" name="TextBox 320">
            <a:extLst>
              <a:ext uri="{FF2B5EF4-FFF2-40B4-BE49-F238E27FC236}">
                <a16:creationId xmlns:a16="http://schemas.microsoft.com/office/drawing/2014/main" id="{9568D2C9-4B8F-30AA-2A2F-F0461421B8A4}"/>
              </a:ext>
            </a:extLst>
          </p:cNvPr>
          <p:cNvSpPr txBox="1"/>
          <p:nvPr/>
        </p:nvSpPr>
        <p:spPr>
          <a:xfrm>
            <a:off x="9177770" y="5429723"/>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322" name="TextBox 321">
            <a:extLst>
              <a:ext uri="{FF2B5EF4-FFF2-40B4-BE49-F238E27FC236}">
                <a16:creationId xmlns:a16="http://schemas.microsoft.com/office/drawing/2014/main" id="{755955C5-0469-006B-E083-1E7A344ECE5A}"/>
              </a:ext>
            </a:extLst>
          </p:cNvPr>
          <p:cNvSpPr txBox="1"/>
          <p:nvPr/>
        </p:nvSpPr>
        <p:spPr>
          <a:xfrm>
            <a:off x="10060398" y="4623862"/>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323" name="TextBox 322">
            <a:extLst>
              <a:ext uri="{FF2B5EF4-FFF2-40B4-BE49-F238E27FC236}">
                <a16:creationId xmlns:a16="http://schemas.microsoft.com/office/drawing/2014/main" id="{F186C6F0-DC72-277F-D536-DD1D150CB0AB}"/>
              </a:ext>
            </a:extLst>
          </p:cNvPr>
          <p:cNvSpPr txBox="1"/>
          <p:nvPr/>
        </p:nvSpPr>
        <p:spPr>
          <a:xfrm>
            <a:off x="10309494" y="5919351"/>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324" name="TextBox 323">
            <a:extLst>
              <a:ext uri="{FF2B5EF4-FFF2-40B4-BE49-F238E27FC236}">
                <a16:creationId xmlns:a16="http://schemas.microsoft.com/office/drawing/2014/main" id="{1B22E61C-22B6-BA5B-BDA4-8C2941832DC1}"/>
              </a:ext>
            </a:extLst>
          </p:cNvPr>
          <p:cNvSpPr txBox="1"/>
          <p:nvPr/>
        </p:nvSpPr>
        <p:spPr>
          <a:xfrm>
            <a:off x="1372877" y="2559279"/>
            <a:ext cx="1119948" cy="276999"/>
          </a:xfrm>
          <a:prstGeom prst="rect">
            <a:avLst/>
          </a:prstGeom>
          <a:noFill/>
        </p:spPr>
        <p:txBody>
          <a:bodyPr wrap="square" rtlCol="0">
            <a:spAutoFit/>
          </a:bodyPr>
          <a:lstStyle/>
          <a:p>
            <a:r>
              <a:rPr lang="en-US" altLang="zh-HK" sz="1200" dirty="0"/>
              <a:t>4P: Product</a:t>
            </a:r>
            <a:endParaRPr lang="zh-HK" altLang="en-US" sz="1200" dirty="0"/>
          </a:p>
        </p:txBody>
      </p:sp>
      <p:sp>
        <p:nvSpPr>
          <p:cNvPr id="325" name="TextBox 324">
            <a:extLst>
              <a:ext uri="{FF2B5EF4-FFF2-40B4-BE49-F238E27FC236}">
                <a16:creationId xmlns:a16="http://schemas.microsoft.com/office/drawing/2014/main" id="{2897B00D-1A26-AF8D-05EB-9C4D77CD8037}"/>
              </a:ext>
            </a:extLst>
          </p:cNvPr>
          <p:cNvSpPr txBox="1"/>
          <p:nvPr/>
        </p:nvSpPr>
        <p:spPr>
          <a:xfrm>
            <a:off x="1507006" y="4942027"/>
            <a:ext cx="783651" cy="276999"/>
          </a:xfrm>
          <a:prstGeom prst="rect">
            <a:avLst/>
          </a:prstGeom>
          <a:noFill/>
        </p:spPr>
        <p:txBody>
          <a:bodyPr wrap="square" rtlCol="0">
            <a:spAutoFit/>
          </a:bodyPr>
          <a:lstStyle/>
          <a:p>
            <a:r>
              <a:rPr lang="en-US" altLang="zh-HK" sz="1200" dirty="0"/>
              <a:t>4P: Price</a:t>
            </a:r>
            <a:endParaRPr lang="zh-HK" altLang="en-US" sz="1200" dirty="0"/>
          </a:p>
        </p:txBody>
      </p:sp>
      <p:sp>
        <p:nvSpPr>
          <p:cNvPr id="326" name="Rectangle: Rounded Corners 325">
            <a:extLst>
              <a:ext uri="{FF2B5EF4-FFF2-40B4-BE49-F238E27FC236}">
                <a16:creationId xmlns:a16="http://schemas.microsoft.com/office/drawing/2014/main" id="{5D68D801-7867-9272-B71A-9D43B9B0FCD9}"/>
              </a:ext>
            </a:extLst>
          </p:cNvPr>
          <p:cNvSpPr/>
          <p:nvPr/>
        </p:nvSpPr>
        <p:spPr>
          <a:xfrm>
            <a:off x="5940713" y="1902778"/>
            <a:ext cx="1919311" cy="54322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Starbucks was based on espresso coffee bars in Milan, where people met and spent time in addition to consuming coffee</a:t>
            </a:r>
            <a:endParaRPr lang="zh-HK" altLang="en-US" sz="800" dirty="0"/>
          </a:p>
        </p:txBody>
      </p:sp>
      <p:sp>
        <p:nvSpPr>
          <p:cNvPr id="347" name="Rectangle: Rounded Corners 346">
            <a:extLst>
              <a:ext uri="{FF2B5EF4-FFF2-40B4-BE49-F238E27FC236}">
                <a16:creationId xmlns:a16="http://schemas.microsoft.com/office/drawing/2014/main" id="{F41BAFDD-2D4F-E2D3-72C5-E46EF4F6D025}"/>
              </a:ext>
            </a:extLst>
          </p:cNvPr>
          <p:cNvSpPr/>
          <p:nvPr/>
        </p:nvSpPr>
        <p:spPr>
          <a:xfrm>
            <a:off x="5467416" y="4666422"/>
            <a:ext cx="2168632" cy="52378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"Stores no longer have the soul of the past and reflect a chain of stores vs. the warm feeling of a neighborhood store." ― Schultz, February 2007</a:t>
            </a:r>
            <a:endParaRPr lang="zh-HK" altLang="en-US" sz="800" dirty="0"/>
          </a:p>
        </p:txBody>
      </p:sp>
      <p:sp>
        <p:nvSpPr>
          <p:cNvPr id="418" name="Rectangle: Rounded Corners 417">
            <a:extLst>
              <a:ext uri="{FF2B5EF4-FFF2-40B4-BE49-F238E27FC236}">
                <a16:creationId xmlns:a16="http://schemas.microsoft.com/office/drawing/2014/main" id="{3C67951B-C0D0-62B1-CAB5-186C520A1FC6}"/>
              </a:ext>
            </a:extLst>
          </p:cNvPr>
          <p:cNvSpPr/>
          <p:nvPr/>
        </p:nvSpPr>
        <p:spPr>
          <a:xfrm>
            <a:off x="9302028" y="3706523"/>
            <a:ext cx="1279308" cy="37138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7000 stores in 2013 to 15000 stores in 2008</a:t>
            </a:r>
            <a:endParaRPr lang="zh-HK" altLang="en-US" sz="800" dirty="0"/>
          </a:p>
        </p:txBody>
      </p:sp>
      <p:sp>
        <p:nvSpPr>
          <p:cNvPr id="420" name="Rectangle: Rounded Corners 419">
            <a:extLst>
              <a:ext uri="{FF2B5EF4-FFF2-40B4-BE49-F238E27FC236}">
                <a16:creationId xmlns:a16="http://schemas.microsoft.com/office/drawing/2014/main" id="{8E6CC6E8-8268-DB18-4370-D8E6ECA66692}"/>
              </a:ext>
            </a:extLst>
          </p:cNvPr>
          <p:cNvSpPr/>
          <p:nvPr/>
        </p:nvSpPr>
        <p:spPr>
          <a:xfrm>
            <a:off x="7539012" y="4919565"/>
            <a:ext cx="1560893" cy="388893"/>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High end customers moved away to neighborhood coffee boutiques</a:t>
            </a:r>
            <a:endParaRPr lang="zh-HK" altLang="en-US" sz="800" dirty="0"/>
          </a:p>
        </p:txBody>
      </p:sp>
      <p:sp>
        <p:nvSpPr>
          <p:cNvPr id="422" name="Rectangle: Rounded Corners 421">
            <a:extLst>
              <a:ext uri="{FF2B5EF4-FFF2-40B4-BE49-F238E27FC236}">
                <a16:creationId xmlns:a16="http://schemas.microsoft.com/office/drawing/2014/main" id="{BB68C7AB-B9E7-855D-A65F-41559F9C4B32}"/>
              </a:ext>
            </a:extLst>
          </p:cNvPr>
          <p:cNvSpPr/>
          <p:nvPr/>
        </p:nvSpPr>
        <p:spPr>
          <a:xfrm>
            <a:off x="10492476" y="4299444"/>
            <a:ext cx="1699641" cy="66286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Starbucks was based on espresso coffee bars in Milan, where people met and spent time in addition to consuming coffee</a:t>
            </a:r>
            <a:endParaRPr lang="zh-HK" altLang="en-US" sz="800" dirty="0"/>
          </a:p>
        </p:txBody>
      </p:sp>
      <p:sp>
        <p:nvSpPr>
          <p:cNvPr id="460" name="Rectangle: Rounded Corners 459">
            <a:extLst>
              <a:ext uri="{FF2B5EF4-FFF2-40B4-BE49-F238E27FC236}">
                <a16:creationId xmlns:a16="http://schemas.microsoft.com/office/drawing/2014/main" id="{4C8DE6EF-FC50-A340-897C-DA65612643E0}"/>
              </a:ext>
            </a:extLst>
          </p:cNvPr>
          <p:cNvSpPr/>
          <p:nvPr/>
        </p:nvSpPr>
        <p:spPr>
          <a:xfrm>
            <a:off x="10113735" y="6406378"/>
            <a:ext cx="2005692" cy="362945"/>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Speedy delivery customers were attracted to McDonald's, Dunkin' Donuts, etc.</a:t>
            </a:r>
            <a:endParaRPr lang="zh-HK" altLang="en-US" sz="800" dirty="0"/>
          </a:p>
        </p:txBody>
      </p:sp>
      <p:sp>
        <p:nvSpPr>
          <p:cNvPr id="469" name="Rectangle: Rounded Corners 468">
            <a:extLst>
              <a:ext uri="{FF2B5EF4-FFF2-40B4-BE49-F238E27FC236}">
                <a16:creationId xmlns:a16="http://schemas.microsoft.com/office/drawing/2014/main" id="{CA98EA78-D498-F960-8AA0-48A2F65CA355}"/>
              </a:ext>
            </a:extLst>
          </p:cNvPr>
          <p:cNvSpPr/>
          <p:nvPr/>
        </p:nvSpPr>
        <p:spPr>
          <a:xfrm>
            <a:off x="5175478" y="6450603"/>
            <a:ext cx="1790717" cy="329454"/>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Global economic crisis beginning in July 2007</a:t>
            </a:r>
            <a:endParaRPr lang="zh-HK" altLang="en-US" sz="800" dirty="0"/>
          </a:p>
        </p:txBody>
      </p:sp>
      <p:sp>
        <p:nvSpPr>
          <p:cNvPr id="475" name="Rectangle: Rounded Corners 474">
            <a:extLst>
              <a:ext uri="{FF2B5EF4-FFF2-40B4-BE49-F238E27FC236}">
                <a16:creationId xmlns:a16="http://schemas.microsoft.com/office/drawing/2014/main" id="{72BDDE57-BA92-8F8D-E3DF-186CF3E5570B}"/>
              </a:ext>
            </a:extLst>
          </p:cNvPr>
          <p:cNvSpPr/>
          <p:nvPr/>
        </p:nvSpPr>
        <p:spPr>
          <a:xfrm>
            <a:off x="3463543" y="2018924"/>
            <a:ext cx="939383" cy="540355"/>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Engage and inspire our partners</a:t>
            </a:r>
            <a:endParaRPr lang="zh-HK" altLang="en-US" sz="800" dirty="0"/>
          </a:p>
        </p:txBody>
      </p:sp>
      <p:sp>
        <p:nvSpPr>
          <p:cNvPr id="476" name="Rectangle: Rounded Corners 475">
            <a:extLst>
              <a:ext uri="{FF2B5EF4-FFF2-40B4-BE49-F238E27FC236}">
                <a16:creationId xmlns:a16="http://schemas.microsoft.com/office/drawing/2014/main" id="{C3F62EBA-05A8-96B6-1F39-C11B46A53206}"/>
              </a:ext>
            </a:extLst>
          </p:cNvPr>
          <p:cNvSpPr/>
          <p:nvPr/>
        </p:nvSpPr>
        <p:spPr>
          <a:xfrm>
            <a:off x="7506143" y="3287904"/>
            <a:ext cx="1473326" cy="575572"/>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Expand our global presence — while making each store the heart of a local neighborhood</a:t>
            </a:r>
            <a:endParaRPr lang="zh-HK" altLang="en-US" sz="800" dirty="0"/>
          </a:p>
        </p:txBody>
      </p:sp>
      <p:sp>
        <p:nvSpPr>
          <p:cNvPr id="487" name="Rectangle: Rounded Corners 486">
            <a:extLst>
              <a:ext uri="{FF2B5EF4-FFF2-40B4-BE49-F238E27FC236}">
                <a16:creationId xmlns:a16="http://schemas.microsoft.com/office/drawing/2014/main" id="{8A543277-161A-036D-E020-AA26FD1E14A8}"/>
              </a:ext>
            </a:extLst>
          </p:cNvPr>
          <p:cNvSpPr/>
          <p:nvPr/>
        </p:nvSpPr>
        <p:spPr>
          <a:xfrm>
            <a:off x="4893119" y="5862547"/>
            <a:ext cx="1615411" cy="329454"/>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Deliver a sustainable economic model</a:t>
            </a:r>
            <a:endParaRPr lang="zh-HK" altLang="en-US" sz="800" dirty="0"/>
          </a:p>
        </p:txBody>
      </p:sp>
    </p:spTree>
    <p:extLst>
      <p:ext uri="{BB962C8B-B14F-4D97-AF65-F5344CB8AC3E}">
        <p14:creationId xmlns:p14="http://schemas.microsoft.com/office/powerpoint/2010/main" val="1311244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p:txBody>
          <a:bodyPr/>
          <a:lstStyle/>
          <a:p>
            <a:r>
              <a:rPr lang="en-US" altLang="zh-HK" dirty="0"/>
              <a:t>Q1. Conduct Root Cause Analysis (cont.)</a:t>
            </a:r>
            <a:endParaRPr lang="zh-HK" altLang="en-US" dirty="0"/>
          </a:p>
        </p:txBody>
      </p:sp>
      <p:sp>
        <p:nvSpPr>
          <p:cNvPr id="8" name="Rectangle: Rounded Corners 7">
            <a:extLst>
              <a:ext uri="{FF2B5EF4-FFF2-40B4-BE49-F238E27FC236}">
                <a16:creationId xmlns:a16="http://schemas.microsoft.com/office/drawing/2014/main" id="{D89C94F4-34D5-9269-645B-1E238A23E77B}"/>
              </a:ext>
            </a:extLst>
          </p:cNvPr>
          <p:cNvSpPr/>
          <p:nvPr/>
        </p:nvSpPr>
        <p:spPr>
          <a:xfrm>
            <a:off x="100996" y="3488268"/>
            <a:ext cx="1228876" cy="541866"/>
          </a:xfrm>
          <a:prstGeom prst="round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solidFill>
                  <a:schemeClr val="bg1"/>
                </a:solidFill>
              </a:rPr>
              <a:t>Starbucks' operating income decreased from US$1B in 2007 to US$504M in 2008</a:t>
            </a:r>
            <a:endParaRPr lang="zh-HK" altLang="en-US" sz="800" dirty="0">
              <a:solidFill>
                <a:schemeClr val="bg1"/>
              </a:solidFill>
            </a:endParaRPr>
          </a:p>
        </p:txBody>
      </p:sp>
      <p:sp>
        <p:nvSpPr>
          <p:cNvPr id="9" name="Rectangle: Rounded Corners 8">
            <a:extLst>
              <a:ext uri="{FF2B5EF4-FFF2-40B4-BE49-F238E27FC236}">
                <a16:creationId xmlns:a16="http://schemas.microsoft.com/office/drawing/2014/main" id="{52B98D22-F3E5-B481-EAD1-7963AAF23303}"/>
              </a:ext>
            </a:extLst>
          </p:cNvPr>
          <p:cNvSpPr/>
          <p:nvPr/>
        </p:nvSpPr>
        <p:spPr>
          <a:xfrm>
            <a:off x="1491948" y="3541487"/>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Sales decreased significantly</a:t>
            </a:r>
            <a:endParaRPr lang="zh-HK" altLang="en-US" sz="800" dirty="0"/>
          </a:p>
        </p:txBody>
      </p:sp>
      <p:cxnSp>
        <p:nvCxnSpPr>
          <p:cNvPr id="10" name="Connector: Elbow 9">
            <a:extLst>
              <a:ext uri="{FF2B5EF4-FFF2-40B4-BE49-F238E27FC236}">
                <a16:creationId xmlns:a16="http://schemas.microsoft.com/office/drawing/2014/main" id="{D3973E40-D895-3598-5A6B-18021C496FDE}"/>
              </a:ext>
            </a:extLst>
          </p:cNvPr>
          <p:cNvCxnSpPr>
            <a:cxnSpLocks/>
            <a:stCxn id="9" idx="1"/>
            <a:endCxn id="8" idx="3"/>
          </p:cNvCxnSpPr>
          <p:nvPr/>
        </p:nvCxnSpPr>
        <p:spPr>
          <a:xfrm rot="10800000">
            <a:off x="1329872" y="3759202"/>
            <a:ext cx="162076" cy="725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A3BDCB37-1F69-F977-D6D3-3B3C7D60701E}"/>
              </a:ext>
            </a:extLst>
          </p:cNvPr>
          <p:cNvSpPr/>
          <p:nvPr/>
        </p:nvSpPr>
        <p:spPr>
          <a:xfrm>
            <a:off x="2457148" y="2391115"/>
            <a:ext cx="758371" cy="700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were not distributing products optimally</a:t>
            </a:r>
            <a:endParaRPr lang="zh-HK" altLang="en-US" sz="800" dirty="0"/>
          </a:p>
        </p:txBody>
      </p:sp>
      <p:sp>
        <p:nvSpPr>
          <p:cNvPr id="12" name="Rectangle: Rounded Corners 11">
            <a:extLst>
              <a:ext uri="{FF2B5EF4-FFF2-40B4-BE49-F238E27FC236}">
                <a16:creationId xmlns:a16="http://schemas.microsoft.com/office/drawing/2014/main" id="{FB89F1FF-420A-7867-F2F5-0D5B4AEF81E5}"/>
              </a:ext>
            </a:extLst>
          </p:cNvPr>
          <p:cNvSpPr/>
          <p:nvPr/>
        </p:nvSpPr>
        <p:spPr>
          <a:xfrm>
            <a:off x="3652613" y="1532578"/>
            <a:ext cx="1710195" cy="35455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stores competed with each other</a:t>
            </a:r>
            <a:endParaRPr lang="zh-HK" altLang="en-US" sz="800" dirty="0"/>
          </a:p>
        </p:txBody>
      </p:sp>
      <p:sp>
        <p:nvSpPr>
          <p:cNvPr id="13" name="Rectangle: Rounded Corners 12">
            <a:extLst>
              <a:ext uri="{FF2B5EF4-FFF2-40B4-BE49-F238E27FC236}">
                <a16:creationId xmlns:a16="http://schemas.microsoft.com/office/drawing/2014/main" id="{51E63C31-AC6C-F57A-9BF3-16D8A5646E10}"/>
              </a:ext>
            </a:extLst>
          </p:cNvPr>
          <p:cNvSpPr/>
          <p:nvPr/>
        </p:nvSpPr>
        <p:spPr>
          <a:xfrm>
            <a:off x="3646110" y="2795254"/>
            <a:ext cx="941007" cy="4827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Inventory was not managed optimally</a:t>
            </a:r>
            <a:endParaRPr lang="zh-HK" altLang="en-US" sz="800" dirty="0"/>
          </a:p>
        </p:txBody>
      </p:sp>
      <p:sp>
        <p:nvSpPr>
          <p:cNvPr id="14" name="Rectangle: Rounded Corners 13">
            <a:extLst>
              <a:ext uri="{FF2B5EF4-FFF2-40B4-BE49-F238E27FC236}">
                <a16:creationId xmlns:a16="http://schemas.microsoft.com/office/drawing/2014/main" id="{E8221457-AD59-1DAA-35BA-9F3B89DCC5B4}"/>
              </a:ext>
            </a:extLst>
          </p:cNvPr>
          <p:cNvSpPr/>
          <p:nvPr/>
        </p:nvSpPr>
        <p:spPr>
          <a:xfrm>
            <a:off x="6403233" y="2520007"/>
            <a:ext cx="1265559" cy="251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Increased management demand</a:t>
            </a:r>
            <a:endParaRPr lang="zh-HK" altLang="en-US" sz="800" dirty="0"/>
          </a:p>
        </p:txBody>
      </p:sp>
      <p:sp>
        <p:nvSpPr>
          <p:cNvPr id="15" name="Rectangle: Rounded Corners 14">
            <a:extLst>
              <a:ext uri="{FF2B5EF4-FFF2-40B4-BE49-F238E27FC236}">
                <a16:creationId xmlns:a16="http://schemas.microsoft.com/office/drawing/2014/main" id="{47F4CC9A-439F-6F4A-96AA-B85AC5382B33}"/>
              </a:ext>
            </a:extLst>
          </p:cNvPr>
          <p:cNvSpPr/>
          <p:nvPr/>
        </p:nvSpPr>
        <p:spPr>
          <a:xfrm>
            <a:off x="6416945" y="3188456"/>
            <a:ext cx="1306287" cy="2719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Lack of management technology</a:t>
            </a:r>
            <a:endParaRPr lang="zh-HK" altLang="en-US" sz="800" dirty="0"/>
          </a:p>
        </p:txBody>
      </p:sp>
      <p:sp>
        <p:nvSpPr>
          <p:cNvPr id="16" name="Rectangle: Rounded Corners 15">
            <a:extLst>
              <a:ext uri="{FF2B5EF4-FFF2-40B4-BE49-F238E27FC236}">
                <a16:creationId xmlns:a16="http://schemas.microsoft.com/office/drawing/2014/main" id="{F5755675-A036-7BB5-0F85-D1976EE6F85F}"/>
              </a:ext>
            </a:extLst>
          </p:cNvPr>
          <p:cNvSpPr/>
          <p:nvPr/>
        </p:nvSpPr>
        <p:spPr>
          <a:xfrm>
            <a:off x="8224975" y="2604167"/>
            <a:ext cx="1426132" cy="2508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Rapid increase in stores</a:t>
            </a:r>
            <a:endParaRPr lang="zh-HK" altLang="en-US" sz="800" dirty="0"/>
          </a:p>
        </p:txBody>
      </p:sp>
      <p:sp>
        <p:nvSpPr>
          <p:cNvPr id="17" name="Rectangle: Rounded Corners 16">
            <a:extLst>
              <a:ext uri="{FF2B5EF4-FFF2-40B4-BE49-F238E27FC236}">
                <a16:creationId xmlns:a16="http://schemas.microsoft.com/office/drawing/2014/main" id="{C477FC37-1B12-69A8-545B-8BC128E277D8}"/>
              </a:ext>
            </a:extLst>
          </p:cNvPr>
          <p:cNvSpPr/>
          <p:nvPr/>
        </p:nvSpPr>
        <p:spPr>
          <a:xfrm>
            <a:off x="10926702" y="2543692"/>
            <a:ext cx="979110" cy="36250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grow customer base</a:t>
            </a:r>
            <a:endParaRPr lang="zh-HK" altLang="en-US" sz="800" dirty="0"/>
          </a:p>
        </p:txBody>
      </p:sp>
      <p:sp>
        <p:nvSpPr>
          <p:cNvPr id="18" name="Rectangle: Rounded Corners 17">
            <a:extLst>
              <a:ext uri="{FF2B5EF4-FFF2-40B4-BE49-F238E27FC236}">
                <a16:creationId xmlns:a16="http://schemas.microsoft.com/office/drawing/2014/main" id="{7CB3D278-BEF8-19A2-6717-82BF94DF6519}"/>
              </a:ext>
            </a:extLst>
          </p:cNvPr>
          <p:cNvSpPr/>
          <p:nvPr/>
        </p:nvSpPr>
        <p:spPr>
          <a:xfrm>
            <a:off x="8502078" y="3377105"/>
            <a:ext cx="1229484"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Technology were underprioritized by Starbucks</a:t>
            </a:r>
            <a:endParaRPr lang="zh-HK" altLang="en-US" sz="800" dirty="0"/>
          </a:p>
        </p:txBody>
      </p:sp>
      <p:sp>
        <p:nvSpPr>
          <p:cNvPr id="19" name="Rectangle: Rounded Corners 18">
            <a:extLst>
              <a:ext uri="{FF2B5EF4-FFF2-40B4-BE49-F238E27FC236}">
                <a16:creationId xmlns:a16="http://schemas.microsoft.com/office/drawing/2014/main" id="{C686FCB1-62C9-0694-65F8-EC963987D0C8}"/>
              </a:ext>
            </a:extLst>
          </p:cNvPr>
          <p:cNvSpPr/>
          <p:nvPr/>
        </p:nvSpPr>
        <p:spPr>
          <a:xfrm>
            <a:off x="5731327" y="1206281"/>
            <a:ext cx="1217384"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stores should not be too close</a:t>
            </a:r>
            <a:endParaRPr lang="zh-HK" altLang="en-US" sz="800" dirty="0"/>
          </a:p>
        </p:txBody>
      </p:sp>
      <p:sp>
        <p:nvSpPr>
          <p:cNvPr id="20" name="Rectangle: Rounded Corners 19">
            <a:extLst>
              <a:ext uri="{FF2B5EF4-FFF2-40B4-BE49-F238E27FC236}">
                <a16:creationId xmlns:a16="http://schemas.microsoft.com/office/drawing/2014/main" id="{92A3E948-C456-1F08-27CC-CC6CACD01D7F}"/>
              </a:ext>
            </a:extLst>
          </p:cNvPr>
          <p:cNvSpPr/>
          <p:nvPr/>
        </p:nvSpPr>
        <p:spPr>
          <a:xfrm>
            <a:off x="5668009" y="1874522"/>
            <a:ext cx="1359805" cy="2971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Rapid increase in stores</a:t>
            </a:r>
            <a:endParaRPr lang="zh-HK" altLang="en-US" sz="800" dirty="0"/>
          </a:p>
        </p:txBody>
      </p:sp>
      <p:sp>
        <p:nvSpPr>
          <p:cNvPr id="21" name="Rectangle: Rounded Corners 20">
            <a:extLst>
              <a:ext uri="{FF2B5EF4-FFF2-40B4-BE49-F238E27FC236}">
                <a16:creationId xmlns:a16="http://schemas.microsoft.com/office/drawing/2014/main" id="{792F2B3F-123E-5B6D-FCDE-776742AEDFB5}"/>
              </a:ext>
            </a:extLst>
          </p:cNvPr>
          <p:cNvSpPr/>
          <p:nvPr/>
        </p:nvSpPr>
        <p:spPr>
          <a:xfrm>
            <a:off x="9065067" y="1380895"/>
            <a:ext cx="1519766" cy="4998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mainly serviced niche customers like club-appeal customers</a:t>
            </a:r>
            <a:endParaRPr lang="zh-HK" altLang="en-US" sz="800" dirty="0"/>
          </a:p>
        </p:txBody>
      </p:sp>
      <p:sp>
        <p:nvSpPr>
          <p:cNvPr id="22" name="Rectangle: Rounded Corners 21">
            <a:extLst>
              <a:ext uri="{FF2B5EF4-FFF2-40B4-BE49-F238E27FC236}">
                <a16:creationId xmlns:a16="http://schemas.microsoft.com/office/drawing/2014/main" id="{C3DE9F62-A4BC-DC4E-E675-A7EE11521FB8}"/>
              </a:ext>
            </a:extLst>
          </p:cNvPr>
          <p:cNvSpPr/>
          <p:nvPr/>
        </p:nvSpPr>
        <p:spPr>
          <a:xfrm>
            <a:off x="7548630" y="1272127"/>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Limited customer base</a:t>
            </a:r>
            <a:endParaRPr lang="zh-HK" altLang="en-US" sz="800" dirty="0"/>
          </a:p>
        </p:txBody>
      </p:sp>
      <p:sp>
        <p:nvSpPr>
          <p:cNvPr id="23" name="Rectangle: Rounded Corners 22">
            <a:extLst>
              <a:ext uri="{FF2B5EF4-FFF2-40B4-BE49-F238E27FC236}">
                <a16:creationId xmlns:a16="http://schemas.microsoft.com/office/drawing/2014/main" id="{17D48D8B-0545-D63F-BAEF-A7201582B5FD}"/>
              </a:ext>
            </a:extLst>
          </p:cNvPr>
          <p:cNvSpPr/>
          <p:nvPr/>
        </p:nvSpPr>
        <p:spPr>
          <a:xfrm>
            <a:off x="7698679" y="1816618"/>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grow customer base</a:t>
            </a:r>
            <a:endParaRPr lang="zh-HK" altLang="en-US" sz="800" dirty="0"/>
          </a:p>
        </p:txBody>
      </p:sp>
      <p:cxnSp>
        <p:nvCxnSpPr>
          <p:cNvPr id="25" name="Connector: Elbow 24">
            <a:extLst>
              <a:ext uri="{FF2B5EF4-FFF2-40B4-BE49-F238E27FC236}">
                <a16:creationId xmlns:a16="http://schemas.microsoft.com/office/drawing/2014/main" id="{7CF05EF1-C8D5-75C0-9D1B-39F24844FE38}"/>
              </a:ext>
            </a:extLst>
          </p:cNvPr>
          <p:cNvCxnSpPr>
            <a:cxnSpLocks/>
            <a:stCxn id="11" idx="1"/>
            <a:endCxn id="9" idx="3"/>
          </p:cNvCxnSpPr>
          <p:nvPr/>
        </p:nvCxnSpPr>
        <p:spPr>
          <a:xfrm rot="10800000" flipV="1">
            <a:off x="2250320" y="2741330"/>
            <a:ext cx="206829" cy="102512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nector: Elbow 26">
            <a:extLst>
              <a:ext uri="{FF2B5EF4-FFF2-40B4-BE49-F238E27FC236}">
                <a16:creationId xmlns:a16="http://schemas.microsoft.com/office/drawing/2014/main" id="{F0E572B2-B007-CB9E-2311-DA362F32D8C9}"/>
              </a:ext>
            </a:extLst>
          </p:cNvPr>
          <p:cNvCxnSpPr>
            <a:cxnSpLocks/>
            <a:stCxn id="13" idx="1"/>
            <a:endCxn id="11" idx="3"/>
          </p:cNvCxnSpPr>
          <p:nvPr/>
        </p:nvCxnSpPr>
        <p:spPr>
          <a:xfrm rot="10800000">
            <a:off x="3215520" y="2741331"/>
            <a:ext cx="430591" cy="29530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E2AAD81C-D336-5BE7-74D0-27CF045E4831}"/>
              </a:ext>
            </a:extLst>
          </p:cNvPr>
          <p:cNvCxnSpPr>
            <a:cxnSpLocks/>
            <a:stCxn id="12" idx="1"/>
            <a:endCxn id="11" idx="3"/>
          </p:cNvCxnSpPr>
          <p:nvPr/>
        </p:nvCxnSpPr>
        <p:spPr>
          <a:xfrm rot="10800000" flipV="1">
            <a:off x="3215519" y="1709854"/>
            <a:ext cx="437094" cy="103147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2D2AA0F5-4ABC-6DE2-71D7-8F5209CE7484}"/>
              </a:ext>
            </a:extLst>
          </p:cNvPr>
          <p:cNvCxnSpPr>
            <a:cxnSpLocks/>
            <a:stCxn id="15" idx="1"/>
            <a:endCxn id="13" idx="3"/>
          </p:cNvCxnSpPr>
          <p:nvPr/>
        </p:nvCxnSpPr>
        <p:spPr>
          <a:xfrm rot="10800000">
            <a:off x="4587117" y="3036639"/>
            <a:ext cx="1829828" cy="2877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7423EF8A-8272-140D-F186-EC085F1D77E2}"/>
              </a:ext>
            </a:extLst>
          </p:cNvPr>
          <p:cNvCxnSpPr>
            <a:cxnSpLocks/>
            <a:stCxn id="14" idx="1"/>
            <a:endCxn id="13" idx="3"/>
          </p:cNvCxnSpPr>
          <p:nvPr/>
        </p:nvCxnSpPr>
        <p:spPr>
          <a:xfrm rot="10800000" flipV="1">
            <a:off x="4587117" y="2645807"/>
            <a:ext cx="1816116" cy="39083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1E66EB84-FADB-2029-E247-ABC71B58353F}"/>
              </a:ext>
            </a:extLst>
          </p:cNvPr>
          <p:cNvCxnSpPr>
            <a:cxnSpLocks/>
            <a:stCxn id="20" idx="1"/>
            <a:endCxn id="12" idx="3"/>
          </p:cNvCxnSpPr>
          <p:nvPr/>
        </p:nvCxnSpPr>
        <p:spPr>
          <a:xfrm rot="10800000">
            <a:off x="5362809" y="1709855"/>
            <a:ext cx="305201" cy="31321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1D569710-1CF2-AB0C-188A-8100ECD8A011}"/>
              </a:ext>
            </a:extLst>
          </p:cNvPr>
          <p:cNvCxnSpPr>
            <a:cxnSpLocks/>
            <a:stCxn id="19" idx="1"/>
            <a:endCxn id="12" idx="3"/>
          </p:cNvCxnSpPr>
          <p:nvPr/>
        </p:nvCxnSpPr>
        <p:spPr>
          <a:xfrm rot="10800000" flipV="1">
            <a:off x="5362809" y="1431252"/>
            <a:ext cx="368519" cy="27860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AD9B2F3A-3351-511F-C023-695BD266AC67}"/>
              </a:ext>
            </a:extLst>
          </p:cNvPr>
          <p:cNvCxnSpPr>
            <a:cxnSpLocks/>
            <a:stCxn id="22" idx="1"/>
            <a:endCxn id="19" idx="3"/>
          </p:cNvCxnSpPr>
          <p:nvPr/>
        </p:nvCxnSpPr>
        <p:spPr>
          <a:xfrm rot="10800000">
            <a:off x="6948712" y="1431252"/>
            <a:ext cx="599919" cy="6584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CE77478E-B248-F790-AA0B-A40F195F6AC5}"/>
              </a:ext>
            </a:extLst>
          </p:cNvPr>
          <p:cNvCxnSpPr>
            <a:cxnSpLocks/>
            <a:stCxn id="21" idx="1"/>
            <a:endCxn id="22" idx="3"/>
          </p:cNvCxnSpPr>
          <p:nvPr/>
        </p:nvCxnSpPr>
        <p:spPr>
          <a:xfrm rot="10800000">
            <a:off x="8307001" y="1497099"/>
            <a:ext cx="758066" cy="13374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AC9739C6-A969-CDCE-9B82-996D8736FCC2}"/>
              </a:ext>
            </a:extLst>
          </p:cNvPr>
          <p:cNvCxnSpPr>
            <a:cxnSpLocks/>
            <a:stCxn id="23" idx="1"/>
            <a:endCxn id="20" idx="3"/>
          </p:cNvCxnSpPr>
          <p:nvPr/>
        </p:nvCxnSpPr>
        <p:spPr>
          <a:xfrm rot="10800000">
            <a:off x="7027815" y="2023073"/>
            <a:ext cx="670865" cy="1851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9C763D26-3358-16C5-76DD-C0B95D752497}"/>
              </a:ext>
            </a:extLst>
          </p:cNvPr>
          <p:cNvCxnSpPr>
            <a:cxnSpLocks/>
            <a:stCxn id="16" idx="1"/>
            <a:endCxn id="14" idx="3"/>
          </p:cNvCxnSpPr>
          <p:nvPr/>
        </p:nvCxnSpPr>
        <p:spPr>
          <a:xfrm rot="10800000">
            <a:off x="7668793" y="2645808"/>
            <a:ext cx="556183" cy="8380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146FCD44-731F-26EB-2E3A-672A03B3AF7B}"/>
              </a:ext>
            </a:extLst>
          </p:cNvPr>
          <p:cNvCxnSpPr>
            <a:cxnSpLocks/>
            <a:stCxn id="17" idx="1"/>
            <a:endCxn id="16" idx="3"/>
          </p:cNvCxnSpPr>
          <p:nvPr/>
        </p:nvCxnSpPr>
        <p:spPr>
          <a:xfrm rot="10800000" flipV="1">
            <a:off x="9651108" y="2724944"/>
            <a:ext cx="1275595" cy="466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318C8B80-9EC1-846B-050D-3548AFE7B14C}"/>
              </a:ext>
            </a:extLst>
          </p:cNvPr>
          <p:cNvCxnSpPr>
            <a:cxnSpLocks/>
            <a:stCxn id="18" idx="1"/>
            <a:endCxn id="15" idx="3"/>
          </p:cNvCxnSpPr>
          <p:nvPr/>
        </p:nvCxnSpPr>
        <p:spPr>
          <a:xfrm rot="10800000">
            <a:off x="7723232" y="3324424"/>
            <a:ext cx="778846" cy="27765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Rectangle: Rounded Corners 53">
            <a:extLst>
              <a:ext uri="{FF2B5EF4-FFF2-40B4-BE49-F238E27FC236}">
                <a16:creationId xmlns:a16="http://schemas.microsoft.com/office/drawing/2014/main" id="{81B7B5A7-BC04-860F-BFC3-03F11097F300}"/>
              </a:ext>
            </a:extLst>
          </p:cNvPr>
          <p:cNvSpPr/>
          <p:nvPr/>
        </p:nvSpPr>
        <p:spPr>
          <a:xfrm>
            <a:off x="2457147" y="5024106"/>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Brand appeal decreased</a:t>
            </a:r>
            <a:endParaRPr lang="zh-HK" altLang="en-US" sz="800" dirty="0"/>
          </a:p>
        </p:txBody>
      </p:sp>
      <p:sp>
        <p:nvSpPr>
          <p:cNvPr id="55" name="Rectangle: Rounded Corners 54">
            <a:extLst>
              <a:ext uri="{FF2B5EF4-FFF2-40B4-BE49-F238E27FC236}">
                <a16:creationId xmlns:a16="http://schemas.microsoft.com/office/drawing/2014/main" id="{BD65FA66-B619-48C0-D225-B73AF2F0137D}"/>
              </a:ext>
            </a:extLst>
          </p:cNvPr>
          <p:cNvSpPr/>
          <p:nvPr/>
        </p:nvSpPr>
        <p:spPr>
          <a:xfrm>
            <a:off x="3794359" y="4034798"/>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Brand diluted</a:t>
            </a:r>
            <a:endParaRPr lang="zh-HK" altLang="en-US" sz="800" dirty="0"/>
          </a:p>
        </p:txBody>
      </p:sp>
      <p:sp>
        <p:nvSpPr>
          <p:cNvPr id="56" name="Rectangle: Rounded Corners 55">
            <a:extLst>
              <a:ext uri="{FF2B5EF4-FFF2-40B4-BE49-F238E27FC236}">
                <a16:creationId xmlns:a16="http://schemas.microsoft.com/office/drawing/2014/main" id="{D3B7A4AD-4656-7E91-874A-0DD12AA495D8}"/>
              </a:ext>
            </a:extLst>
          </p:cNvPr>
          <p:cNvSpPr/>
          <p:nvPr/>
        </p:nvSpPr>
        <p:spPr>
          <a:xfrm>
            <a:off x="3759202" y="5475801"/>
            <a:ext cx="758371"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 loyalty decreased</a:t>
            </a:r>
            <a:endParaRPr lang="zh-HK" altLang="en-US" sz="800" dirty="0"/>
          </a:p>
        </p:txBody>
      </p:sp>
      <p:sp>
        <p:nvSpPr>
          <p:cNvPr id="57" name="Rectangle: Rounded Corners 56">
            <a:extLst>
              <a:ext uri="{FF2B5EF4-FFF2-40B4-BE49-F238E27FC236}">
                <a16:creationId xmlns:a16="http://schemas.microsoft.com/office/drawing/2014/main" id="{221F7AC2-4AE4-852A-A3D1-75A91E048726}"/>
              </a:ext>
            </a:extLst>
          </p:cNvPr>
          <p:cNvSpPr/>
          <p:nvPr/>
        </p:nvSpPr>
        <p:spPr>
          <a:xfrm>
            <a:off x="3759203" y="6105683"/>
            <a:ext cx="758371" cy="57342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Brand did not meet customer expectation</a:t>
            </a:r>
            <a:endParaRPr lang="zh-HK" altLang="en-US" sz="800" dirty="0"/>
          </a:p>
        </p:txBody>
      </p:sp>
      <p:sp>
        <p:nvSpPr>
          <p:cNvPr id="58" name="Rectangle: Rounded Corners 57">
            <a:extLst>
              <a:ext uri="{FF2B5EF4-FFF2-40B4-BE49-F238E27FC236}">
                <a16:creationId xmlns:a16="http://schemas.microsoft.com/office/drawing/2014/main" id="{4CA15E2F-E446-3D8F-B57A-AC8415A04553}"/>
              </a:ext>
            </a:extLst>
          </p:cNvPr>
          <p:cNvSpPr/>
          <p:nvPr/>
        </p:nvSpPr>
        <p:spPr>
          <a:xfrm>
            <a:off x="5078184" y="6345182"/>
            <a:ext cx="1525515" cy="4499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 increasingly expected corporate responsibilities</a:t>
            </a:r>
            <a:endParaRPr lang="zh-HK" altLang="en-US" sz="800" dirty="0"/>
          </a:p>
        </p:txBody>
      </p:sp>
      <p:sp>
        <p:nvSpPr>
          <p:cNvPr id="59" name="Rectangle: Rounded Corners 58">
            <a:extLst>
              <a:ext uri="{FF2B5EF4-FFF2-40B4-BE49-F238E27FC236}">
                <a16:creationId xmlns:a16="http://schemas.microsoft.com/office/drawing/2014/main" id="{8BC162E6-C5F1-4AB0-A0A4-476092DDF8EF}"/>
              </a:ext>
            </a:extLst>
          </p:cNvPr>
          <p:cNvSpPr/>
          <p:nvPr/>
        </p:nvSpPr>
        <p:spPr>
          <a:xfrm>
            <a:off x="7548630" y="5585112"/>
            <a:ext cx="1323828" cy="34259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No feedback channels</a:t>
            </a:r>
            <a:endParaRPr lang="zh-HK" altLang="en-US" sz="800" dirty="0"/>
          </a:p>
        </p:txBody>
      </p:sp>
      <p:sp>
        <p:nvSpPr>
          <p:cNvPr id="60" name="Rectangle: Rounded Corners 59">
            <a:extLst>
              <a:ext uri="{FF2B5EF4-FFF2-40B4-BE49-F238E27FC236}">
                <a16:creationId xmlns:a16="http://schemas.microsoft.com/office/drawing/2014/main" id="{2F44287F-8577-C2B9-DA9E-38F718DD3E63}"/>
              </a:ext>
            </a:extLst>
          </p:cNvPr>
          <p:cNvSpPr/>
          <p:nvPr/>
        </p:nvSpPr>
        <p:spPr>
          <a:xfrm>
            <a:off x="7548630" y="6345182"/>
            <a:ext cx="1256686" cy="3128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No loyalty programs</a:t>
            </a:r>
            <a:endParaRPr lang="zh-HK" altLang="en-US" sz="800" dirty="0"/>
          </a:p>
        </p:txBody>
      </p:sp>
      <p:sp>
        <p:nvSpPr>
          <p:cNvPr id="61" name="Rectangle: Rounded Corners 60">
            <a:extLst>
              <a:ext uri="{FF2B5EF4-FFF2-40B4-BE49-F238E27FC236}">
                <a16:creationId xmlns:a16="http://schemas.microsoft.com/office/drawing/2014/main" id="{B0FA8F56-72F6-575D-78B3-86087EE47AA9}"/>
              </a:ext>
            </a:extLst>
          </p:cNvPr>
          <p:cNvSpPr/>
          <p:nvPr/>
        </p:nvSpPr>
        <p:spPr>
          <a:xfrm>
            <a:off x="5029769" y="5566500"/>
            <a:ext cx="1323828" cy="2945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Customers were not engaged by Starbucks</a:t>
            </a:r>
            <a:endParaRPr lang="zh-HK" altLang="en-US" sz="800" dirty="0"/>
          </a:p>
        </p:txBody>
      </p:sp>
      <p:sp>
        <p:nvSpPr>
          <p:cNvPr id="62" name="Rectangle: Rounded Corners 61">
            <a:extLst>
              <a:ext uri="{FF2B5EF4-FFF2-40B4-BE49-F238E27FC236}">
                <a16:creationId xmlns:a16="http://schemas.microsoft.com/office/drawing/2014/main" id="{D22494E4-7145-79D2-7E84-0DBBC6879142}"/>
              </a:ext>
            </a:extLst>
          </p:cNvPr>
          <p:cNvSpPr/>
          <p:nvPr/>
        </p:nvSpPr>
        <p:spPr>
          <a:xfrm>
            <a:off x="9566756" y="5601649"/>
            <a:ext cx="1772560" cy="3095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Lack of communication channels with customers</a:t>
            </a:r>
            <a:endParaRPr lang="zh-HK" altLang="en-US" sz="800" dirty="0"/>
          </a:p>
        </p:txBody>
      </p:sp>
      <p:sp>
        <p:nvSpPr>
          <p:cNvPr id="63" name="Rectangle: Rounded Corners 62">
            <a:extLst>
              <a:ext uri="{FF2B5EF4-FFF2-40B4-BE49-F238E27FC236}">
                <a16:creationId xmlns:a16="http://schemas.microsoft.com/office/drawing/2014/main" id="{556A6BFD-A0C3-E312-6770-B2BE27C38F33}"/>
              </a:ext>
            </a:extLst>
          </p:cNvPr>
          <p:cNvSpPr/>
          <p:nvPr/>
        </p:nvSpPr>
        <p:spPr>
          <a:xfrm>
            <a:off x="5418809" y="3999098"/>
            <a:ext cx="2062717" cy="28448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Starbucks brand emphasized exclusivity</a:t>
            </a:r>
            <a:endParaRPr lang="zh-HK" altLang="en-US" sz="800" dirty="0"/>
          </a:p>
        </p:txBody>
      </p:sp>
      <p:sp>
        <p:nvSpPr>
          <p:cNvPr id="64" name="Rectangle: Rounded Corners 63">
            <a:extLst>
              <a:ext uri="{FF2B5EF4-FFF2-40B4-BE49-F238E27FC236}">
                <a16:creationId xmlns:a16="http://schemas.microsoft.com/office/drawing/2014/main" id="{D9F2C887-8890-6B56-B9CC-1EC7D6ED0F7A}"/>
              </a:ext>
            </a:extLst>
          </p:cNvPr>
          <p:cNvSpPr/>
          <p:nvPr/>
        </p:nvSpPr>
        <p:spPr>
          <a:xfrm>
            <a:off x="5413051" y="4954389"/>
            <a:ext cx="1179293" cy="28047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Loss of exclusivity</a:t>
            </a:r>
            <a:endParaRPr lang="zh-HK" altLang="en-US" sz="800" dirty="0"/>
          </a:p>
        </p:txBody>
      </p:sp>
      <p:sp>
        <p:nvSpPr>
          <p:cNvPr id="65" name="Rectangle: Rounded Corners 64">
            <a:extLst>
              <a:ext uri="{FF2B5EF4-FFF2-40B4-BE49-F238E27FC236}">
                <a16:creationId xmlns:a16="http://schemas.microsoft.com/office/drawing/2014/main" id="{2DDF73D3-E18D-A840-D38D-F2A4254A1F63}"/>
              </a:ext>
            </a:extLst>
          </p:cNvPr>
          <p:cNvSpPr/>
          <p:nvPr/>
        </p:nvSpPr>
        <p:spPr>
          <a:xfrm>
            <a:off x="7194688" y="4985728"/>
            <a:ext cx="1579038" cy="2407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Rapid increase in stores</a:t>
            </a:r>
            <a:endParaRPr lang="zh-HK" altLang="en-US" sz="800" dirty="0"/>
          </a:p>
        </p:txBody>
      </p:sp>
      <p:sp>
        <p:nvSpPr>
          <p:cNvPr id="66" name="Rectangle: Rounded Corners 65">
            <a:extLst>
              <a:ext uri="{FF2B5EF4-FFF2-40B4-BE49-F238E27FC236}">
                <a16:creationId xmlns:a16="http://schemas.microsoft.com/office/drawing/2014/main" id="{DA7B0D21-CF1C-D051-0CB2-C48680482E77}"/>
              </a:ext>
            </a:extLst>
          </p:cNvPr>
          <p:cNvSpPr/>
          <p:nvPr/>
        </p:nvSpPr>
        <p:spPr>
          <a:xfrm>
            <a:off x="10032999" y="4969596"/>
            <a:ext cx="1229484" cy="2493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grow customer base</a:t>
            </a:r>
            <a:endParaRPr lang="zh-HK" altLang="en-US" sz="800" dirty="0"/>
          </a:p>
        </p:txBody>
      </p:sp>
      <p:cxnSp>
        <p:nvCxnSpPr>
          <p:cNvPr id="68" name="Connector: Elbow 67">
            <a:extLst>
              <a:ext uri="{FF2B5EF4-FFF2-40B4-BE49-F238E27FC236}">
                <a16:creationId xmlns:a16="http://schemas.microsoft.com/office/drawing/2014/main" id="{3C0A877C-B887-2836-2AE9-6569C486C250}"/>
              </a:ext>
            </a:extLst>
          </p:cNvPr>
          <p:cNvCxnSpPr>
            <a:stCxn id="54" idx="1"/>
            <a:endCxn id="9" idx="3"/>
          </p:cNvCxnSpPr>
          <p:nvPr/>
        </p:nvCxnSpPr>
        <p:spPr>
          <a:xfrm rot="10800000">
            <a:off x="2250319" y="3766459"/>
            <a:ext cx="206828" cy="148261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nector: Elbow 69">
            <a:extLst>
              <a:ext uri="{FF2B5EF4-FFF2-40B4-BE49-F238E27FC236}">
                <a16:creationId xmlns:a16="http://schemas.microsoft.com/office/drawing/2014/main" id="{EF58C4EB-2633-7637-B737-024C93567C5E}"/>
              </a:ext>
            </a:extLst>
          </p:cNvPr>
          <p:cNvCxnSpPr>
            <a:stCxn id="55" idx="1"/>
            <a:endCxn id="54" idx="3"/>
          </p:cNvCxnSpPr>
          <p:nvPr/>
        </p:nvCxnSpPr>
        <p:spPr>
          <a:xfrm rot="10800000" flipV="1">
            <a:off x="3215519" y="4259769"/>
            <a:ext cx="578841" cy="98930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208E1603-ABC6-E95C-900C-5F4919DB9213}"/>
              </a:ext>
            </a:extLst>
          </p:cNvPr>
          <p:cNvCxnSpPr>
            <a:stCxn id="56" idx="1"/>
            <a:endCxn id="54" idx="3"/>
          </p:cNvCxnSpPr>
          <p:nvPr/>
        </p:nvCxnSpPr>
        <p:spPr>
          <a:xfrm rot="10800000">
            <a:off x="3215518" y="5249078"/>
            <a:ext cx="543684" cy="45169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07F5808A-C70E-7739-A342-3D05309C6BA3}"/>
              </a:ext>
            </a:extLst>
          </p:cNvPr>
          <p:cNvCxnSpPr>
            <a:cxnSpLocks/>
            <a:stCxn id="57" idx="1"/>
            <a:endCxn id="54" idx="3"/>
          </p:cNvCxnSpPr>
          <p:nvPr/>
        </p:nvCxnSpPr>
        <p:spPr>
          <a:xfrm rot="10800000">
            <a:off x="3215519" y="5249077"/>
            <a:ext cx="543685" cy="11433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2F76911F-CF6F-1CB7-3585-71028052EBF2}"/>
              </a:ext>
            </a:extLst>
          </p:cNvPr>
          <p:cNvCxnSpPr>
            <a:cxnSpLocks/>
            <a:stCxn id="63" idx="1"/>
            <a:endCxn id="55" idx="3"/>
          </p:cNvCxnSpPr>
          <p:nvPr/>
        </p:nvCxnSpPr>
        <p:spPr>
          <a:xfrm rot="10800000" flipV="1">
            <a:off x="4552731" y="4141339"/>
            <a:ext cx="866079" cy="11843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Connector: Elbow 77">
            <a:extLst>
              <a:ext uri="{FF2B5EF4-FFF2-40B4-BE49-F238E27FC236}">
                <a16:creationId xmlns:a16="http://schemas.microsoft.com/office/drawing/2014/main" id="{2DA9F300-E393-D3F3-1D78-9E30E074AE65}"/>
              </a:ext>
            </a:extLst>
          </p:cNvPr>
          <p:cNvCxnSpPr>
            <a:cxnSpLocks/>
            <a:stCxn id="64" idx="1"/>
            <a:endCxn id="55" idx="3"/>
          </p:cNvCxnSpPr>
          <p:nvPr/>
        </p:nvCxnSpPr>
        <p:spPr>
          <a:xfrm rot="10800000">
            <a:off x="4552731" y="4259769"/>
            <a:ext cx="860321" cy="83485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6C29B07A-7353-FB6D-4045-69ED5C6207B7}"/>
              </a:ext>
            </a:extLst>
          </p:cNvPr>
          <p:cNvCxnSpPr>
            <a:cxnSpLocks/>
            <a:stCxn id="61" idx="1"/>
            <a:endCxn id="56" idx="3"/>
          </p:cNvCxnSpPr>
          <p:nvPr/>
        </p:nvCxnSpPr>
        <p:spPr>
          <a:xfrm rot="10800000">
            <a:off x="4517573" y="5700773"/>
            <a:ext cx="512196" cy="1299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6128DE75-ED4B-11D2-D913-5112D3ACAD72}"/>
              </a:ext>
            </a:extLst>
          </p:cNvPr>
          <p:cNvCxnSpPr>
            <a:cxnSpLocks/>
            <a:stCxn id="58" idx="1"/>
            <a:endCxn id="57" idx="3"/>
          </p:cNvCxnSpPr>
          <p:nvPr/>
        </p:nvCxnSpPr>
        <p:spPr>
          <a:xfrm rot="10800000">
            <a:off x="4517574" y="6392397"/>
            <a:ext cx="560610" cy="1777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Connector: Elbow 83">
            <a:extLst>
              <a:ext uri="{FF2B5EF4-FFF2-40B4-BE49-F238E27FC236}">
                <a16:creationId xmlns:a16="http://schemas.microsoft.com/office/drawing/2014/main" id="{DA6A4FFA-8317-89BB-BF0A-2176EAB02DCE}"/>
              </a:ext>
            </a:extLst>
          </p:cNvPr>
          <p:cNvCxnSpPr>
            <a:cxnSpLocks/>
            <a:stCxn id="65" idx="1"/>
            <a:endCxn id="64" idx="3"/>
          </p:cNvCxnSpPr>
          <p:nvPr/>
        </p:nvCxnSpPr>
        <p:spPr>
          <a:xfrm rot="10800000">
            <a:off x="6592344" y="5094627"/>
            <a:ext cx="602344" cy="1149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Connector: Elbow 85">
            <a:extLst>
              <a:ext uri="{FF2B5EF4-FFF2-40B4-BE49-F238E27FC236}">
                <a16:creationId xmlns:a16="http://schemas.microsoft.com/office/drawing/2014/main" id="{C1D5A95E-1357-7629-D4E9-8FC8817F21A9}"/>
              </a:ext>
            </a:extLst>
          </p:cNvPr>
          <p:cNvCxnSpPr>
            <a:cxnSpLocks/>
            <a:stCxn id="66" idx="1"/>
            <a:endCxn id="65" idx="3"/>
          </p:cNvCxnSpPr>
          <p:nvPr/>
        </p:nvCxnSpPr>
        <p:spPr>
          <a:xfrm rot="10800000" flipV="1">
            <a:off x="8773727" y="5094289"/>
            <a:ext cx="1259273" cy="1182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or: Elbow 87">
            <a:extLst>
              <a:ext uri="{FF2B5EF4-FFF2-40B4-BE49-F238E27FC236}">
                <a16:creationId xmlns:a16="http://schemas.microsoft.com/office/drawing/2014/main" id="{7D51B684-1BE2-90F0-C26D-7A1D47C0A3D1}"/>
              </a:ext>
            </a:extLst>
          </p:cNvPr>
          <p:cNvCxnSpPr>
            <a:cxnSpLocks/>
            <a:stCxn id="59" idx="1"/>
            <a:endCxn id="61" idx="3"/>
          </p:cNvCxnSpPr>
          <p:nvPr/>
        </p:nvCxnSpPr>
        <p:spPr>
          <a:xfrm rot="10800000">
            <a:off x="6353598" y="5713771"/>
            <a:ext cx="1195033" cy="426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B94EEF67-7ED2-4D13-CF22-D765C2DEBBA1}"/>
              </a:ext>
            </a:extLst>
          </p:cNvPr>
          <p:cNvCxnSpPr>
            <a:cxnSpLocks/>
            <a:stCxn id="60" idx="1"/>
            <a:endCxn id="61" idx="3"/>
          </p:cNvCxnSpPr>
          <p:nvPr/>
        </p:nvCxnSpPr>
        <p:spPr>
          <a:xfrm rot="10800000">
            <a:off x="6353598" y="5713771"/>
            <a:ext cx="1195033" cy="78782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B5A687A0-9134-E136-505E-4508E7DBD626}"/>
              </a:ext>
            </a:extLst>
          </p:cNvPr>
          <p:cNvCxnSpPr>
            <a:cxnSpLocks/>
            <a:stCxn id="62" idx="1"/>
            <a:endCxn id="59" idx="3"/>
          </p:cNvCxnSpPr>
          <p:nvPr/>
        </p:nvCxnSpPr>
        <p:spPr>
          <a:xfrm rot="10800000">
            <a:off x="8872458" y="5756411"/>
            <a:ext cx="69429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28" name="TextBox 227">
            <a:extLst>
              <a:ext uri="{FF2B5EF4-FFF2-40B4-BE49-F238E27FC236}">
                <a16:creationId xmlns:a16="http://schemas.microsoft.com/office/drawing/2014/main" id="{AC30B8B4-19F1-AB60-EE83-06FBC100C017}"/>
              </a:ext>
            </a:extLst>
          </p:cNvPr>
          <p:cNvSpPr txBox="1"/>
          <p:nvPr/>
        </p:nvSpPr>
        <p:spPr>
          <a:xfrm>
            <a:off x="2357876" y="3646247"/>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229" name="TextBox 228">
            <a:extLst>
              <a:ext uri="{FF2B5EF4-FFF2-40B4-BE49-F238E27FC236}">
                <a16:creationId xmlns:a16="http://schemas.microsoft.com/office/drawing/2014/main" id="{01B5B997-F6B4-1083-B7EA-0F4E09AD6C12}"/>
              </a:ext>
            </a:extLst>
          </p:cNvPr>
          <p:cNvSpPr txBox="1"/>
          <p:nvPr/>
        </p:nvSpPr>
        <p:spPr>
          <a:xfrm>
            <a:off x="5554047" y="1607667"/>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230" name="TextBox 229">
            <a:extLst>
              <a:ext uri="{FF2B5EF4-FFF2-40B4-BE49-F238E27FC236}">
                <a16:creationId xmlns:a16="http://schemas.microsoft.com/office/drawing/2014/main" id="{CE220F46-314D-32AA-2E4A-4E49A61CDEC9}"/>
              </a:ext>
            </a:extLst>
          </p:cNvPr>
          <p:cNvSpPr txBox="1"/>
          <p:nvPr/>
        </p:nvSpPr>
        <p:spPr>
          <a:xfrm>
            <a:off x="4923495" y="4178724"/>
            <a:ext cx="498193" cy="276999"/>
          </a:xfrm>
          <a:prstGeom prst="rect">
            <a:avLst/>
          </a:prstGeom>
          <a:noFill/>
        </p:spPr>
        <p:txBody>
          <a:bodyPr wrap="square" rtlCol="0">
            <a:spAutoFit/>
          </a:bodyPr>
          <a:lstStyle/>
          <a:p>
            <a:r>
              <a:rPr lang="en-US" altLang="zh-HK" sz="1200" dirty="0"/>
              <a:t>AND</a:t>
            </a:r>
            <a:endParaRPr lang="zh-HK" altLang="en-US" sz="1200" dirty="0"/>
          </a:p>
        </p:txBody>
      </p:sp>
      <p:sp>
        <p:nvSpPr>
          <p:cNvPr id="231" name="TextBox 230">
            <a:extLst>
              <a:ext uri="{FF2B5EF4-FFF2-40B4-BE49-F238E27FC236}">
                <a16:creationId xmlns:a16="http://schemas.microsoft.com/office/drawing/2014/main" id="{26FC1C51-9CD8-8C8E-A540-416D13D356B1}"/>
              </a:ext>
            </a:extLst>
          </p:cNvPr>
          <p:cNvSpPr txBox="1"/>
          <p:nvPr/>
        </p:nvSpPr>
        <p:spPr>
          <a:xfrm>
            <a:off x="3465435" y="2353660"/>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232" name="TextBox 231">
            <a:extLst>
              <a:ext uri="{FF2B5EF4-FFF2-40B4-BE49-F238E27FC236}">
                <a16:creationId xmlns:a16="http://schemas.microsoft.com/office/drawing/2014/main" id="{4E300405-4013-341C-2B23-D8580E43D1AA}"/>
              </a:ext>
            </a:extLst>
          </p:cNvPr>
          <p:cNvSpPr txBox="1"/>
          <p:nvPr/>
        </p:nvSpPr>
        <p:spPr>
          <a:xfrm>
            <a:off x="3484793" y="4993946"/>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243" name="TextBox 242">
            <a:extLst>
              <a:ext uri="{FF2B5EF4-FFF2-40B4-BE49-F238E27FC236}">
                <a16:creationId xmlns:a16="http://schemas.microsoft.com/office/drawing/2014/main" id="{949F8C69-175B-0E85-482F-89D674E71EEA}"/>
              </a:ext>
            </a:extLst>
          </p:cNvPr>
          <p:cNvSpPr txBox="1"/>
          <p:nvPr/>
        </p:nvSpPr>
        <p:spPr>
          <a:xfrm>
            <a:off x="6861624" y="5787243"/>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246" name="TextBox 245">
            <a:extLst>
              <a:ext uri="{FF2B5EF4-FFF2-40B4-BE49-F238E27FC236}">
                <a16:creationId xmlns:a16="http://schemas.microsoft.com/office/drawing/2014/main" id="{7EF99C28-F336-878C-F4BB-61A7A5C1D8D2}"/>
              </a:ext>
            </a:extLst>
          </p:cNvPr>
          <p:cNvSpPr txBox="1"/>
          <p:nvPr/>
        </p:nvSpPr>
        <p:spPr>
          <a:xfrm>
            <a:off x="5468313" y="2774046"/>
            <a:ext cx="387047" cy="276999"/>
          </a:xfrm>
          <a:prstGeom prst="rect">
            <a:avLst/>
          </a:prstGeom>
          <a:noFill/>
        </p:spPr>
        <p:txBody>
          <a:bodyPr wrap="square" rtlCol="0">
            <a:spAutoFit/>
          </a:bodyPr>
          <a:lstStyle/>
          <a:p>
            <a:r>
              <a:rPr lang="en-US" altLang="zh-HK" sz="1200" dirty="0"/>
              <a:t>OR</a:t>
            </a:r>
            <a:endParaRPr lang="zh-HK" altLang="en-US" sz="1200" dirty="0"/>
          </a:p>
        </p:txBody>
      </p:sp>
      <p:sp>
        <p:nvSpPr>
          <p:cNvPr id="247" name="TextBox 246">
            <a:extLst>
              <a:ext uri="{FF2B5EF4-FFF2-40B4-BE49-F238E27FC236}">
                <a16:creationId xmlns:a16="http://schemas.microsoft.com/office/drawing/2014/main" id="{0B4925B4-C97B-7F3D-0948-745C0F724F1B}"/>
              </a:ext>
            </a:extLst>
          </p:cNvPr>
          <p:cNvSpPr txBox="1"/>
          <p:nvPr/>
        </p:nvSpPr>
        <p:spPr>
          <a:xfrm>
            <a:off x="1383769" y="2582673"/>
            <a:ext cx="912083" cy="276999"/>
          </a:xfrm>
          <a:prstGeom prst="rect">
            <a:avLst/>
          </a:prstGeom>
          <a:noFill/>
        </p:spPr>
        <p:txBody>
          <a:bodyPr wrap="square" rtlCol="0">
            <a:spAutoFit/>
          </a:bodyPr>
          <a:lstStyle/>
          <a:p>
            <a:r>
              <a:rPr lang="en-US" altLang="zh-HK" sz="1200" dirty="0"/>
              <a:t>4P: Place</a:t>
            </a:r>
            <a:endParaRPr lang="zh-HK" altLang="en-US" sz="1200" dirty="0"/>
          </a:p>
        </p:txBody>
      </p:sp>
      <p:sp>
        <p:nvSpPr>
          <p:cNvPr id="248" name="TextBox 247">
            <a:extLst>
              <a:ext uri="{FF2B5EF4-FFF2-40B4-BE49-F238E27FC236}">
                <a16:creationId xmlns:a16="http://schemas.microsoft.com/office/drawing/2014/main" id="{1CE4FCF7-25B1-AA6D-C9C1-90B92D460AB5}"/>
              </a:ext>
            </a:extLst>
          </p:cNvPr>
          <p:cNvSpPr txBox="1"/>
          <p:nvPr/>
        </p:nvSpPr>
        <p:spPr>
          <a:xfrm>
            <a:off x="1139596" y="5132446"/>
            <a:ext cx="1118360" cy="276999"/>
          </a:xfrm>
          <a:prstGeom prst="rect">
            <a:avLst/>
          </a:prstGeom>
          <a:noFill/>
        </p:spPr>
        <p:txBody>
          <a:bodyPr wrap="square" rtlCol="0">
            <a:spAutoFit/>
          </a:bodyPr>
          <a:lstStyle/>
          <a:p>
            <a:r>
              <a:rPr lang="en-US" altLang="zh-HK" sz="1200" dirty="0"/>
              <a:t>4P: Promotion</a:t>
            </a:r>
            <a:endParaRPr lang="zh-HK" altLang="en-US" sz="1200" dirty="0"/>
          </a:p>
        </p:txBody>
      </p:sp>
      <p:sp>
        <p:nvSpPr>
          <p:cNvPr id="249" name="Rectangle: Rounded Corners 248">
            <a:extLst>
              <a:ext uri="{FF2B5EF4-FFF2-40B4-BE49-F238E27FC236}">
                <a16:creationId xmlns:a16="http://schemas.microsoft.com/office/drawing/2014/main" id="{A58A9DAC-A213-F655-7D09-B4A0E882ED6F}"/>
              </a:ext>
            </a:extLst>
          </p:cNvPr>
          <p:cNvSpPr/>
          <p:nvPr/>
        </p:nvSpPr>
        <p:spPr>
          <a:xfrm>
            <a:off x="3662477" y="1889882"/>
            <a:ext cx="1710195" cy="400143"/>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Revenues did not increase with number of stores</a:t>
            </a:r>
            <a:endParaRPr lang="zh-HK" altLang="en-US" sz="800" dirty="0"/>
          </a:p>
        </p:txBody>
      </p:sp>
      <p:sp>
        <p:nvSpPr>
          <p:cNvPr id="271" name="Rectangle: Rounded Corners 270">
            <a:extLst>
              <a:ext uri="{FF2B5EF4-FFF2-40B4-BE49-F238E27FC236}">
                <a16:creationId xmlns:a16="http://schemas.microsoft.com/office/drawing/2014/main" id="{6409A781-B355-AFD4-0C28-6EA88F29DD88}"/>
              </a:ext>
            </a:extLst>
          </p:cNvPr>
          <p:cNvSpPr/>
          <p:nvPr/>
        </p:nvSpPr>
        <p:spPr>
          <a:xfrm>
            <a:off x="9108350" y="1851364"/>
            <a:ext cx="1699641" cy="66286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Starbucks was based on espresso coffee bars in Milan, where people met and spent time in addition to consuming coffee</a:t>
            </a:r>
            <a:endParaRPr lang="zh-HK" altLang="en-US" sz="800" dirty="0"/>
          </a:p>
        </p:txBody>
      </p:sp>
      <p:sp>
        <p:nvSpPr>
          <p:cNvPr id="272" name="Rectangle: Rounded Corners 271">
            <a:extLst>
              <a:ext uri="{FF2B5EF4-FFF2-40B4-BE49-F238E27FC236}">
                <a16:creationId xmlns:a16="http://schemas.microsoft.com/office/drawing/2014/main" id="{C795509E-CAFA-F710-89DB-95BD4522E09A}"/>
              </a:ext>
            </a:extLst>
          </p:cNvPr>
          <p:cNvSpPr/>
          <p:nvPr/>
        </p:nvSpPr>
        <p:spPr>
          <a:xfrm>
            <a:off x="8197004" y="2812074"/>
            <a:ext cx="1728378" cy="28149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7000 stores in 2013 to 15000 stores in 2008</a:t>
            </a:r>
            <a:endParaRPr lang="zh-HK" altLang="en-US" sz="800" dirty="0"/>
          </a:p>
        </p:txBody>
      </p:sp>
      <p:sp>
        <p:nvSpPr>
          <p:cNvPr id="273" name="Rectangle: Rounded Corners 272">
            <a:extLst>
              <a:ext uri="{FF2B5EF4-FFF2-40B4-BE49-F238E27FC236}">
                <a16:creationId xmlns:a16="http://schemas.microsoft.com/office/drawing/2014/main" id="{79A6ED81-EF9C-A48C-B447-EAF8229BB6EA}"/>
              </a:ext>
            </a:extLst>
          </p:cNvPr>
          <p:cNvSpPr/>
          <p:nvPr/>
        </p:nvSpPr>
        <p:spPr>
          <a:xfrm>
            <a:off x="7148110" y="5186067"/>
            <a:ext cx="1728378" cy="28149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7000 stores in 2013 to 15000 stores in 2008</a:t>
            </a:r>
            <a:endParaRPr lang="zh-HK" altLang="en-US" sz="800" dirty="0"/>
          </a:p>
        </p:txBody>
      </p:sp>
      <p:sp>
        <p:nvSpPr>
          <p:cNvPr id="279" name="Rectangle: Rounded Corners 278">
            <a:extLst>
              <a:ext uri="{FF2B5EF4-FFF2-40B4-BE49-F238E27FC236}">
                <a16:creationId xmlns:a16="http://schemas.microsoft.com/office/drawing/2014/main" id="{DD99452A-7887-F615-AD2C-365366585951}"/>
              </a:ext>
            </a:extLst>
          </p:cNvPr>
          <p:cNvSpPr/>
          <p:nvPr/>
        </p:nvSpPr>
        <p:spPr>
          <a:xfrm>
            <a:off x="5889941" y="3450341"/>
            <a:ext cx="2019309" cy="37027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Starbucks had no email communications and their point-of-sale systems were outdated</a:t>
            </a:r>
            <a:endParaRPr lang="zh-HK" altLang="en-US" sz="800" dirty="0"/>
          </a:p>
        </p:txBody>
      </p:sp>
      <p:sp>
        <p:nvSpPr>
          <p:cNvPr id="286" name="Rectangle: Rounded Corners 285">
            <a:extLst>
              <a:ext uri="{FF2B5EF4-FFF2-40B4-BE49-F238E27FC236}">
                <a16:creationId xmlns:a16="http://schemas.microsoft.com/office/drawing/2014/main" id="{6EFACCAB-DE36-FC39-6B95-0D14B7121BA5}"/>
              </a:ext>
            </a:extLst>
          </p:cNvPr>
          <p:cNvSpPr/>
          <p:nvPr/>
        </p:nvSpPr>
        <p:spPr>
          <a:xfrm>
            <a:off x="7481526" y="5900785"/>
            <a:ext cx="1425394" cy="245039"/>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Starbucks had no email communications</a:t>
            </a:r>
            <a:endParaRPr lang="zh-HK" altLang="en-US" sz="800" dirty="0"/>
          </a:p>
        </p:txBody>
      </p:sp>
      <p:sp>
        <p:nvSpPr>
          <p:cNvPr id="309" name="Rectangle: Rounded Corners 308">
            <a:extLst>
              <a:ext uri="{FF2B5EF4-FFF2-40B4-BE49-F238E27FC236}">
                <a16:creationId xmlns:a16="http://schemas.microsoft.com/office/drawing/2014/main" id="{81820A96-054B-D7E2-841A-CFD5B5112196}"/>
              </a:ext>
            </a:extLst>
          </p:cNvPr>
          <p:cNvSpPr/>
          <p:nvPr/>
        </p:nvSpPr>
        <p:spPr>
          <a:xfrm>
            <a:off x="5558007" y="4237678"/>
            <a:ext cx="1842419" cy="59435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Starbucks was based on espresso coffee bars in Milan, where people met and spent time in addition to consuming coffee</a:t>
            </a:r>
            <a:endParaRPr lang="zh-HK" altLang="en-US" sz="800" dirty="0"/>
          </a:p>
        </p:txBody>
      </p:sp>
      <p:sp>
        <p:nvSpPr>
          <p:cNvPr id="312" name="Rectangle: Rounded Corners 311">
            <a:extLst>
              <a:ext uri="{FF2B5EF4-FFF2-40B4-BE49-F238E27FC236}">
                <a16:creationId xmlns:a16="http://schemas.microsoft.com/office/drawing/2014/main" id="{197DFD4C-AF3F-54ED-5439-E682E140452B}"/>
              </a:ext>
            </a:extLst>
          </p:cNvPr>
          <p:cNvSpPr/>
          <p:nvPr/>
        </p:nvSpPr>
        <p:spPr>
          <a:xfrm>
            <a:off x="5985087" y="2846625"/>
            <a:ext cx="1816855" cy="340044"/>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Creative innovation growth platforms worthy of our coffee</a:t>
            </a:r>
            <a:endParaRPr lang="zh-HK" altLang="en-US" sz="800" dirty="0"/>
          </a:p>
        </p:txBody>
      </p:sp>
      <p:sp>
        <p:nvSpPr>
          <p:cNvPr id="335" name="Rectangle: Rounded Corners 334">
            <a:extLst>
              <a:ext uri="{FF2B5EF4-FFF2-40B4-BE49-F238E27FC236}">
                <a16:creationId xmlns:a16="http://schemas.microsoft.com/office/drawing/2014/main" id="{9D37F8D0-4A3C-2E3D-FF17-CD1B9CEE1691}"/>
              </a:ext>
            </a:extLst>
          </p:cNvPr>
          <p:cNvSpPr/>
          <p:nvPr/>
        </p:nvSpPr>
        <p:spPr>
          <a:xfrm>
            <a:off x="3456774" y="3786814"/>
            <a:ext cx="1433540" cy="295310"/>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Be the undisputed coffee authority</a:t>
            </a:r>
            <a:endParaRPr lang="zh-HK" altLang="en-US" sz="800" dirty="0"/>
          </a:p>
        </p:txBody>
      </p:sp>
      <p:sp>
        <p:nvSpPr>
          <p:cNvPr id="336" name="Rectangle: Rounded Corners 335">
            <a:extLst>
              <a:ext uri="{FF2B5EF4-FFF2-40B4-BE49-F238E27FC236}">
                <a16:creationId xmlns:a16="http://schemas.microsoft.com/office/drawing/2014/main" id="{374FF69D-AD2E-1CA8-CFD9-62F6D31779DA}"/>
              </a:ext>
            </a:extLst>
          </p:cNvPr>
          <p:cNvSpPr/>
          <p:nvPr/>
        </p:nvSpPr>
        <p:spPr>
          <a:xfrm>
            <a:off x="4936501" y="5300888"/>
            <a:ext cx="1753634" cy="294541"/>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Ignite the emotional attachment with our customers</a:t>
            </a:r>
            <a:endParaRPr lang="zh-HK" altLang="en-US" sz="800" dirty="0"/>
          </a:p>
        </p:txBody>
      </p:sp>
      <p:sp>
        <p:nvSpPr>
          <p:cNvPr id="339" name="Rectangle: Rounded Corners 338">
            <a:extLst>
              <a:ext uri="{FF2B5EF4-FFF2-40B4-BE49-F238E27FC236}">
                <a16:creationId xmlns:a16="http://schemas.microsoft.com/office/drawing/2014/main" id="{F29C84AE-4B61-1788-AD93-9DAB515B1EC1}"/>
              </a:ext>
            </a:extLst>
          </p:cNvPr>
          <p:cNvSpPr/>
          <p:nvPr/>
        </p:nvSpPr>
        <p:spPr>
          <a:xfrm>
            <a:off x="4870950" y="6073994"/>
            <a:ext cx="1917464" cy="294541"/>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Solution: Be a leader in ethical sourcing and environmental impact</a:t>
            </a:r>
            <a:endParaRPr lang="zh-HK" altLang="en-US" sz="800" dirty="0"/>
          </a:p>
        </p:txBody>
      </p:sp>
      <p:sp>
        <p:nvSpPr>
          <p:cNvPr id="358" name="Rectangle: Rounded Corners 357">
            <a:extLst>
              <a:ext uri="{FF2B5EF4-FFF2-40B4-BE49-F238E27FC236}">
                <a16:creationId xmlns:a16="http://schemas.microsoft.com/office/drawing/2014/main" id="{6F446481-4B54-E107-B81C-8ED9B997309D}"/>
              </a:ext>
            </a:extLst>
          </p:cNvPr>
          <p:cNvSpPr/>
          <p:nvPr/>
        </p:nvSpPr>
        <p:spPr>
          <a:xfrm>
            <a:off x="5749327" y="2125920"/>
            <a:ext cx="1728378" cy="28149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Evidence: 7000 stores in 2013 to 15000 stores in 2008</a:t>
            </a:r>
            <a:endParaRPr lang="zh-HK" altLang="en-US" sz="800" dirty="0"/>
          </a:p>
        </p:txBody>
      </p:sp>
    </p:spTree>
    <p:extLst>
      <p:ext uri="{BB962C8B-B14F-4D97-AF65-F5344CB8AC3E}">
        <p14:creationId xmlns:p14="http://schemas.microsoft.com/office/powerpoint/2010/main" val="4058181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841248" y="334644"/>
            <a:ext cx="10509504" cy="1076914"/>
          </a:xfrm>
        </p:spPr>
        <p:txBody>
          <a:bodyPr anchor="ctr">
            <a:normAutofit/>
          </a:bodyPr>
          <a:lstStyle/>
          <a:p>
            <a:r>
              <a:rPr lang="en-US" altLang="zh-HK" sz="4000"/>
              <a:t>Q2. Create a table of solutions</a:t>
            </a:r>
            <a:endParaRPr lang="zh-HK" altLang="en-US" sz="4000"/>
          </a:p>
        </p:txBody>
      </p:sp>
      <p:sp>
        <p:nvSpPr>
          <p:cNvPr id="50" name="Rectangle 49">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2" name="Rectangle 5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2C475982-3BB5-03DD-FDD9-EC88569B1796}"/>
              </a:ext>
            </a:extLst>
          </p:cNvPr>
          <p:cNvGraphicFramePr>
            <a:graphicFrameLocks noGrp="1"/>
          </p:cNvGraphicFramePr>
          <p:nvPr>
            <p:ph idx="1"/>
            <p:extLst>
              <p:ext uri="{D42A27DB-BD31-4B8C-83A1-F6EECF244321}">
                <p14:modId xmlns:p14="http://schemas.microsoft.com/office/powerpoint/2010/main" val="3749052077"/>
              </p:ext>
            </p:extLst>
          </p:nvPr>
        </p:nvGraphicFramePr>
        <p:xfrm>
          <a:off x="1701130" y="1737360"/>
          <a:ext cx="8780598" cy="4535427"/>
        </p:xfrm>
        <a:graphic>
          <a:graphicData uri="http://schemas.openxmlformats.org/drawingml/2006/table">
            <a:tbl>
              <a:tblPr firstRow="1" bandRow="1"/>
              <a:tblGrid>
                <a:gridCol w="427222">
                  <a:extLst>
                    <a:ext uri="{9D8B030D-6E8A-4147-A177-3AD203B41FA5}">
                      <a16:colId xmlns:a16="http://schemas.microsoft.com/office/drawing/2014/main" val="4199376464"/>
                    </a:ext>
                  </a:extLst>
                </a:gridCol>
                <a:gridCol w="4477353">
                  <a:extLst>
                    <a:ext uri="{9D8B030D-6E8A-4147-A177-3AD203B41FA5}">
                      <a16:colId xmlns:a16="http://schemas.microsoft.com/office/drawing/2014/main" val="1448142483"/>
                    </a:ext>
                  </a:extLst>
                </a:gridCol>
                <a:gridCol w="2303870">
                  <a:extLst>
                    <a:ext uri="{9D8B030D-6E8A-4147-A177-3AD203B41FA5}">
                      <a16:colId xmlns:a16="http://schemas.microsoft.com/office/drawing/2014/main" val="472477649"/>
                    </a:ext>
                  </a:extLst>
                </a:gridCol>
                <a:gridCol w="696305">
                  <a:extLst>
                    <a:ext uri="{9D8B030D-6E8A-4147-A177-3AD203B41FA5}">
                      <a16:colId xmlns:a16="http://schemas.microsoft.com/office/drawing/2014/main" val="122821351"/>
                    </a:ext>
                  </a:extLst>
                </a:gridCol>
                <a:gridCol w="875848">
                  <a:extLst>
                    <a:ext uri="{9D8B030D-6E8A-4147-A177-3AD203B41FA5}">
                      <a16:colId xmlns:a16="http://schemas.microsoft.com/office/drawing/2014/main" val="1016402240"/>
                    </a:ext>
                  </a:extLst>
                </a:gridCol>
              </a:tblGrid>
              <a:tr h="169074">
                <a:tc>
                  <a:txBody>
                    <a:bodyPr/>
                    <a:lstStyle/>
                    <a:p>
                      <a:pPr algn="l" fontAlgn="ctr">
                        <a:spcBef>
                          <a:spcPts val="0"/>
                        </a:spcBef>
                        <a:spcAft>
                          <a:spcPts val="0"/>
                        </a:spcAft>
                      </a:pPr>
                      <a:r>
                        <a:rPr lang="en-US" sz="800" b="0" i="0" u="none" strike="noStrike">
                          <a:effectLst/>
                          <a:latin typeface="+mn-lt"/>
                        </a:rPr>
                        <a:t>No.</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Description</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Who</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Months</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Budget</a:t>
                      </a:r>
                      <a:endParaRPr lang="en-US" altLang="zh-HK" sz="800" b="0" i="0" u="none" strike="noStrike">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1788856322"/>
                  </a:ext>
                </a:extLst>
              </a:tr>
              <a:tr h="805641">
                <a:tc>
                  <a:txBody>
                    <a:bodyPr/>
                    <a:lstStyle/>
                    <a:p>
                      <a:pPr algn="l" fontAlgn="ctr">
                        <a:spcBef>
                          <a:spcPts val="0"/>
                        </a:spcBef>
                        <a:spcAft>
                          <a:spcPts val="0"/>
                        </a:spcAft>
                      </a:pPr>
                      <a:r>
                        <a:rPr lang="en-US" sz="800" b="0" i="0" u="none" strike="noStrike">
                          <a:effectLst/>
                          <a:latin typeface="+mn-lt"/>
                        </a:rPr>
                        <a:t>1</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Be the undisputed coffee authority: Repair the Starbucks' brand of serving premium coffee. Refocus on club-like appeal customers again and stop trying to grow the customer base from speedy delivery customers. Strategy Officer should identify shops that are the less profitable and affecting the brand, and close them down. Marketing Manager needs to redouble our marketing effort to reposition ourselves as </a:t>
                      </a:r>
                      <a:r>
                        <a:rPr lang="en-US" sz="800" b="0" i="1" u="none" strike="noStrike" dirty="0">
                          <a:effectLst/>
                          <a:latin typeface="+mn-lt"/>
                        </a:rPr>
                        <a:t>the coffee shop</a:t>
                      </a:r>
                      <a:r>
                        <a:rPr lang="en-US" sz="800" b="0" i="0" u="none" strike="noStrike" dirty="0">
                          <a:effectLst/>
                          <a:latin typeface="+mn-lt"/>
                        </a:rPr>
                        <a:t> to go to for club-like appeal customers.</a:t>
                      </a:r>
                      <a:endParaRPr lang="en-US" altLang="zh-HK" sz="800" b="0" i="0" u="none" strike="noStrike" dirty="0">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Marketing Manager, Strategy Officer</a:t>
                      </a:r>
                      <a:endParaRPr lang="en-US" altLang="zh-HK" sz="800" b="0" i="0" u="none" strike="noStrike" dirty="0">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12</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US$200M</a:t>
                      </a:r>
                      <a:endParaRPr lang="en-US" altLang="zh-HK" sz="800" b="0" i="0" u="none" strike="noStrike" dirty="0">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2337942064"/>
                  </a:ext>
                </a:extLst>
              </a:tr>
              <a:tr h="551014">
                <a:tc>
                  <a:txBody>
                    <a:bodyPr/>
                    <a:lstStyle/>
                    <a:p>
                      <a:pPr algn="l" fontAlgn="ctr">
                        <a:spcBef>
                          <a:spcPts val="0"/>
                        </a:spcBef>
                        <a:spcAft>
                          <a:spcPts val="0"/>
                        </a:spcAft>
                      </a:pPr>
                      <a:r>
                        <a:rPr lang="en-US" sz="800" b="0" i="0" u="none" strike="noStrike">
                          <a:effectLst/>
                          <a:latin typeface="+mn-lt"/>
                        </a:rPr>
                        <a:t>2</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Engage and inspire our partners: Accept feedback from our staff on what could be improved via the Human Resources Managers. It could be improving staff morale or improving customer experience. The CEO should identify and implement good feedback. We may be able to find some new ideas that we have not thought of from this.</a:t>
                      </a:r>
                      <a:endParaRPr lang="en-US" altLang="zh-HK" sz="800" b="0" i="0" u="none" strike="noStrike" dirty="0">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Chief Executive Officer, Human Resources Managers</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3</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US$100M</a:t>
                      </a:r>
                      <a:endParaRPr lang="en-US" altLang="zh-HK" sz="800" b="0" i="0" u="none" strike="noStrike">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2122160518"/>
                  </a:ext>
                </a:extLst>
              </a:tr>
              <a:tr h="678328">
                <a:tc>
                  <a:txBody>
                    <a:bodyPr/>
                    <a:lstStyle/>
                    <a:p>
                      <a:pPr algn="l" fontAlgn="ctr">
                        <a:spcBef>
                          <a:spcPts val="0"/>
                        </a:spcBef>
                        <a:spcAft>
                          <a:spcPts val="0"/>
                        </a:spcAft>
                      </a:pPr>
                      <a:r>
                        <a:rPr lang="en-US" sz="800" b="0" i="0" u="none" strike="noStrike">
                          <a:effectLst/>
                          <a:latin typeface="+mn-lt"/>
                        </a:rPr>
                        <a:t>3</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Ignite the emotional attachment with our customers: Create feedback channels for customers. They may provide new ideas that we have not thought of. CEO should identify and implement good feedback. For recurring customers, Regional Managers should create a loyalty program to retain customers and increase customer loyalty. Regional Managers should setup the loyalty programs so that it suits the local context.</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Chief Executive Officer, Regional Managers</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6</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US$100M</a:t>
                      </a:r>
                      <a:endParaRPr lang="en-US" altLang="zh-HK" sz="800" b="0" i="0" u="none" strike="noStrike">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2952664308"/>
                  </a:ext>
                </a:extLst>
              </a:tr>
              <a:tr h="551014">
                <a:tc>
                  <a:txBody>
                    <a:bodyPr/>
                    <a:lstStyle/>
                    <a:p>
                      <a:pPr algn="l" fontAlgn="ctr">
                        <a:spcBef>
                          <a:spcPts val="0"/>
                        </a:spcBef>
                        <a:spcAft>
                          <a:spcPts val="0"/>
                        </a:spcAft>
                      </a:pPr>
                      <a:r>
                        <a:rPr lang="en-US" sz="800" b="0" i="0" u="none" strike="noStrike">
                          <a:effectLst/>
                          <a:latin typeface="+mn-lt"/>
                        </a:rPr>
                        <a:t>4</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Expand our global presence — while making each store the heart of a local neighborhood: Expand our presence overseas carefully. We need to be aware of the local context when setting up shops, and Regional Managers can help gather the needed context. Strategy Officer can help with placement of the shops and help avoid diluting the Starbucks brand again.</a:t>
                      </a:r>
                      <a:endParaRPr lang="en-US" altLang="zh-HK" sz="800" b="0" i="0" u="none" strike="noStrike" dirty="0">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Regional Managers, Strategy Officer</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12</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US$200M</a:t>
                      </a:r>
                      <a:endParaRPr lang="en-US" altLang="zh-HK" sz="800" b="0" i="0" u="none" strike="noStrike">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2020101707"/>
                  </a:ext>
                </a:extLst>
              </a:tr>
              <a:tr h="678328">
                <a:tc>
                  <a:txBody>
                    <a:bodyPr/>
                    <a:lstStyle/>
                    <a:p>
                      <a:pPr algn="l" fontAlgn="ctr">
                        <a:spcBef>
                          <a:spcPts val="0"/>
                        </a:spcBef>
                        <a:spcAft>
                          <a:spcPts val="0"/>
                        </a:spcAft>
                      </a:pPr>
                      <a:r>
                        <a:rPr lang="en-US" sz="800" b="0" i="0" u="none" strike="noStrike">
                          <a:effectLst/>
                          <a:latin typeface="+mn-lt"/>
                        </a:rPr>
                        <a:t>5</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Be a leader in ethical sourcing and environmental impact: COO should identify ethical problems and environmental impact in our supply chain. Find measures to mitigate the problems. Regional Managers should implement the measures. Afterwards, the Marketing Manager is responsible for telling our customers about commitment to ethical sourcing and the environment.</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Chief Operating Officer, Marketing Manager, Regional Managers</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12</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US$100M</a:t>
                      </a:r>
                      <a:endParaRPr lang="en-US" altLang="zh-HK" sz="800" b="0" i="0" u="none" strike="noStrike">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2943566858"/>
                  </a:ext>
                </a:extLst>
              </a:tr>
              <a:tr h="551014">
                <a:tc>
                  <a:txBody>
                    <a:bodyPr/>
                    <a:lstStyle/>
                    <a:p>
                      <a:pPr algn="l" fontAlgn="ctr">
                        <a:spcBef>
                          <a:spcPts val="0"/>
                        </a:spcBef>
                        <a:spcAft>
                          <a:spcPts val="0"/>
                        </a:spcAft>
                      </a:pPr>
                      <a:r>
                        <a:rPr lang="en-US" sz="800" b="0" i="0" u="none" strike="noStrike">
                          <a:effectLst/>
                          <a:latin typeface="+mn-lt"/>
                        </a:rPr>
                        <a:t>6</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Creative innovation growth platforms worthy of our coffee: CDO should identify outdated technology in our company and start replacing them, to improve the efficiency of our coffee shops. Moreover, CDO should identify ways to use new technology to improve the customer experience and implement them.</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Chief Digital Officer</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6</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US$200M</a:t>
                      </a:r>
                      <a:endParaRPr lang="en-US" altLang="zh-HK" sz="800" b="0" i="0" u="none" strike="noStrike">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595173615"/>
                  </a:ext>
                </a:extLst>
              </a:tr>
              <a:tr h="551014">
                <a:tc>
                  <a:txBody>
                    <a:bodyPr/>
                    <a:lstStyle/>
                    <a:p>
                      <a:pPr algn="l" fontAlgn="ctr">
                        <a:spcBef>
                          <a:spcPts val="0"/>
                        </a:spcBef>
                        <a:spcAft>
                          <a:spcPts val="0"/>
                        </a:spcAft>
                      </a:pPr>
                      <a:r>
                        <a:rPr lang="en-US" sz="800" b="0" i="0" u="none" strike="noStrike">
                          <a:effectLst/>
                          <a:latin typeface="+mn-lt"/>
                        </a:rPr>
                        <a:t>7</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Deliver a sustainable economic model: CFO should discover and investigate new economic models for the company. COO can evaluate them for feasibility and sustainability, like how resilient is it to economic downturns or resource shortages. Implement the models at a small scale to see if they work.</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Chief Financial Officer, Chief Operating Officer</a:t>
                      </a:r>
                      <a:endParaRPr lang="en-US" altLang="zh-HK" sz="800" b="0" i="0" u="none" strike="noStrike" dirty="0">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a:effectLst/>
                          <a:latin typeface="+mn-lt"/>
                        </a:rPr>
                        <a:t>24</a:t>
                      </a:r>
                      <a:endParaRPr lang="en-US" altLang="zh-HK" sz="800" b="0" i="0" u="none" strike="noStrike">
                        <a:effectLst/>
                        <a:latin typeface="+mn-lt"/>
                      </a:endParaRPr>
                    </a:p>
                  </a:txBody>
                  <a:tcPr marL="11206" marR="11206" marT="5602" marB="5602" anchor="ctr">
                    <a:lnL>
                      <a:noFill/>
                    </a:lnL>
                    <a:lnR>
                      <a:noFill/>
                    </a:lnR>
                    <a:lnT>
                      <a:noFill/>
                    </a:lnT>
                    <a:lnB>
                      <a:noFill/>
                    </a:lnB>
                    <a:noFill/>
                  </a:tcPr>
                </a:tc>
                <a:tc>
                  <a:txBody>
                    <a:bodyPr/>
                    <a:lstStyle/>
                    <a:p>
                      <a:pPr algn="l" fontAlgn="ctr">
                        <a:spcBef>
                          <a:spcPts val="0"/>
                        </a:spcBef>
                        <a:spcAft>
                          <a:spcPts val="0"/>
                        </a:spcAft>
                      </a:pPr>
                      <a:r>
                        <a:rPr lang="en-US" sz="800" b="0" i="0" u="none" strike="noStrike" dirty="0">
                          <a:effectLst/>
                          <a:latin typeface="+mn-lt"/>
                        </a:rPr>
                        <a:t>US$50M</a:t>
                      </a:r>
                      <a:endParaRPr lang="en-US" altLang="zh-HK" sz="800" b="0" i="0" u="none" strike="noStrike" dirty="0">
                        <a:effectLst/>
                        <a:latin typeface="+mn-lt"/>
                      </a:endParaRPr>
                    </a:p>
                  </a:txBody>
                  <a:tcPr marL="11206" marR="11206" marT="5602" marB="5602" anchor="ctr">
                    <a:lnL>
                      <a:noFill/>
                    </a:lnL>
                    <a:lnR>
                      <a:noFill/>
                    </a:lnR>
                    <a:lnT>
                      <a:noFill/>
                    </a:lnT>
                    <a:lnB>
                      <a:noFill/>
                    </a:lnB>
                    <a:noFill/>
                  </a:tcPr>
                </a:tc>
                <a:extLst>
                  <a:ext uri="{0D108BD9-81ED-4DB2-BD59-A6C34878D82A}">
                    <a16:rowId xmlns:a16="http://schemas.microsoft.com/office/drawing/2014/main" val="781757280"/>
                  </a:ext>
                </a:extLst>
              </a:tr>
            </a:tbl>
          </a:graphicData>
        </a:graphic>
      </p:graphicFrame>
    </p:spTree>
    <p:extLst>
      <p:ext uri="{BB962C8B-B14F-4D97-AF65-F5344CB8AC3E}">
        <p14:creationId xmlns:p14="http://schemas.microsoft.com/office/powerpoint/2010/main" val="235617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686834" y="1153572"/>
            <a:ext cx="3200400" cy="4461163"/>
          </a:xfrm>
        </p:spPr>
        <p:txBody>
          <a:bodyPr>
            <a:normAutofit/>
          </a:bodyPr>
          <a:lstStyle/>
          <a:p>
            <a:r>
              <a:rPr lang="en-US" altLang="zh-HK">
                <a:solidFill>
                  <a:srgbClr val="FFFFFF"/>
                </a:solidFill>
              </a:rPr>
              <a:t>Q3. Compose an email in 5-Step Persuasive Selling format</a:t>
            </a:r>
            <a:endParaRPr lang="zh-HK" alt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7BEE0F7-CC87-197D-E66C-A949990FD723}"/>
              </a:ext>
            </a:extLst>
          </p:cNvPr>
          <p:cNvSpPr>
            <a:spLocks noGrp="1"/>
          </p:cNvSpPr>
          <p:nvPr>
            <p:ph idx="1"/>
          </p:nvPr>
        </p:nvSpPr>
        <p:spPr>
          <a:xfrm>
            <a:off x="4447308" y="591344"/>
            <a:ext cx="6906491" cy="5585619"/>
          </a:xfrm>
        </p:spPr>
        <p:txBody>
          <a:bodyPr anchor="ctr">
            <a:normAutofit/>
          </a:bodyPr>
          <a:lstStyle/>
          <a:p>
            <a:pPr marL="0" indent="0">
              <a:buNone/>
            </a:pPr>
            <a:r>
              <a:rPr lang="en-US" altLang="zh-HK" sz="1300" dirty="0"/>
              <a:t>Dear Mr. Schultz,</a:t>
            </a:r>
          </a:p>
          <a:p>
            <a:pPr marL="0" indent="0">
              <a:buNone/>
            </a:pPr>
            <a:r>
              <a:rPr lang="en-US" altLang="zh-HK" sz="1300" dirty="0"/>
              <a:t>As you know, our company Starbucks has seen a decrease of operating income from US$1B in 2007 to US$504M in 2008. This is a worrying trend, so you have asked us to identify how to fix it. After much discussion within our committee, we have finally concluded.</a:t>
            </a:r>
          </a:p>
          <a:p>
            <a:pPr marL="0" indent="0">
              <a:buNone/>
            </a:pPr>
            <a:r>
              <a:rPr lang="en-US" altLang="zh-HK" sz="1300" dirty="0"/>
              <a:t>Our solution is the 7 points of transformation, focusing on repairing our Starbucks branding, with a side focus of sustainable growth in the future.</a:t>
            </a:r>
          </a:p>
          <a:p>
            <a:pPr marL="0" indent="0">
              <a:buNone/>
            </a:pPr>
            <a:r>
              <a:rPr lang="en-US" altLang="zh-HK" sz="1300" dirty="0"/>
              <a:t>The solution composes of 7 actions that the company should take. Each action comes with a clear description, persons responsible, duration, budget, and is labeled on the root cause analysis map. For example, the first action is to "be the undisputed coffee authority", which is to repair our branding. The Strategy Officer will shutdown shops that are affecting our branding, and the Marketing Officer will be responsible for the promotion. We estimated the pilot run will take 12 months and US$200M. We have also explained the benefits in the description.</a:t>
            </a:r>
          </a:p>
          <a:p>
            <a:pPr marL="0" indent="0">
              <a:buNone/>
            </a:pPr>
            <a:r>
              <a:rPr lang="en-US" altLang="zh-HK" sz="1300" dirty="0"/>
              <a:t>By adopting our 7 points of transformation, we can prevent our operating income from decreasing further in a year. If executed well, we may be able to recover most of our operating income. Furthermore, it also prepares us the necessary conditions for future sustainable growth.</a:t>
            </a:r>
          </a:p>
          <a:p>
            <a:pPr marL="0" indent="0">
              <a:buNone/>
            </a:pPr>
            <a:r>
              <a:rPr lang="en-US" altLang="zh-HK" sz="1300" dirty="0"/>
              <a:t>If you are interested, I would like to talk to you about our 7 points of transformation as soon as possible. Could you please reply with the closest free time that you have? Thank you.</a:t>
            </a:r>
          </a:p>
          <a:p>
            <a:pPr marL="0" indent="0">
              <a:buNone/>
            </a:pPr>
            <a:r>
              <a:rPr lang="en-US" altLang="zh-HK" sz="1300" dirty="0"/>
              <a:t>Sincerely,</a:t>
            </a:r>
            <a:br>
              <a:rPr lang="en-US" altLang="zh-HK" sz="1300" dirty="0"/>
            </a:br>
            <a:r>
              <a:rPr lang="en-US" altLang="zh-HK" sz="1300" dirty="0"/>
              <a:t>Bruce Lee</a:t>
            </a:r>
          </a:p>
          <a:p>
            <a:pPr marL="0" indent="0">
              <a:buNone/>
            </a:pPr>
            <a:r>
              <a:rPr lang="en-US" altLang="zh-HK" sz="1300" i="1" dirty="0"/>
              <a:t>248 words.</a:t>
            </a:r>
            <a:endParaRPr lang="zh-HK" altLang="en-US" sz="1300" i="1" dirty="0"/>
          </a:p>
        </p:txBody>
      </p:sp>
    </p:spTree>
    <p:extLst>
      <p:ext uri="{BB962C8B-B14F-4D97-AF65-F5344CB8AC3E}">
        <p14:creationId xmlns:p14="http://schemas.microsoft.com/office/powerpoint/2010/main" val="1462987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1499</Words>
  <PresentationFormat>Widescreen</PresentationFormat>
  <Paragraphs>155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Root Cause Analysis (Starbucks)</vt:lpstr>
      <vt:lpstr>Q1. Conduct Root Cause Analysis</vt:lpstr>
      <vt:lpstr>Q1. Conduct Root Cause Analysis (cont.)</vt:lpstr>
      <vt:lpstr>Q2. Create a table of solutions</vt:lpstr>
      <vt:lpstr>Q3. Compose an email in 5-Step Persuasive Selling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2024-04-14T14:27:55Z</dcterms:created>
  <dcterms:modified xsi:type="dcterms:W3CDTF">2024-06-24T14:02:27Z</dcterms:modified>
</cp:coreProperties>
</file>
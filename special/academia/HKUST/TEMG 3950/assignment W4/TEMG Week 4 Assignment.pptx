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77" r:id="rId4"/>
    <p:sldId id="270" r:id="rId5"/>
    <p:sldId id="259" r:id="rId6"/>
    <p:sldId id="274" r:id="rId7"/>
    <p:sldId id="260" r:id="rId8"/>
    <p:sldId id="265" r:id="rId9"/>
    <p:sldId id="276" r:id="rId10"/>
    <p:sldId id="278" r:id="rId11"/>
    <p:sldId id="263" r:id="rId12"/>
    <p:sldId id="271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76A36-6A43-4CCC-BB66-B7957B5E8CDC}" v="1159" dt="2024-02-27T10:06:17.394"/>
    <p1510:client id="{0B33E8D1-172C-1732-ADC4-7A5028D8A6EC}" v="459" dt="2024-02-27T09:25:55.349"/>
    <p1510:client id="{2B6FD4B4-C7EC-6746-A11F-4C52EE82A2B8}" v="4003" dt="2024-02-27T14:03:11.907"/>
    <p1510:client id="{78C47F2A-7084-6AD0-DA22-7E48998FB0C3}" v="282" dt="2024-02-27T08:17:12.257"/>
    <p1510:client id="{87A8DE44-B577-84C6-AF12-73960F23665E}" v="94" dt="2024-02-27T07:12:03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703"/>
  </p:normalViewPr>
  <p:slideViewPr>
    <p:cSldViewPr snapToGrid="0">
      <p:cViewPr>
        <p:scale>
          <a:sx n="94" d="100"/>
          <a:sy n="94" d="100"/>
        </p:scale>
        <p:origin x="31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A3EFD-E2DB-414F-8C20-81ABE1BE491A}" type="datetimeFigureOut">
              <a:rPr lang="en-HK" smtClean="0"/>
              <a:t>28/2/2024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D412C-E641-4AA9-9E5D-C1688F1DBD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66605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70F6C-11D0-C9A2-1D9B-99943850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5100C-1851-F7F2-7AE9-4C56F00C7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FA152-2D69-CDE1-721D-00132CB16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E7E87-16D5-ABEA-F144-043FAED13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D412C-E641-4AA9-9E5D-C1688F1DBD29}" type="slidenum">
              <a:rPr lang="en-HK" smtClean="0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6221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25BC-7AA2-BEF4-69A6-D92344CE5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5DDB7-0F01-4A84-E66C-FBE7156AD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973CE-F49C-5BA3-5BF0-AE698A5F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8F3B2-71EB-107B-2D0D-715896C9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C7F28-8F79-B8A1-20F6-AF2FFED7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6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FC18-109C-777C-839E-31034B5D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35B3-F511-E24A-275D-8A9C40DD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81215-229C-1CE2-B8AA-DFDFF3E7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3626-3513-EDC3-A036-EA10BEA3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DD11-2247-2784-A94A-7739A350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8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9B43-9A44-84B4-2258-19D647B6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DBA89-D20D-0F1A-5746-84213500E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80E32-10FF-E556-310B-9C046380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9042F-F545-E192-BFCF-0B68297C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2BDCD-5091-A8AD-68B1-92BFDCBD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1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19E7-6FC9-F09F-F79B-FC42B7DF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36CD1-5BA1-9236-C55D-6BD2F498E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78277-FCD0-0041-1469-35C6604A0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E69FC-F48E-C65D-2065-96B55C23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5BD7C-BD11-26DB-069D-1F5D9BBA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4F1ED-9524-0BF3-4C86-375D59A3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1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4AD-9E44-CD49-D23C-58D965BF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0878-D510-68B1-4ED5-8D7A583EE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84562-B291-CF70-AB89-87D7D9E10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4BDD0-6DBD-D5D2-AC8C-D1D814AD4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D630E-56AB-FA65-34A4-CAC4B5646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CF077-0AB9-47E6-F8B0-D75675AE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A77D5-45DB-C08E-E774-54215843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927FE-231E-9C7C-4B92-A072B67F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0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9A64-E891-470D-A510-1B73DEB7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5C91C-DFFC-5225-3FAF-3ECCB7C3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49E2-A718-6281-1BDA-83FB0C98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7CD17-5F74-D579-C15F-75E3ED0D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5A017-F626-BB9C-F99B-4B84C302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89D2B-684C-0EDA-4A75-C82CCC19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BB9E-A4E5-015C-A8B2-B4FCA66A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9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DFFB-D783-F6A7-9B13-93BC28D3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06869-DDBF-1493-37DE-98E5F98C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B5CEF-2B96-88EC-4082-C53CBA106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811C7-89F3-8BF1-7532-F5D7FA9E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E3E61-290F-9E2C-AA9F-5D14626F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98FA-AA62-E275-E902-95048964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7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D6AF-04A2-123D-2CA1-033DA84E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3512A-22BD-7C92-5F6B-16B340840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6A2BC-672F-E9C6-59A1-B98DA47E3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8700B-9CCC-C8BF-270C-1127098C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15182-7B15-6007-4F51-63B23DEC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7B98C-4CDB-B954-8144-97E6AF6B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4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7248-7AEB-6F5A-3707-AA0AB9A0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1E2AF-9C3A-5666-02CC-366608A7E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ED5C6-625C-978E-F66F-253F780F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4016-1887-1AA2-1110-B5D3BC61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C949-05FC-EE9B-DB64-6114E110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9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DFBED-1C7B-2CEE-7029-996B7EC0F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2A0C9-576E-2D23-581C-53BD3F65C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34952-FF5F-6F47-E812-7C588D23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74FB-DA9F-D020-1CCF-B53B08B9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D8593-8B5D-346B-5E63-53649287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4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7449F-D65B-D438-F07E-DEAC6239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84457-273E-59E3-4B89-70B810748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9D69-2AD7-585D-03BA-3D9FA2934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8CC02-B044-7948-8B87-3ACC890418F6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1AADA-79C1-21D8-CF9B-68ED14478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E408-9BFC-B970-305D-D00E017D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21689-7E9D-7E47-B02D-FF80F0737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8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free-icons/bus" TargetMode="External"/><Relationship Id="rId3" Type="http://schemas.openxmlformats.org/officeDocument/2006/relationships/hyperlink" Target="https://www.ceicdata.com/en/china/tourism-shanghai/shanghai-visitor-average-length-of-stay-foreigner" TargetMode="External"/><Relationship Id="rId7" Type="http://schemas.openxmlformats.org/officeDocument/2006/relationships/hyperlink" Target="https://www.flaticon.com/free-icons/closet" TargetMode="External"/><Relationship Id="rId12" Type="http://schemas.openxmlformats.org/officeDocument/2006/relationships/hyperlink" Target="https://www.flaticon.com/free-icons/misunderstanding" TargetMode="External"/><Relationship Id="rId2" Type="http://schemas.openxmlformats.org/officeDocument/2006/relationships/hyperlink" Target="https://www.nia.gov.cn/n741440/n741567/c1589194/content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laticon.com/free-icons/salad" TargetMode="External"/><Relationship Id="rId11" Type="http://schemas.openxmlformats.org/officeDocument/2006/relationships/hyperlink" Target="https://www.flaticon.com/free-icons/tourist" TargetMode="External"/><Relationship Id="rId5" Type="http://schemas.openxmlformats.org/officeDocument/2006/relationships/hyperlink" Target="http://www.xinhuanet.com/english/2017-05/17/c_136292324.htm" TargetMode="External"/><Relationship Id="rId10" Type="http://schemas.openxmlformats.org/officeDocument/2006/relationships/hyperlink" Target="https://www.flaticon.com/free-icons/handrail" TargetMode="External"/><Relationship Id="rId4" Type="http://schemas.openxmlformats.org/officeDocument/2006/relationships/hyperlink" Target="https://www.gov.cn/xinwen/2021-05/11/content_5605792.htm" TargetMode="External"/><Relationship Id="rId9" Type="http://schemas.openxmlformats.org/officeDocument/2006/relationships/hyperlink" Target="https://www.flaticon.com/free-icons/transl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3142C0-4EBA-1F8D-428B-7F06A24F63DC}"/>
              </a:ext>
            </a:extLst>
          </p:cNvPr>
          <p:cNvSpPr/>
          <p:nvPr/>
        </p:nvSpPr>
        <p:spPr>
          <a:xfrm>
            <a:off x="486917" y="931196"/>
            <a:ext cx="1323766" cy="100116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53EE9-A056-F95F-6DE8-662F13D58D2F}"/>
              </a:ext>
            </a:extLst>
          </p:cNvPr>
          <p:cNvSpPr/>
          <p:nvPr/>
        </p:nvSpPr>
        <p:spPr>
          <a:xfrm>
            <a:off x="1949816" y="942320"/>
            <a:ext cx="3687011" cy="99004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Pre-cooked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food</a:t>
            </a:r>
            <a:endParaRPr lang="en-GB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1C021-BAED-3365-ACFA-0FE63E6E128A}"/>
              </a:ext>
            </a:extLst>
          </p:cNvPr>
          <p:cNvSpPr/>
          <p:nvPr/>
        </p:nvSpPr>
        <p:spPr>
          <a:xfrm>
            <a:off x="489734" y="2030141"/>
            <a:ext cx="1323766" cy="100116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venir Book" panose="02000503020000020003" pitchFamily="2" charset="0"/>
            </a:endParaRPr>
          </a:p>
        </p:txBody>
      </p:sp>
      <p:pic>
        <p:nvPicPr>
          <p:cNvPr id="19" name="Picture 18" descr="A bowl of salad with watermelon slices&#10;&#10;Description automatically generated">
            <a:extLst>
              <a:ext uri="{FF2B5EF4-FFF2-40B4-BE49-F238E27FC236}">
                <a16:creationId xmlns:a16="http://schemas.microsoft.com/office/drawing/2014/main" id="{C3EE9CCA-66E0-7847-1C7B-80083273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79" y="987847"/>
            <a:ext cx="880242" cy="8802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A96834-5358-F957-6E54-D31AA4B4FFF0}"/>
              </a:ext>
            </a:extLst>
          </p:cNvPr>
          <p:cNvSpPr/>
          <p:nvPr/>
        </p:nvSpPr>
        <p:spPr>
          <a:xfrm>
            <a:off x="486917" y="3129086"/>
            <a:ext cx="1323766" cy="100116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CC186-8646-DA65-3A1A-002238BA2E11}"/>
              </a:ext>
            </a:extLst>
          </p:cNvPr>
          <p:cNvSpPr/>
          <p:nvPr/>
        </p:nvSpPr>
        <p:spPr>
          <a:xfrm>
            <a:off x="486917" y="4227179"/>
            <a:ext cx="1323766" cy="100116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D4BECF-A524-FCAD-643E-9870D8014038}"/>
              </a:ext>
            </a:extLst>
          </p:cNvPr>
          <p:cNvSpPr/>
          <p:nvPr/>
        </p:nvSpPr>
        <p:spPr>
          <a:xfrm>
            <a:off x="486917" y="5325272"/>
            <a:ext cx="1323766" cy="100116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873DF-7EF3-17F8-2797-5F76A84C2CA6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0F0A03B-432E-EE77-AF7C-6FF35A3ECE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5" y="333593"/>
            <a:ext cx="3166007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Prioritization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Grid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pic>
        <p:nvPicPr>
          <p:cNvPr id="26" name="Picture 25" descr="A closet with clothes on it&#10;&#10;Description automatically generated">
            <a:extLst>
              <a:ext uri="{FF2B5EF4-FFF2-40B4-BE49-F238E27FC236}">
                <a16:creationId xmlns:a16="http://schemas.microsoft.com/office/drawing/2014/main" id="{D1123C75-F836-D6B5-99F6-4F12885A1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07" y="2091567"/>
            <a:ext cx="880242" cy="880242"/>
          </a:xfrm>
          <a:prstGeom prst="rect">
            <a:avLst/>
          </a:prstGeom>
        </p:spPr>
      </p:pic>
      <p:pic>
        <p:nvPicPr>
          <p:cNvPr id="30" name="Picture 29" descr="A group of speech bubbles with a foreign language&#10;&#10;Description automatically generated">
            <a:extLst>
              <a:ext uri="{FF2B5EF4-FFF2-40B4-BE49-F238E27FC236}">
                <a16:creationId xmlns:a16="http://schemas.microsoft.com/office/drawing/2014/main" id="{7BB64D72-D092-A888-F123-F49D61616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07" y="3179486"/>
            <a:ext cx="883414" cy="883414"/>
          </a:xfrm>
          <a:prstGeom prst="rect">
            <a:avLst/>
          </a:prstGeom>
        </p:spPr>
      </p:pic>
      <p:pic>
        <p:nvPicPr>
          <p:cNvPr id="47" name="Picture 46" descr="A red bus with blue doors&#10;&#10;Description automatically generated">
            <a:extLst>
              <a:ext uri="{FF2B5EF4-FFF2-40B4-BE49-F238E27FC236}">
                <a16:creationId xmlns:a16="http://schemas.microsoft.com/office/drawing/2014/main" id="{A1675E31-C56A-D19C-5736-7C3926220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07" y="4286762"/>
            <a:ext cx="882000" cy="882000"/>
          </a:xfrm>
          <a:prstGeom prst="rect">
            <a:avLst/>
          </a:prstGeom>
        </p:spPr>
      </p:pic>
      <p:pic>
        <p:nvPicPr>
          <p:cNvPr id="50" name="Picture 49" descr="A hand holding a handle&#10;&#10;Description automatically generated">
            <a:extLst>
              <a:ext uri="{FF2B5EF4-FFF2-40B4-BE49-F238E27FC236}">
                <a16:creationId xmlns:a16="http://schemas.microsoft.com/office/drawing/2014/main" id="{8C3EE99F-3E69-9A91-71A5-C4E3216AD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507" y="5395666"/>
            <a:ext cx="882000" cy="88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A3D306B-7421-F014-8D87-2AAB725AF085}"/>
              </a:ext>
            </a:extLst>
          </p:cNvPr>
          <p:cNvSpPr/>
          <p:nvPr/>
        </p:nvSpPr>
        <p:spPr>
          <a:xfrm>
            <a:off x="1949816" y="2038017"/>
            <a:ext cx="3687011" cy="99004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Outfit recommendation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BE1D00-2889-8F1E-4308-4CB8469E3C99}"/>
              </a:ext>
            </a:extLst>
          </p:cNvPr>
          <p:cNvSpPr/>
          <p:nvPr/>
        </p:nvSpPr>
        <p:spPr>
          <a:xfrm>
            <a:off x="1949816" y="3141359"/>
            <a:ext cx="3687009" cy="99004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Background translation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A094CD-6A5C-C0A1-E01B-1F8045642211}"/>
              </a:ext>
            </a:extLst>
          </p:cNvPr>
          <p:cNvSpPr/>
          <p:nvPr/>
        </p:nvSpPr>
        <p:spPr>
          <a:xfrm>
            <a:off x="1946425" y="4238303"/>
            <a:ext cx="3687008" cy="99004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Bus routing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Application</a:t>
            </a:r>
            <a:endParaRPr lang="en-GB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367BFB-3254-E904-AD11-E9D058A91CC9}"/>
              </a:ext>
            </a:extLst>
          </p:cNvPr>
          <p:cNvSpPr/>
          <p:nvPr/>
        </p:nvSpPr>
        <p:spPr>
          <a:xfrm>
            <a:off x="1945261" y="5341645"/>
            <a:ext cx="3687007" cy="99004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Stance support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89F6850-6B9A-FA3A-BD09-9AB164DDC98E}"/>
              </a:ext>
            </a:extLst>
          </p:cNvPr>
          <p:cNvGrpSpPr/>
          <p:nvPr/>
        </p:nvGrpSpPr>
        <p:grpSpPr>
          <a:xfrm>
            <a:off x="6096000" y="953444"/>
            <a:ext cx="5506961" cy="5484209"/>
            <a:chOff x="6096000" y="953444"/>
            <a:chExt cx="5506961" cy="548420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B933614-E057-AE9E-0E9C-7CEE7B9DC969}"/>
                </a:ext>
              </a:extLst>
            </p:cNvPr>
            <p:cNvGrpSpPr/>
            <p:nvPr/>
          </p:nvGrpSpPr>
          <p:grpSpPr>
            <a:xfrm>
              <a:off x="6541921" y="1085966"/>
              <a:ext cx="5042452" cy="4907478"/>
              <a:chOff x="2557670" y="1232452"/>
              <a:chExt cx="5042452" cy="4907478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10CF176-4019-79B2-CEC7-969BA98B78F8}"/>
                  </a:ext>
                </a:extLst>
              </p:cNvPr>
              <p:cNvSpPr/>
              <p:nvPr/>
            </p:nvSpPr>
            <p:spPr>
              <a:xfrm>
                <a:off x="2570922" y="1232452"/>
                <a:ext cx="4896000" cy="48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BCAFF71-A40A-C08D-2CFF-A2BEBA685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7670" y="6139930"/>
                <a:ext cx="504245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Freeform 31">
                <a:extLst>
                  <a:ext uri="{FF2B5EF4-FFF2-40B4-BE49-F238E27FC236}">
                    <a16:creationId xmlns:a16="http://schemas.microsoft.com/office/drawing/2014/main" id="{360773B5-449F-D953-7377-D7716C929977}"/>
                  </a:ext>
                </a:extLst>
              </p:cNvPr>
              <p:cNvSpPr/>
              <p:nvPr/>
            </p:nvSpPr>
            <p:spPr>
              <a:xfrm>
                <a:off x="4850295" y="1232453"/>
                <a:ext cx="2616627" cy="2538940"/>
              </a:xfrm>
              <a:custGeom>
                <a:avLst/>
                <a:gdLst>
                  <a:gd name="connsiteX0" fmla="*/ 0 w 2778448"/>
                  <a:gd name="connsiteY0" fmla="*/ 0 h 2538939"/>
                  <a:gd name="connsiteX1" fmla="*/ 2778448 w 2778448"/>
                  <a:gd name="connsiteY1" fmla="*/ 0 h 2538939"/>
                  <a:gd name="connsiteX2" fmla="*/ 2778448 w 2778448"/>
                  <a:gd name="connsiteY2" fmla="*/ 2538939 h 2538939"/>
                  <a:gd name="connsiteX3" fmla="*/ 2470841 w 2778448"/>
                  <a:gd name="connsiteY3" fmla="*/ 2469924 h 2538939"/>
                  <a:gd name="connsiteX4" fmla="*/ 22682 w 2778448"/>
                  <a:gd name="connsiteY4" fmla="*/ 110829 h 2538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8448" h="2538939">
                    <a:moveTo>
                      <a:pt x="0" y="0"/>
                    </a:moveTo>
                    <a:lnTo>
                      <a:pt x="2778448" y="0"/>
                    </a:lnTo>
                    <a:lnTo>
                      <a:pt x="2778448" y="2538939"/>
                    </a:lnTo>
                    <a:lnTo>
                      <a:pt x="2470841" y="2469924"/>
                    </a:lnTo>
                    <a:cubicBezTo>
                      <a:pt x="1234973" y="2134510"/>
                      <a:pt x="285559" y="1231777"/>
                      <a:pt x="22682" y="11082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D7111A7D-E4BB-AF17-207D-2AC558774D77}"/>
                </a:ext>
              </a:extLst>
            </p:cNvPr>
            <p:cNvSpPr/>
            <p:nvPr/>
          </p:nvSpPr>
          <p:spPr>
            <a:xfrm>
              <a:off x="7144813" y="1085973"/>
              <a:ext cx="4300671" cy="4218701"/>
            </a:xfrm>
            <a:custGeom>
              <a:avLst/>
              <a:gdLst>
                <a:gd name="connsiteX0" fmla="*/ 0 w 4300671"/>
                <a:gd name="connsiteY0" fmla="*/ 0 h 4218701"/>
                <a:gd name="connsiteX1" fmla="*/ 4300671 w 4300671"/>
                <a:gd name="connsiteY1" fmla="*/ 0 h 4218701"/>
                <a:gd name="connsiteX2" fmla="*/ 4300671 w 4300671"/>
                <a:gd name="connsiteY2" fmla="*/ 4218701 h 4218701"/>
                <a:gd name="connsiteX3" fmla="*/ 4292495 w 4300671"/>
                <a:gd name="connsiteY3" fmla="*/ 4218495 h 4218701"/>
                <a:gd name="connsiteX4" fmla="*/ 12374 w 4300671"/>
                <a:gd name="connsiteY4" fmla="*/ 162294 h 421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0671" h="4218701">
                  <a:moveTo>
                    <a:pt x="0" y="0"/>
                  </a:moveTo>
                  <a:lnTo>
                    <a:pt x="4300671" y="0"/>
                  </a:lnTo>
                  <a:lnTo>
                    <a:pt x="4300671" y="4218701"/>
                  </a:lnTo>
                  <a:lnTo>
                    <a:pt x="4292495" y="4218495"/>
                  </a:lnTo>
                  <a:cubicBezTo>
                    <a:pt x="2049931" y="4105127"/>
                    <a:pt x="236970" y="2367855"/>
                    <a:pt x="12374" y="16229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06847849-B768-E37E-3FA5-19CEA9396BA2}"/>
                </a:ext>
              </a:extLst>
            </p:cNvPr>
            <p:cNvSpPr/>
            <p:nvPr/>
          </p:nvSpPr>
          <p:spPr>
            <a:xfrm>
              <a:off x="8841983" y="1082253"/>
              <a:ext cx="2616627" cy="2538940"/>
            </a:xfrm>
            <a:custGeom>
              <a:avLst/>
              <a:gdLst>
                <a:gd name="connsiteX0" fmla="*/ 0 w 2778448"/>
                <a:gd name="connsiteY0" fmla="*/ 0 h 2538939"/>
                <a:gd name="connsiteX1" fmla="*/ 2778448 w 2778448"/>
                <a:gd name="connsiteY1" fmla="*/ 0 h 2538939"/>
                <a:gd name="connsiteX2" fmla="*/ 2778448 w 2778448"/>
                <a:gd name="connsiteY2" fmla="*/ 2538939 h 2538939"/>
                <a:gd name="connsiteX3" fmla="*/ 2470841 w 2778448"/>
                <a:gd name="connsiteY3" fmla="*/ 2469924 h 2538939"/>
                <a:gd name="connsiteX4" fmla="*/ 22682 w 2778448"/>
                <a:gd name="connsiteY4" fmla="*/ 110829 h 2538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8448" h="2538939">
                  <a:moveTo>
                    <a:pt x="0" y="0"/>
                  </a:moveTo>
                  <a:lnTo>
                    <a:pt x="2778448" y="0"/>
                  </a:lnTo>
                  <a:lnTo>
                    <a:pt x="2778448" y="2538939"/>
                  </a:lnTo>
                  <a:lnTo>
                    <a:pt x="2470841" y="2469924"/>
                  </a:lnTo>
                  <a:cubicBezTo>
                    <a:pt x="1234973" y="2134510"/>
                    <a:pt x="285559" y="1231777"/>
                    <a:pt x="22682" y="11082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BF0E5F9-3201-81EF-6594-14CF7503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5173" y="953444"/>
              <a:ext cx="0" cy="504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586532-E0E4-0AA9-C563-3439D7483103}"/>
                </a:ext>
              </a:extLst>
            </p:cNvPr>
            <p:cNvGrpSpPr/>
            <p:nvPr/>
          </p:nvGrpSpPr>
          <p:grpSpPr>
            <a:xfrm>
              <a:off x="6504799" y="6068321"/>
              <a:ext cx="4989655" cy="369332"/>
              <a:chOff x="6504799" y="6068321"/>
              <a:chExt cx="4989655" cy="369332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D531906-51C7-69F2-46CF-8BA17B8E1F16}"/>
                  </a:ext>
                </a:extLst>
              </p:cNvPr>
              <p:cNvSpPr txBox="1"/>
              <p:nvPr/>
            </p:nvSpPr>
            <p:spPr>
              <a:xfrm>
                <a:off x="8275835" y="6068321"/>
                <a:ext cx="1212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latin typeface="Avenir Book" panose="02000503020000020003" pitchFamily="2" charset="0"/>
                  </a:rPr>
                  <a:t>Feasibility</a:t>
                </a:r>
                <a:endParaRPr lang="en-US">
                  <a:latin typeface="Avenir Book" panose="02000503020000020003" pitchFamily="2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0C5E5B2-8739-D62F-3BC7-5A5F63B73099}"/>
                  </a:ext>
                </a:extLst>
              </p:cNvPr>
              <p:cNvSpPr txBox="1"/>
              <p:nvPr/>
            </p:nvSpPr>
            <p:spPr>
              <a:xfrm>
                <a:off x="10982775" y="6114488"/>
                <a:ext cx="511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High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3F7E307-377C-CCF9-5374-756C5FBDCDC5}"/>
                  </a:ext>
                </a:extLst>
              </p:cNvPr>
              <p:cNvSpPr txBox="1"/>
              <p:nvPr/>
            </p:nvSpPr>
            <p:spPr>
              <a:xfrm>
                <a:off x="6504799" y="612058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Low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5F9B7BE-53EC-D669-1D25-47A066480B30}"/>
                </a:ext>
              </a:extLst>
            </p:cNvPr>
            <p:cNvGrpSpPr/>
            <p:nvPr/>
          </p:nvGrpSpPr>
          <p:grpSpPr>
            <a:xfrm>
              <a:off x="6096000" y="1085966"/>
              <a:ext cx="450838" cy="4962263"/>
              <a:chOff x="6096000" y="1085966"/>
              <a:chExt cx="450838" cy="4962263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221ACD9-DD29-69DD-9905-B49104AD3B4D}"/>
                  </a:ext>
                </a:extLst>
              </p:cNvPr>
              <p:cNvSpPr txBox="1"/>
              <p:nvPr/>
            </p:nvSpPr>
            <p:spPr>
              <a:xfrm rot="16200000">
                <a:off x="5907743" y="3497647"/>
                <a:ext cx="745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latin typeface="Avenir Book" panose="02000503020000020003" pitchFamily="2" charset="0"/>
                  </a:rPr>
                  <a:t>Value</a:t>
                </a:r>
                <a:endParaRPr lang="en-US">
                  <a:latin typeface="Avenir Book" panose="02000503020000020003" pitchFamily="2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4E57DFC-EE19-5CCA-8A35-E4F635FA4BA2}"/>
                  </a:ext>
                </a:extLst>
              </p:cNvPr>
              <p:cNvSpPr txBox="1"/>
              <p:nvPr/>
            </p:nvSpPr>
            <p:spPr>
              <a:xfrm rot="16200000">
                <a:off x="6152499" y="1203306"/>
                <a:ext cx="511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High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C8140AB-3F74-F3E8-0E26-DF5BFB8400D0}"/>
                  </a:ext>
                </a:extLst>
              </p:cNvPr>
              <p:cNvSpPr txBox="1"/>
              <p:nvPr/>
            </p:nvSpPr>
            <p:spPr>
              <a:xfrm rot="16200000">
                <a:off x="6173470" y="5677935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Low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</p:grpSp>
        <p:pic>
          <p:nvPicPr>
            <p:cNvPr id="64" name="Picture 63" descr="A bowl of salad with watermelon slices&#10;&#10;Description automatically generated">
              <a:extLst>
                <a:ext uri="{FF2B5EF4-FFF2-40B4-BE49-F238E27FC236}">
                  <a16:creationId xmlns:a16="http://schemas.microsoft.com/office/drawing/2014/main" id="{871B2BEA-3F5C-140B-4E73-A89240205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3704" y="3429000"/>
              <a:ext cx="882000" cy="882000"/>
            </a:xfrm>
            <a:prstGeom prst="rect">
              <a:avLst/>
            </a:prstGeom>
          </p:spPr>
        </p:pic>
        <p:pic>
          <p:nvPicPr>
            <p:cNvPr id="65" name="Picture 64" descr="A closet with clothes on it&#10;&#10;Description automatically generated">
              <a:extLst>
                <a:ext uri="{FF2B5EF4-FFF2-40B4-BE49-F238E27FC236}">
                  <a16:creationId xmlns:a16="http://schemas.microsoft.com/office/drawing/2014/main" id="{B9854299-CBFB-19E1-CB9C-ED92DE99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1703" y="3660081"/>
              <a:ext cx="882000" cy="882000"/>
            </a:xfrm>
            <a:prstGeom prst="rect">
              <a:avLst/>
            </a:prstGeom>
          </p:spPr>
        </p:pic>
        <p:pic>
          <p:nvPicPr>
            <p:cNvPr id="66" name="Picture 65" descr="A group of speech bubbles with a foreign language&#10;&#10;Description automatically generated">
              <a:extLst>
                <a:ext uri="{FF2B5EF4-FFF2-40B4-BE49-F238E27FC236}">
                  <a16:creationId xmlns:a16="http://schemas.microsoft.com/office/drawing/2014/main" id="{2BF824B3-4349-C82F-EF57-6F0ED7AC5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88089" y="2089809"/>
              <a:ext cx="882000" cy="882000"/>
            </a:xfrm>
            <a:prstGeom prst="rect">
              <a:avLst/>
            </a:prstGeom>
          </p:spPr>
        </p:pic>
        <p:pic>
          <p:nvPicPr>
            <p:cNvPr id="67" name="Picture 66" descr="A red bus with blue doors&#10;&#10;Description automatically generated">
              <a:extLst>
                <a:ext uri="{FF2B5EF4-FFF2-40B4-BE49-F238E27FC236}">
                  <a16:creationId xmlns:a16="http://schemas.microsoft.com/office/drawing/2014/main" id="{7F747DB5-FB9E-1154-63C8-D28433CB9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7885" y="4009066"/>
              <a:ext cx="882000" cy="882000"/>
            </a:xfrm>
            <a:prstGeom prst="rect">
              <a:avLst/>
            </a:prstGeom>
          </p:spPr>
        </p:pic>
        <p:pic>
          <p:nvPicPr>
            <p:cNvPr id="68" name="Picture 67" descr="A hand holding a handle&#10;&#10;Description automatically generated">
              <a:extLst>
                <a:ext uri="{FF2B5EF4-FFF2-40B4-BE49-F238E27FC236}">
                  <a16:creationId xmlns:a16="http://schemas.microsoft.com/office/drawing/2014/main" id="{07E62670-5E51-01BE-1EED-689F134C8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31018" y="4727253"/>
              <a:ext cx="882000" cy="882000"/>
            </a:xfrm>
            <a:prstGeom prst="rect">
              <a:avLst/>
            </a:prstGeom>
          </p:spPr>
        </p:pic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DA8D7B5-60BB-76D5-F7FF-C8A09C72D98D}"/>
                </a:ext>
              </a:extLst>
            </p:cNvPr>
            <p:cNvCxnSpPr>
              <a:cxnSpLocks/>
            </p:cNvCxnSpPr>
            <p:nvPr/>
          </p:nvCxnSpPr>
          <p:spPr>
            <a:xfrm>
              <a:off x="6560509" y="5989730"/>
              <a:ext cx="50424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39D7BEE-A9C1-6186-D122-F222EC0DC94A}"/>
              </a:ext>
            </a:extLst>
          </p:cNvPr>
          <p:cNvSpPr/>
          <p:nvPr/>
        </p:nvSpPr>
        <p:spPr>
          <a:xfrm>
            <a:off x="310907" y="3059375"/>
            <a:ext cx="5490781" cy="112547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5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126E-DD5D-099B-B4C2-C6C28FCE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0CFF7F-BD30-71B9-C1B5-E765DFE1E6A3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708D402-370E-6EF3-40E4-E753E59F3A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5" y="333593"/>
            <a:ext cx="4285235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Prioritization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Grid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-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/>
                <a:ea typeface="+mn-ea"/>
                <a:cs typeface="Calibri"/>
              </a:rPr>
              <a:t>Analysis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B39B74-C5AF-E3D2-A583-F01A66EE11E0}"/>
              </a:ext>
            </a:extLst>
          </p:cNvPr>
          <p:cNvSpPr txBox="1"/>
          <p:nvPr/>
        </p:nvSpPr>
        <p:spPr>
          <a:xfrm>
            <a:off x="307853" y="888121"/>
            <a:ext cx="56349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>
                <a:latin typeface="Avenir Book" panose="02000503020000020003"/>
              </a:rPr>
              <a:t>Background translation app</a:t>
            </a:r>
          </a:p>
          <a:p>
            <a:endParaRPr lang="en-HK" sz="2000">
              <a:latin typeface="Avenir Book" panose="020005030200000200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>
                <a:latin typeface="Avenir Book" panose="02000503020000020003"/>
              </a:rPr>
              <a:t>highest value to users and relatively high level of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>
              <a:latin typeface="Avenir Book" panose="020005030200000200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>
                <a:latin typeface="Avenir Book" panose="02000503020000020003"/>
              </a:rPr>
              <a:t>directly alleviates the problem of language barrier facing by foreigners when they come to China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>
              <a:latin typeface="Avenir Book" panose="020005030200000200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>
                <a:latin typeface="Avenir Book" panose="02000503020000020003"/>
              </a:rPr>
              <a:t>foreigners would also have a gain of accessing to more content which is originally barriered by language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K">
              <a:latin typeface="Avenir Book" panose="020005030200000200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>
                <a:latin typeface="Avenir Book" panose="02000503020000020003"/>
              </a:rPr>
              <a:t>technology threshold of the app is relatively lower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800E5D-E301-E1AA-97B4-6B271263BA47}"/>
              </a:ext>
            </a:extLst>
          </p:cNvPr>
          <p:cNvGrpSpPr/>
          <p:nvPr/>
        </p:nvGrpSpPr>
        <p:grpSpPr>
          <a:xfrm>
            <a:off x="6096000" y="953444"/>
            <a:ext cx="5506961" cy="5484209"/>
            <a:chOff x="6096000" y="953444"/>
            <a:chExt cx="5506961" cy="54842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F37346-FBC7-4D9D-C04A-81872F750626}"/>
                </a:ext>
              </a:extLst>
            </p:cNvPr>
            <p:cNvGrpSpPr/>
            <p:nvPr/>
          </p:nvGrpSpPr>
          <p:grpSpPr>
            <a:xfrm>
              <a:off x="6541921" y="1085966"/>
              <a:ext cx="5042452" cy="4907478"/>
              <a:chOff x="2557670" y="1232452"/>
              <a:chExt cx="5042452" cy="490747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D939AA2-717C-F8AD-CBEB-B4A688115D5B}"/>
                  </a:ext>
                </a:extLst>
              </p:cNvPr>
              <p:cNvSpPr/>
              <p:nvPr/>
            </p:nvSpPr>
            <p:spPr>
              <a:xfrm>
                <a:off x="2570922" y="1232452"/>
                <a:ext cx="4896000" cy="48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7329AC32-90F1-B1C9-1CE4-0663ABE4A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7670" y="6139930"/>
                <a:ext cx="504245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Freeform 31">
                <a:extLst>
                  <a:ext uri="{FF2B5EF4-FFF2-40B4-BE49-F238E27FC236}">
                    <a16:creationId xmlns:a16="http://schemas.microsoft.com/office/drawing/2014/main" id="{DD56A50F-30AF-95F1-534D-0F72CFE0FE75}"/>
                  </a:ext>
                </a:extLst>
              </p:cNvPr>
              <p:cNvSpPr/>
              <p:nvPr/>
            </p:nvSpPr>
            <p:spPr>
              <a:xfrm>
                <a:off x="4850295" y="1232453"/>
                <a:ext cx="2616627" cy="2538940"/>
              </a:xfrm>
              <a:custGeom>
                <a:avLst/>
                <a:gdLst>
                  <a:gd name="connsiteX0" fmla="*/ 0 w 2778448"/>
                  <a:gd name="connsiteY0" fmla="*/ 0 h 2538939"/>
                  <a:gd name="connsiteX1" fmla="*/ 2778448 w 2778448"/>
                  <a:gd name="connsiteY1" fmla="*/ 0 h 2538939"/>
                  <a:gd name="connsiteX2" fmla="*/ 2778448 w 2778448"/>
                  <a:gd name="connsiteY2" fmla="*/ 2538939 h 2538939"/>
                  <a:gd name="connsiteX3" fmla="*/ 2470841 w 2778448"/>
                  <a:gd name="connsiteY3" fmla="*/ 2469924 h 2538939"/>
                  <a:gd name="connsiteX4" fmla="*/ 22682 w 2778448"/>
                  <a:gd name="connsiteY4" fmla="*/ 110829 h 2538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8448" h="2538939">
                    <a:moveTo>
                      <a:pt x="0" y="0"/>
                    </a:moveTo>
                    <a:lnTo>
                      <a:pt x="2778448" y="0"/>
                    </a:lnTo>
                    <a:lnTo>
                      <a:pt x="2778448" y="2538939"/>
                    </a:lnTo>
                    <a:lnTo>
                      <a:pt x="2470841" y="2469924"/>
                    </a:lnTo>
                    <a:cubicBezTo>
                      <a:pt x="1234973" y="2134510"/>
                      <a:pt x="285559" y="1231777"/>
                      <a:pt x="22682" y="11082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Freeform 41">
              <a:extLst>
                <a:ext uri="{FF2B5EF4-FFF2-40B4-BE49-F238E27FC236}">
                  <a16:creationId xmlns:a16="http://schemas.microsoft.com/office/drawing/2014/main" id="{531901B2-76D3-244B-43B7-B0391BB637DA}"/>
                </a:ext>
              </a:extLst>
            </p:cNvPr>
            <p:cNvSpPr/>
            <p:nvPr/>
          </p:nvSpPr>
          <p:spPr>
            <a:xfrm>
              <a:off x="7144813" y="1085973"/>
              <a:ext cx="4300671" cy="4218701"/>
            </a:xfrm>
            <a:custGeom>
              <a:avLst/>
              <a:gdLst>
                <a:gd name="connsiteX0" fmla="*/ 0 w 4300671"/>
                <a:gd name="connsiteY0" fmla="*/ 0 h 4218701"/>
                <a:gd name="connsiteX1" fmla="*/ 4300671 w 4300671"/>
                <a:gd name="connsiteY1" fmla="*/ 0 h 4218701"/>
                <a:gd name="connsiteX2" fmla="*/ 4300671 w 4300671"/>
                <a:gd name="connsiteY2" fmla="*/ 4218701 h 4218701"/>
                <a:gd name="connsiteX3" fmla="*/ 4292495 w 4300671"/>
                <a:gd name="connsiteY3" fmla="*/ 4218495 h 4218701"/>
                <a:gd name="connsiteX4" fmla="*/ 12374 w 4300671"/>
                <a:gd name="connsiteY4" fmla="*/ 162294 h 421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0671" h="4218701">
                  <a:moveTo>
                    <a:pt x="0" y="0"/>
                  </a:moveTo>
                  <a:lnTo>
                    <a:pt x="4300671" y="0"/>
                  </a:lnTo>
                  <a:lnTo>
                    <a:pt x="4300671" y="4218701"/>
                  </a:lnTo>
                  <a:lnTo>
                    <a:pt x="4292495" y="4218495"/>
                  </a:lnTo>
                  <a:cubicBezTo>
                    <a:pt x="2049931" y="4105127"/>
                    <a:pt x="236970" y="2367855"/>
                    <a:pt x="12374" y="16229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1FC7221-3017-FF6A-A3FE-7FF32A65E08E}"/>
                </a:ext>
              </a:extLst>
            </p:cNvPr>
            <p:cNvSpPr/>
            <p:nvPr/>
          </p:nvSpPr>
          <p:spPr>
            <a:xfrm>
              <a:off x="8841983" y="1082253"/>
              <a:ext cx="2616627" cy="2538940"/>
            </a:xfrm>
            <a:custGeom>
              <a:avLst/>
              <a:gdLst>
                <a:gd name="connsiteX0" fmla="*/ 0 w 2778448"/>
                <a:gd name="connsiteY0" fmla="*/ 0 h 2538939"/>
                <a:gd name="connsiteX1" fmla="*/ 2778448 w 2778448"/>
                <a:gd name="connsiteY1" fmla="*/ 0 h 2538939"/>
                <a:gd name="connsiteX2" fmla="*/ 2778448 w 2778448"/>
                <a:gd name="connsiteY2" fmla="*/ 2538939 h 2538939"/>
                <a:gd name="connsiteX3" fmla="*/ 2470841 w 2778448"/>
                <a:gd name="connsiteY3" fmla="*/ 2469924 h 2538939"/>
                <a:gd name="connsiteX4" fmla="*/ 22682 w 2778448"/>
                <a:gd name="connsiteY4" fmla="*/ 110829 h 2538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8448" h="2538939">
                  <a:moveTo>
                    <a:pt x="0" y="0"/>
                  </a:moveTo>
                  <a:lnTo>
                    <a:pt x="2778448" y="0"/>
                  </a:lnTo>
                  <a:lnTo>
                    <a:pt x="2778448" y="2538939"/>
                  </a:lnTo>
                  <a:lnTo>
                    <a:pt x="2470841" y="2469924"/>
                  </a:lnTo>
                  <a:cubicBezTo>
                    <a:pt x="1234973" y="2134510"/>
                    <a:pt x="285559" y="1231777"/>
                    <a:pt x="22682" y="11082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177F5B1-606D-D701-CF5B-E56ACA8E1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5173" y="953444"/>
              <a:ext cx="0" cy="504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4C4E14-A699-88A8-E77A-0437071250C1}"/>
                </a:ext>
              </a:extLst>
            </p:cNvPr>
            <p:cNvGrpSpPr/>
            <p:nvPr/>
          </p:nvGrpSpPr>
          <p:grpSpPr>
            <a:xfrm>
              <a:off x="6504799" y="6068321"/>
              <a:ext cx="4989655" cy="369332"/>
              <a:chOff x="6504799" y="6068321"/>
              <a:chExt cx="4989655" cy="36933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EDDE1B-0EF5-E57C-5AA8-D16A7C4DD579}"/>
                  </a:ext>
                </a:extLst>
              </p:cNvPr>
              <p:cNvSpPr txBox="1"/>
              <p:nvPr/>
            </p:nvSpPr>
            <p:spPr>
              <a:xfrm>
                <a:off x="8275835" y="6068321"/>
                <a:ext cx="1212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latin typeface="Avenir Book" panose="02000503020000020003" pitchFamily="2" charset="0"/>
                  </a:rPr>
                  <a:t>Feasibility</a:t>
                </a:r>
                <a:endParaRPr lang="en-US">
                  <a:latin typeface="Avenir Book" panose="02000503020000020003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ABA70D-58F0-44BD-F6CF-4A2A35B06814}"/>
                  </a:ext>
                </a:extLst>
              </p:cNvPr>
              <p:cNvSpPr txBox="1"/>
              <p:nvPr/>
            </p:nvSpPr>
            <p:spPr>
              <a:xfrm>
                <a:off x="10982775" y="6114488"/>
                <a:ext cx="511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High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3BB654-CCB9-C02A-A3C7-CBC6E39886FB}"/>
                  </a:ext>
                </a:extLst>
              </p:cNvPr>
              <p:cNvSpPr txBox="1"/>
              <p:nvPr/>
            </p:nvSpPr>
            <p:spPr>
              <a:xfrm>
                <a:off x="6504799" y="612058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Low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C528BB-4161-809C-1180-092850551093}"/>
                </a:ext>
              </a:extLst>
            </p:cNvPr>
            <p:cNvGrpSpPr/>
            <p:nvPr/>
          </p:nvGrpSpPr>
          <p:grpSpPr>
            <a:xfrm>
              <a:off x="6096000" y="1085966"/>
              <a:ext cx="450838" cy="4962263"/>
              <a:chOff x="6096000" y="1085966"/>
              <a:chExt cx="450838" cy="496226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FC636B-D859-F32F-9F92-76DE5DD973C7}"/>
                  </a:ext>
                </a:extLst>
              </p:cNvPr>
              <p:cNvSpPr txBox="1"/>
              <p:nvPr/>
            </p:nvSpPr>
            <p:spPr>
              <a:xfrm rot="16200000">
                <a:off x="5907743" y="3497647"/>
                <a:ext cx="745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latin typeface="Avenir Book" panose="02000503020000020003" pitchFamily="2" charset="0"/>
                  </a:rPr>
                  <a:t>Value</a:t>
                </a:r>
                <a:endParaRPr lang="en-US">
                  <a:latin typeface="Avenir Book" panose="02000503020000020003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C1D294-48D9-0F74-61FF-365EFD5EE810}"/>
                  </a:ext>
                </a:extLst>
              </p:cNvPr>
              <p:cNvSpPr txBox="1"/>
              <p:nvPr/>
            </p:nvSpPr>
            <p:spPr>
              <a:xfrm rot="16200000">
                <a:off x="6152499" y="1203306"/>
                <a:ext cx="511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High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AC50D9-F0D9-540D-101A-FCF5EBC36BF6}"/>
                  </a:ext>
                </a:extLst>
              </p:cNvPr>
              <p:cNvSpPr txBox="1"/>
              <p:nvPr/>
            </p:nvSpPr>
            <p:spPr>
              <a:xfrm rot="16200000">
                <a:off x="6173470" y="5677935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aseline="30000">
                    <a:latin typeface="Avenir Book" panose="02000503020000020003" pitchFamily="2" charset="0"/>
                  </a:rPr>
                  <a:t>Low</a:t>
                </a:r>
                <a:endParaRPr lang="en-US" baseline="30000">
                  <a:latin typeface="Avenir Book" panose="02000503020000020003" pitchFamily="2" charset="0"/>
                </a:endParaRPr>
              </a:p>
            </p:txBody>
          </p:sp>
        </p:grpSp>
        <p:pic>
          <p:nvPicPr>
            <p:cNvPr id="11" name="Picture 10" descr="A bowl of salad with watermelon slices&#10;&#10;Description automatically generated">
              <a:extLst>
                <a:ext uri="{FF2B5EF4-FFF2-40B4-BE49-F238E27FC236}">
                  <a16:creationId xmlns:a16="http://schemas.microsoft.com/office/drawing/2014/main" id="{5B1138CA-6222-3879-859A-4000721F8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3704" y="3429000"/>
              <a:ext cx="882000" cy="882000"/>
            </a:xfrm>
            <a:prstGeom prst="rect">
              <a:avLst/>
            </a:prstGeom>
          </p:spPr>
        </p:pic>
        <p:pic>
          <p:nvPicPr>
            <p:cNvPr id="13" name="Picture 12" descr="A closet with clothes on it&#10;&#10;Description automatically generated">
              <a:extLst>
                <a:ext uri="{FF2B5EF4-FFF2-40B4-BE49-F238E27FC236}">
                  <a16:creationId xmlns:a16="http://schemas.microsoft.com/office/drawing/2014/main" id="{D3E56976-F640-FF53-BEBD-AF24DE531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1703" y="3660081"/>
              <a:ext cx="882000" cy="882000"/>
            </a:xfrm>
            <a:prstGeom prst="rect">
              <a:avLst/>
            </a:prstGeom>
          </p:spPr>
        </p:pic>
        <p:pic>
          <p:nvPicPr>
            <p:cNvPr id="18" name="Picture 17" descr="A group of speech bubbles with a foreign language&#10;&#10;Description automatically generated">
              <a:extLst>
                <a:ext uri="{FF2B5EF4-FFF2-40B4-BE49-F238E27FC236}">
                  <a16:creationId xmlns:a16="http://schemas.microsoft.com/office/drawing/2014/main" id="{4E080067-322A-0B8E-DBBC-34CFC912F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88089" y="2089809"/>
              <a:ext cx="882000" cy="882000"/>
            </a:xfrm>
            <a:prstGeom prst="rect">
              <a:avLst/>
            </a:prstGeom>
          </p:spPr>
        </p:pic>
        <p:pic>
          <p:nvPicPr>
            <p:cNvPr id="19" name="Picture 18" descr="A red bus with blue doors&#10;&#10;Description automatically generated">
              <a:extLst>
                <a:ext uri="{FF2B5EF4-FFF2-40B4-BE49-F238E27FC236}">
                  <a16:creationId xmlns:a16="http://schemas.microsoft.com/office/drawing/2014/main" id="{9592A1A1-34F3-D739-F2EA-1E82DEDB9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7885" y="4009066"/>
              <a:ext cx="882000" cy="882000"/>
            </a:xfrm>
            <a:prstGeom prst="rect">
              <a:avLst/>
            </a:prstGeom>
          </p:spPr>
        </p:pic>
        <p:pic>
          <p:nvPicPr>
            <p:cNvPr id="22" name="Picture 21" descr="A hand holding a handle&#10;&#10;Description automatically generated">
              <a:extLst>
                <a:ext uri="{FF2B5EF4-FFF2-40B4-BE49-F238E27FC236}">
                  <a16:creationId xmlns:a16="http://schemas.microsoft.com/office/drawing/2014/main" id="{1044D0C6-C21B-AB07-5998-D3B2410F8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31018" y="4727253"/>
              <a:ext cx="882000" cy="882000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C1811DA-F561-2615-031C-D2AC8B47A84F}"/>
                </a:ext>
              </a:extLst>
            </p:cNvPr>
            <p:cNvCxnSpPr>
              <a:cxnSpLocks/>
            </p:cNvCxnSpPr>
            <p:nvPr/>
          </p:nvCxnSpPr>
          <p:spPr>
            <a:xfrm>
              <a:off x="6560509" y="5989730"/>
              <a:ext cx="50424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60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E5169-AFC3-F2CB-13E7-17E932B89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4000">
                <a:latin typeface="Avenir Book"/>
                <a:cs typeface="Calibri Light"/>
              </a:rPr>
              <a:t>Our Product</a:t>
            </a:r>
            <a:r>
              <a:rPr lang="en-GB" sz="4000" b="1">
                <a:latin typeface="Avenir Book"/>
                <a:cs typeface="Calibri Light"/>
              </a:rPr>
              <a:t>    </a:t>
            </a:r>
            <a:endParaRPr lang="en-GB" sz="4000" b="1">
              <a:latin typeface="Avenir Book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0A2F5B61-76CB-80B2-57DF-93CC39203F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672" r="87040">
                        <a14:foregroundMark x1="81500" y1="45133" x2="74600" y2="54867"/>
                        <a14:foregroundMark x1="74600" y1="54867" x2="78100" y2="47867"/>
                        <a14:foregroundMark x1="74000" y1="43733" x2="79600" y2="53333"/>
                        <a14:foregroundMark x1="79600" y1="53333" x2="73500" y2="44133"/>
                        <a14:foregroundMark x1="73500" y1="44133" x2="73250" y2="44133"/>
                        <a14:foregroundMark x1="68800" y1="43133" x2="68900" y2="55067"/>
                        <a14:foregroundMark x1="68900" y1="55067" x2="77900" y2="57333"/>
                        <a14:foregroundMark x1="77900" y1="57333" x2="83400" y2="46400"/>
                        <a14:foregroundMark x1="83400" y1="46400" x2="76750" y2="38467"/>
                        <a14:foregroundMark x1="76750" y1="38467" x2="68550" y2="43467"/>
                        <a14:foregroundMark x1="68550" y1="43467" x2="68550" y2="48067"/>
                        <a14:foregroundMark x1="62900" y1="50267" x2="62900" y2="50267"/>
                        <a14:foregroundMark x1="56600" y1="50267" x2="56600" y2="50267"/>
                        <a14:foregroundMark x1="53500" y1="49867" x2="53500" y2="49867"/>
                        <a14:foregroundMark x1="46700" y1="45733" x2="46700" y2="45733"/>
                        <a14:foregroundMark x1="42550" y1="49667" x2="42550" y2="49667"/>
                        <a14:foregroundMark x1="37850" y1="49667" x2="37850" y2="49667"/>
                        <a14:foregroundMark x1="31950" y1="50467" x2="31950" y2="50467"/>
                        <a14:foregroundMark x1="25450" y1="46133" x2="25450" y2="46133"/>
                        <a14:foregroundMark x1="17500" y1="46333" x2="17500" y2="46333"/>
                        <a14:foregroundMark x1="84000" y1="44533" x2="84000" y2="44533"/>
                        <a14:foregroundMark x1="83400" y1="37667" x2="74850" y2="37867"/>
                        <a14:foregroundMark x1="70300" y1="38067" x2="70150" y2="54400"/>
                        <a14:foregroundMark x1="70900" y1="59867" x2="79850" y2="60067"/>
                        <a14:foregroundMark x1="79850" y1="60067" x2="79750" y2="60067"/>
                        <a14:foregroundMark x1="81500" y1="59867" x2="81500" y2="43733"/>
                        <a14:backgroundMark x1="25500" y1="17133" x2="35700" y2="17667"/>
                        <a14:backgroundMark x1="35700" y1="17667" x2="61650" y2="17133"/>
                        <a14:backgroundMark x1="61650" y1="17133" x2="72350" y2="17133"/>
                        <a14:backgroundMark x1="55700" y1="9333" x2="43150" y2="19000"/>
                        <a14:backgroundMark x1="43150" y1="19000" x2="35850" y2="21333"/>
                        <a14:backgroundMark x1="15600" y1="7800" x2="15150" y2="28800"/>
                        <a14:backgroundMark x1="62150" y1="51200" x2="62150" y2="51200"/>
                        <a14:backgroundMark x1="62600" y1="50733" x2="62600" y2="50733"/>
                        <a14:backgroundMark x1="35900" y1="51200" x2="35900" y2="51200"/>
                        <a14:backgroundMark x1="24950" y1="51200" x2="24950" y2="51200"/>
                      </a14:backgroundRemoval>
                    </a14:imgEffect>
                  </a14:imgLayer>
                </a14:imgProps>
              </a:ext>
            </a:extLst>
          </a:blip>
          <a:srcRect r="3289" b="-163"/>
          <a:stretch/>
        </p:blipFill>
        <p:spPr>
          <a:xfrm>
            <a:off x="6037505" y="1367935"/>
            <a:ext cx="5305975" cy="4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0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FB1A-7F2C-1E2A-28A1-CE238C3A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6B6A88-D908-1A5D-F1A7-54C655550526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DCBF55-F711-E6BD-A654-176353A75F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5488796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Market segmentation and targeting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57312-E6ED-2975-5FF4-77FA74CF7E08}"/>
              </a:ext>
            </a:extLst>
          </p:cNvPr>
          <p:cNvSpPr/>
          <p:nvPr/>
        </p:nvSpPr>
        <p:spPr>
          <a:xfrm>
            <a:off x="486917" y="1208287"/>
            <a:ext cx="2071752" cy="157599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Avenir Book" panose="02000503020000020003" pitchFamily="2" charset="0"/>
              </a:rPr>
              <a:t>Target Segment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AB417-55F3-052B-4FD0-59ACBF3E096E}"/>
              </a:ext>
            </a:extLst>
          </p:cNvPr>
          <p:cNvSpPr/>
          <p:nvPr/>
        </p:nvSpPr>
        <p:spPr>
          <a:xfrm>
            <a:off x="2655210" y="1208287"/>
            <a:ext cx="9049873" cy="157599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foreign tourists and expatriates in M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ainland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China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EC560-9B41-A7EA-4192-CF7AA4199608}"/>
              </a:ext>
            </a:extLst>
          </p:cNvPr>
          <p:cNvSpPr/>
          <p:nvPr/>
        </p:nvSpPr>
        <p:spPr>
          <a:xfrm>
            <a:off x="486917" y="2918094"/>
            <a:ext cx="2071752" cy="157599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Avenir Book" panose="02000503020000020003" pitchFamily="2" charset="0"/>
              </a:rPr>
              <a:t>Problems and Characteristics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BC76A-6E31-9885-4784-24396AB24A88}"/>
              </a:ext>
            </a:extLst>
          </p:cNvPr>
          <p:cNvSpPr/>
          <p:nvPr/>
        </p:nvSpPr>
        <p:spPr>
          <a:xfrm>
            <a:off x="2655210" y="2918094"/>
            <a:ext cx="9049873" cy="157599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those with low level of proficiency in Chinese, they are facing language barrier when reading or using Chinese websites and software, including payment applications and mini-apps (WeChat, 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Taobao, etc.</a:t>
            </a: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inadvertently miss some Chinese contents that maybe useful because of language barriers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BE48E-D748-086D-B4FD-BF6E80FBB498}"/>
              </a:ext>
            </a:extLst>
          </p:cNvPr>
          <p:cNvSpPr/>
          <p:nvPr/>
        </p:nvSpPr>
        <p:spPr>
          <a:xfrm>
            <a:off x="486917" y="4627902"/>
            <a:ext cx="2071752" cy="157599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Avenir Book" panose="02000503020000020003" pitchFamily="2" charset="0"/>
              </a:rPr>
              <a:t>Demand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81944-DC41-BFB9-77CD-FC8394CD842A}"/>
              </a:ext>
            </a:extLst>
          </p:cNvPr>
          <p:cNvSpPr/>
          <p:nvPr/>
        </p:nvSpPr>
        <p:spPr>
          <a:xfrm>
            <a:off x="2655210" y="4627902"/>
            <a:ext cx="9049873" cy="157599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need translation from Chinese in overcoming language barriers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access more diverse contents with Chinese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 more convenient translation method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C2FDC4E-374E-3D1B-8F41-3D10A39BAF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5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07AE45-5232-7FEC-8FBC-6335A1053456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6C4061-4418-80EE-7573-F35063047B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2506282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Market size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1D3D8AF7-FA38-041D-445D-C74539BE3A4A}"/>
              </a:ext>
            </a:extLst>
          </p:cNvPr>
          <p:cNvSpPr/>
          <p:nvPr/>
        </p:nvSpPr>
        <p:spPr>
          <a:xfrm>
            <a:off x="504580" y="1433152"/>
            <a:ext cx="5317313" cy="1674175"/>
          </a:xfrm>
          <a:prstGeom prst="can">
            <a:avLst/>
          </a:prstGeom>
          <a:solidFill>
            <a:schemeClr val="accent1"/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TAM</a:t>
            </a:r>
          </a:p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$65M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DE6482FB-2489-FF84-201F-B4D6F108255F}"/>
              </a:ext>
            </a:extLst>
          </p:cNvPr>
          <p:cNvSpPr/>
          <p:nvPr/>
        </p:nvSpPr>
        <p:spPr>
          <a:xfrm>
            <a:off x="893923" y="3374304"/>
            <a:ext cx="4538627" cy="1429446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SAM</a:t>
            </a:r>
          </a:p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$19M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7C4B90AD-81A5-383B-00C2-4B5F5BBB8B3A}"/>
              </a:ext>
            </a:extLst>
          </p:cNvPr>
          <p:cNvSpPr/>
          <p:nvPr/>
        </p:nvSpPr>
        <p:spPr>
          <a:xfrm>
            <a:off x="1294390" y="5059602"/>
            <a:ext cx="3737693" cy="1179155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SOM</a:t>
            </a:r>
          </a:p>
          <a:p>
            <a:pPr algn="ctr"/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  <a:ea typeface="Calibri"/>
                <a:cs typeface="Calibri"/>
              </a:rPr>
              <a:t>$1.5M</a:t>
            </a:r>
            <a:endParaRPr lang="en-GB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4BDB2E-6E78-AFB6-7ABD-97359E211ADE}"/>
                  </a:ext>
                </a:extLst>
              </p:cNvPr>
              <p:cNvSpPr txBox="1"/>
              <p:nvPr/>
            </p:nvSpPr>
            <p:spPr>
              <a:xfrm>
                <a:off x="5821893" y="1269356"/>
                <a:ext cx="6085127" cy="200176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libri"/>
                          <a:cs typeface="Calibri"/>
                        </a:rPr>
                        <m:t>TAM</m:t>
                      </m:r>
                    </m:oMath>
                  </m:oMathPara>
                </a14:m>
                <a:endParaRPr lang="en-US" b="0" i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=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short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&amp; 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long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stay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foreigners</m:t>
                    </m:r>
                    <m:r>
                      <m:rPr>
                        <m:nor/>
                      </m:rPr>
                      <a:rPr lang="en-GB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fraction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with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language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barrier</m:t>
                    </m:r>
                    <m:r>
                      <m:rPr>
                        <m:nor/>
                      </m:rPr>
                      <a:rPr lang="en-GB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a:rPr lang="en-GB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</m:t>
                    </m:r>
                    <m:r>
                      <m:rPr>
                        <m:nor/>
                      </m:rPr>
                      <a:rPr lang="en-GB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fraction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tends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to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use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libri"/>
                        <a:cs typeface="Calibri"/>
                      </a:rPr>
                      <m:t>miniapps</m:t>
                    </m:r>
                    <m:r>
                      <a:rPr lang="en-GB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benefit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gained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per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venir Book" panose="02000503020000020003" pitchFamily="2" charset="0"/>
                        <a:ea typeface="Cambria Math" panose="02040503050406030204" pitchFamily="18" charset="0"/>
                        <a:cs typeface="Calibri"/>
                      </a:rPr>
                      <m:t>user</m:t>
                    </m:r>
                  </m:oMath>
                </a14:m>
                <a:r>
                  <a:rPr lang="en-US" b="0" i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  <a:ea typeface="Calibri"/>
                    <a:cs typeface="Calibri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81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𝐾</m:t>
                          </m:r>
                          <m:r>
                            <a:rPr lang="en-US" b="0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∗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+1430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𝐾</m:t>
                          </m:r>
                          <m:r>
                            <a:rPr lang="en-US" b="0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×90%×60%</m:t>
                      </m:r>
                      <m:r>
                        <a:rPr lang="en-US" b="0" i="1" baseline="3000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4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$40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𝑚𝑜𝑛𝑡h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2 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𝑚𝑜𝑛𝑡h𝑠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𝑢𝑠𝑒𝑟</m:t>
                          </m:r>
                        </m:den>
                      </m:f>
                    </m:oMath>
                  </m:oMathPara>
                </a14:m>
                <a:endParaRPr lang="en-US" b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mbria Math" panose="02040503050406030204" pitchFamily="18" charset="0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=65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𝑀</m:t>
                      </m:r>
                    </m:oMath>
                  </m:oMathPara>
                </a14:m>
                <a:endParaRPr lang="en-US" b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mbria Math" panose="02040503050406030204" pitchFamily="18" charset="0"/>
                  <a:cs typeface="Calibri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4BDB2E-6E78-AFB6-7ABD-97359E21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893" y="1269356"/>
                <a:ext cx="6085127" cy="20017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0F7593-6673-B494-2FD5-E288DB3912AD}"/>
                  </a:ext>
                </a:extLst>
              </p:cNvPr>
              <p:cNvSpPr txBox="1"/>
              <p:nvPr/>
            </p:nvSpPr>
            <p:spPr>
              <a:xfrm>
                <a:off x="5432550" y="3488862"/>
                <a:ext cx="6496213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libri"/>
                          <a:cs typeface="Calibri"/>
                        </a:rPr>
                        <m:t>SAM</m:t>
                      </m:r>
                    </m:oMath>
                  </m:oMathPara>
                </a14:m>
                <a:endParaRPr lang="en-US" b="0" i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libri"/>
                          <a:cs typeface="Calibri"/>
                        </a:rPr>
                        <m:t>TAM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fraction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of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foreigners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in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Guangdong</m:t>
                      </m:r>
                    </m:oMath>
                  </m:oMathPara>
                </a14:m>
                <a:endParaRPr lang="en-GB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65</m:t>
                    </m:r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𝑀</m:t>
                    </m:r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×29.3%</m:t>
                    </m:r>
                  </m:oMath>
                </a14:m>
                <a:r>
                  <a:rPr lang="en-GB" baseline="3000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  <a:ea typeface="Calibri"/>
                    <a:cs typeface="Calibri"/>
                  </a:rPr>
                  <a:t>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19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𝑀</m:t>
                      </m:r>
                    </m:oMath>
                  </m:oMathPara>
                </a14:m>
                <a:endParaRPr lang="en-GB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0F7593-6673-B494-2FD5-E288DB391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50" y="3488862"/>
                <a:ext cx="6496213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AF99C4-7E1E-CF2C-AC6B-6DF38C38B81B}"/>
                  </a:ext>
                </a:extLst>
              </p:cNvPr>
              <p:cNvSpPr txBox="1"/>
              <p:nvPr/>
            </p:nvSpPr>
            <p:spPr>
              <a:xfrm>
                <a:off x="5032082" y="5049014"/>
                <a:ext cx="6896679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libri"/>
                          <a:cs typeface="Calibri"/>
                        </a:rPr>
                        <m:t>SOM</m:t>
                      </m:r>
                    </m:oMath>
                  </m:oMathPara>
                </a14:m>
                <a:endParaRPr lang="en-US" b="0" i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libri"/>
                          <a:cs typeface="Calibri"/>
                        </a:rPr>
                        <m:t>SAM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fraction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of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  <a:ea typeface="Cambria Math" panose="02040503050406030204" pitchFamily="18" charset="0"/>
                          <a:cs typeface="Calibri"/>
                        </a:rPr>
                        <m:t>obtainable</m:t>
                      </m:r>
                    </m:oMath>
                  </m:oMathPara>
                </a14:m>
                <a:endParaRPr lang="en-GB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12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×8%</m:t>
                      </m:r>
                    </m:oMath>
                  </m:oMathPara>
                </a14:m>
                <a:endParaRPr lang="en-GB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1.5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𝑀</m:t>
                      </m:r>
                    </m:oMath>
                  </m:oMathPara>
                </a14:m>
                <a:endParaRPr lang="en-GB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AF99C4-7E1E-CF2C-AC6B-6DF38C38B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82" y="5049014"/>
                <a:ext cx="6896679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AAD55AE-3616-8B85-0E13-74791611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6603"/>
            <a:ext cx="4114800" cy="365125"/>
          </a:xfrm>
        </p:spPr>
        <p:txBody>
          <a:bodyPr/>
          <a:lstStyle/>
          <a:p>
            <a:r>
              <a:rPr lang="en-US"/>
              <a:t>* Calculated by Little’s Law with references 1 and 2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208E910-0477-7012-8304-A7054F51EE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6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5D09-18E3-E1B2-159E-8C388102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2D6CB-AE1C-E878-026C-C81885801C15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ABE683E-CD68-5CB4-FCD9-8AF29A62FAE4}"/>
              </a:ext>
            </a:extLst>
          </p:cNvPr>
          <p:cNvSpPr txBox="1">
            <a:spLocks/>
          </p:cNvSpPr>
          <p:nvPr/>
        </p:nvSpPr>
        <p:spPr>
          <a:xfrm>
            <a:off x="375976" y="339073"/>
            <a:ext cx="5488796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b="1">
                <a:latin typeface="Avenir Book" panose="02000503020000020003" pitchFamily="2" charset="0"/>
                <a:ea typeface="+mn-ea"/>
                <a:cs typeface="Calibri"/>
              </a:rPr>
              <a:t>Persona</a:t>
            </a:r>
            <a:endParaRPr lang="en-US" sz="1800">
              <a:latin typeface="Avenir Book" panose="02000503020000020003" pitchFamily="2" charset="0"/>
              <a:ea typeface="+mn-ea"/>
              <a:cs typeface="+mn-cs"/>
            </a:endParaRPr>
          </a:p>
        </p:txBody>
      </p:sp>
      <p:pic>
        <p:nvPicPr>
          <p:cNvPr id="5" name="Picture 4" descr="A person and person cartoon characters&#10;&#10;Description automatically generated">
            <a:extLst>
              <a:ext uri="{FF2B5EF4-FFF2-40B4-BE49-F238E27FC236}">
                <a16:creationId xmlns:a16="http://schemas.microsoft.com/office/drawing/2014/main" id="{F674F212-58B5-701D-B024-C7936563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29" y="1451354"/>
            <a:ext cx="1457446" cy="1457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03C0A-465E-3F05-B83E-0627E8F928FD}"/>
              </a:ext>
            </a:extLst>
          </p:cNvPr>
          <p:cNvSpPr txBox="1"/>
          <p:nvPr/>
        </p:nvSpPr>
        <p:spPr>
          <a:xfrm>
            <a:off x="375976" y="3090447"/>
            <a:ext cx="35881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Mr.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Mrs.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Chan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Going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sightseeing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China</a:t>
            </a:r>
          </a:p>
          <a:p>
            <a:endParaRPr lang="en-US" altLang="zh-TW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Have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access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Have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their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own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not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join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tour-groups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are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ordering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food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restaurant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endParaRPr lang="en-US" altLang="zh-TW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opened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digital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menu…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D7008F1C-4509-BF3B-19FB-DB92694E0EB4}"/>
              </a:ext>
            </a:extLst>
          </p:cNvPr>
          <p:cNvSpPr/>
          <p:nvPr/>
        </p:nvSpPr>
        <p:spPr>
          <a:xfrm>
            <a:off x="4252033" y="781920"/>
            <a:ext cx="3687934" cy="400111"/>
          </a:xfrm>
          <a:prstGeom prst="chevron">
            <a:avLst>
              <a:gd name="adj" fmla="val 1497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Without</a:t>
            </a:r>
            <a:r>
              <a:rPr lang="zh-TW" altLang="en-US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our</a:t>
            </a:r>
            <a:r>
              <a:rPr lang="zh-TW" altLang="en-US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product</a:t>
            </a:r>
            <a:endParaRPr lang="en-US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B73CB30E-402E-C383-3882-FAAFF8246872}"/>
              </a:ext>
            </a:extLst>
          </p:cNvPr>
          <p:cNvSpPr/>
          <p:nvPr/>
        </p:nvSpPr>
        <p:spPr>
          <a:xfrm>
            <a:off x="4252033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 try to ask help from staffs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F413156A-D171-BFBE-01D3-C65DE62C46AA}"/>
              </a:ext>
            </a:extLst>
          </p:cNvPr>
          <p:cNvSpPr/>
          <p:nvPr/>
        </p:nvSpPr>
        <p:spPr>
          <a:xfrm>
            <a:off x="6564086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However, they are not able to communicate…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DF60AD3A-60EF-2DF3-1B82-B4F11D4673E1}"/>
              </a:ext>
            </a:extLst>
          </p:cNvPr>
          <p:cNvSpPr/>
          <p:nvPr/>
        </p:nvSpPr>
        <p:spPr>
          <a:xfrm>
            <a:off x="8873581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Helplessly, they screenshot the menu page by page and upload them onto translation app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176A5C3F-1CEC-E3C9-6A53-889B0A3F0F54}"/>
              </a:ext>
            </a:extLst>
          </p:cNvPr>
          <p:cNvSpPr/>
          <p:nvPr/>
        </p:nvSpPr>
        <p:spPr>
          <a:xfrm>
            <a:off x="4254591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 wordings are badly translated without presenting the meaning exactly</a:t>
            </a: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D6338A41-7E09-FAD1-B836-2A3A5735409D}"/>
              </a:ext>
            </a:extLst>
          </p:cNvPr>
          <p:cNvSpPr/>
          <p:nvPr/>
        </p:nvSpPr>
        <p:spPr>
          <a:xfrm>
            <a:off x="6564086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 can only order according to the cuisine photos</a:t>
            </a: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10D9D369-FED4-8B29-3DEB-8EC761A8D2C1}"/>
              </a:ext>
            </a:extLst>
          </p:cNvPr>
          <p:cNvSpPr/>
          <p:nvPr/>
        </p:nvSpPr>
        <p:spPr>
          <a:xfrm>
            <a:off x="8873581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 feel sad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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7" name="Picture 6" descr="A couple of people talking&#10;&#10;Description automatically generated">
            <a:extLst>
              <a:ext uri="{FF2B5EF4-FFF2-40B4-BE49-F238E27FC236}">
                <a16:creationId xmlns:a16="http://schemas.microsoft.com/office/drawing/2014/main" id="{769E71F2-E9FB-1CF9-8A82-A284194BB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80" y="-12561"/>
            <a:ext cx="1376371" cy="1376371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9AA47B5C-F9EF-EA25-D76F-A59B664A16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544A31-58D1-9E3E-985A-6157A9A776A2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13196DC-E140-559C-F205-C06E8283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5" y="333593"/>
            <a:ext cx="6288058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Pain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points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(what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we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saw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in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the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lang="en-US" altLang="zh-TW" sz="2000" b="1">
                <a:latin typeface="Avenir Book" panose="02000503020000020003" pitchFamily="2" charset="0"/>
                <a:ea typeface="+mn-ea"/>
                <a:cs typeface="Calibri"/>
              </a:rPr>
              <a:t>persona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)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AFE36-7AF4-3917-A897-6FDBF277D3F2}"/>
              </a:ext>
            </a:extLst>
          </p:cNvPr>
          <p:cNvSpPr/>
          <p:nvPr/>
        </p:nvSpPr>
        <p:spPr>
          <a:xfrm>
            <a:off x="721217" y="1208287"/>
            <a:ext cx="1837452" cy="157599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latin typeface="Avenir Book" panose="02000503020000020003" pitchFamily="2" charset="0"/>
              </a:rPr>
              <a:t>Functional</a:t>
            </a:r>
            <a:r>
              <a:rPr lang="zh-TW" altLang="en-US">
                <a:latin typeface="Avenir Book" panose="02000503020000020003" pitchFamily="2" charset="0"/>
              </a:rPr>
              <a:t> </a:t>
            </a:r>
            <a:r>
              <a:rPr lang="en-US" altLang="zh-TW">
                <a:latin typeface="Avenir Book" panose="02000503020000020003" pitchFamily="2" charset="0"/>
              </a:rPr>
              <a:t>Jobs</a:t>
            </a:r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41925A-1A0D-FE32-7A7A-E5BB7C8C286C}"/>
              </a:ext>
            </a:extLst>
          </p:cNvPr>
          <p:cNvSpPr/>
          <p:nvPr/>
        </p:nvSpPr>
        <p:spPr>
          <a:xfrm>
            <a:off x="2655210" y="1208287"/>
            <a:ext cx="9049873" cy="1575993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Perform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online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administrative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tasks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such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ordering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food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mini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programs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WeChat,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Alipay, etc.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Want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get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rid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of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inconvenience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caused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by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turning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on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off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VPN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when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switching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between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foreign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translators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mainland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paying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 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applications.</a:t>
            </a:r>
            <a:endParaRPr lang="en-GB">
              <a:solidFill>
                <a:srgbClr val="000000"/>
              </a:solidFill>
              <a:latin typeface="Avenir Book" panose="02000503020000020003" pitchFamily="2" charset="0"/>
              <a:ea typeface="新細明體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33C8B-D5FA-8928-072B-DC1E252D8A18}"/>
              </a:ext>
            </a:extLst>
          </p:cNvPr>
          <p:cNvSpPr/>
          <p:nvPr/>
        </p:nvSpPr>
        <p:spPr>
          <a:xfrm>
            <a:off x="721217" y="2918094"/>
            <a:ext cx="1837452" cy="157599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latin typeface="Avenir Book" panose="02000503020000020003" pitchFamily="2" charset="0"/>
              </a:rPr>
              <a:t>Emotional</a:t>
            </a:r>
            <a:r>
              <a:rPr lang="zh-TW" altLang="en-US">
                <a:latin typeface="Avenir Book" panose="02000503020000020003" pitchFamily="2" charset="0"/>
              </a:rPr>
              <a:t> </a:t>
            </a:r>
            <a:r>
              <a:rPr lang="en-US" altLang="zh-TW">
                <a:latin typeface="Avenir Book" panose="02000503020000020003" pitchFamily="2" charset="0"/>
              </a:rPr>
              <a:t>Jobs</a:t>
            </a:r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D596E-52E1-C4AE-9644-0398D58CF689}"/>
              </a:ext>
            </a:extLst>
          </p:cNvPr>
          <p:cNvSpPr/>
          <p:nvPr/>
        </p:nvSpPr>
        <p:spPr>
          <a:xfrm>
            <a:off x="2655210" y="2918094"/>
            <a:ext cx="9049873" cy="157599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Do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not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want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feel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insecure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frustrated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seek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help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every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time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when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encounter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a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new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mini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program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without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/>
                <a:ea typeface="新細明體"/>
              </a:rPr>
              <a:t>translation</a:t>
            </a:r>
            <a:endParaRPr lang="en-GB">
              <a:solidFill>
                <a:schemeClr val="accent1">
                  <a:lumMod val="50000"/>
                </a:schemeClr>
              </a:solidFill>
              <a:latin typeface="Avenir Book"/>
              <a:ea typeface="新細明體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1A92F6-0EE8-6CBE-5BF5-7E1594B05338}"/>
              </a:ext>
            </a:extLst>
          </p:cNvPr>
          <p:cNvSpPr/>
          <p:nvPr/>
        </p:nvSpPr>
        <p:spPr>
          <a:xfrm>
            <a:off x="721217" y="4627902"/>
            <a:ext cx="1837452" cy="157599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latin typeface="Avenir Book" panose="02000503020000020003" pitchFamily="2" charset="0"/>
              </a:rPr>
              <a:t>Social</a:t>
            </a:r>
            <a:r>
              <a:rPr lang="zh-TW" altLang="en-US">
                <a:latin typeface="Avenir Book" panose="02000503020000020003" pitchFamily="2" charset="0"/>
              </a:rPr>
              <a:t> </a:t>
            </a:r>
            <a:r>
              <a:rPr lang="en-US" altLang="zh-TW">
                <a:latin typeface="Avenir Book" panose="02000503020000020003" pitchFamily="2" charset="0"/>
              </a:rPr>
              <a:t>Jobs</a:t>
            </a:r>
            <a:endParaRPr lang="en-GB">
              <a:latin typeface="Avenir Book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878E53-2654-8852-933C-0AD7F80FB52E}"/>
              </a:ext>
            </a:extLst>
          </p:cNvPr>
          <p:cNvSpPr/>
          <p:nvPr/>
        </p:nvSpPr>
        <p:spPr>
          <a:xfrm>
            <a:off x="2655210" y="4627902"/>
            <a:ext cx="9049873" cy="157599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Want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perform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more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independently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by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not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reaching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out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help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from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other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staff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locals when they are reluctant / cannot speak foreign languages</a:t>
            </a:r>
            <a:endParaRPr lang="en-GB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CB02D61-B7A1-94AB-A8DB-6024FDB9E012}"/>
              </a:ext>
            </a:extLst>
          </p:cNvPr>
          <p:cNvCxnSpPr>
            <a:cxnSpLocks/>
          </p:cNvCxnSpPr>
          <p:nvPr/>
        </p:nvCxnSpPr>
        <p:spPr>
          <a:xfrm>
            <a:off x="540913" y="1208287"/>
            <a:ext cx="0" cy="4995608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/>
                </a:gs>
                <a:gs pos="100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0BFFA5-3AFF-A5FC-E6C1-FFFE8D195F51}"/>
              </a:ext>
            </a:extLst>
          </p:cNvPr>
          <p:cNvSpPr txBox="1"/>
          <p:nvPr/>
        </p:nvSpPr>
        <p:spPr>
          <a:xfrm rot="16200000">
            <a:off x="-385375" y="3521424"/>
            <a:ext cx="144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Importance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01E39485-1E0C-2336-1CBE-3EC130ED7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phone&#10;&#10;Description automatically generated">
            <a:extLst>
              <a:ext uri="{FF2B5EF4-FFF2-40B4-BE49-F238E27FC236}">
                <a16:creationId xmlns:a16="http://schemas.microsoft.com/office/drawing/2014/main" id="{6E85315A-90F3-B67F-00B6-74D71BA1E7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9" t="929" r="4214" b="1017"/>
          <a:stretch/>
        </p:blipFill>
        <p:spPr>
          <a:xfrm>
            <a:off x="4838807" y="1119929"/>
            <a:ext cx="2514386" cy="5110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79DB5E-820D-50C3-5927-8C48EA87DE19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80DFE4-954F-F3B0-6DBE-9C1F479D55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2506282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Solution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1E77EDD-B967-623D-2527-CC7DD437BBF0}"/>
              </a:ext>
            </a:extLst>
          </p:cNvPr>
          <p:cNvSpPr/>
          <p:nvPr/>
        </p:nvSpPr>
        <p:spPr>
          <a:xfrm>
            <a:off x="8158424" y="1240636"/>
            <a:ext cx="3657600" cy="828936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/>
              </a:rPr>
              <a:t>Background application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CE6D8A-736B-D4BE-64EC-0746569B0C9A}"/>
              </a:ext>
            </a:extLst>
          </p:cNvPr>
          <p:cNvSpPr/>
          <p:nvPr/>
        </p:nvSpPr>
        <p:spPr>
          <a:xfrm>
            <a:off x="375976" y="1240636"/>
            <a:ext cx="3657600" cy="82893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Avenir Book" panose="02000503020000020003" pitchFamily="2" charset="0"/>
              </a:rPr>
              <a:t>Switching from app to app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6F8DA4-A893-04BF-EB13-4BF6BBD37E04}"/>
              </a:ext>
            </a:extLst>
          </p:cNvPr>
          <p:cNvSpPr/>
          <p:nvPr/>
        </p:nvSpPr>
        <p:spPr>
          <a:xfrm>
            <a:off x="8158424" y="2287739"/>
            <a:ext cx="3657600" cy="828936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Develop in mainland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087879F-DFA3-1CB3-7867-A34C3B0F19A3}"/>
              </a:ext>
            </a:extLst>
          </p:cNvPr>
          <p:cNvSpPr/>
          <p:nvPr/>
        </p:nvSpPr>
        <p:spPr>
          <a:xfrm>
            <a:off x="375976" y="2287739"/>
            <a:ext cx="3657600" cy="82893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Avenir Book" panose="02000503020000020003" pitchFamily="2" charset="0"/>
              </a:rPr>
              <a:t>Switching on and off VPN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BE433A8-A793-B70D-7507-E650B10B00FC}"/>
              </a:ext>
            </a:extLst>
          </p:cNvPr>
          <p:cNvSpPr/>
          <p:nvPr/>
        </p:nvSpPr>
        <p:spPr>
          <a:xfrm>
            <a:off x="8158424" y="3334842"/>
            <a:ext cx="3657600" cy="1389558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More accurate and localized translation according to various industries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5CBC49A-0CD5-71DA-DDF6-765A0EF5C5AD}"/>
              </a:ext>
            </a:extLst>
          </p:cNvPr>
          <p:cNvSpPr/>
          <p:nvPr/>
        </p:nvSpPr>
        <p:spPr>
          <a:xfrm>
            <a:off x="375976" y="3334842"/>
            <a:ext cx="3657600" cy="138955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Avenir Book" panose="02000503020000020003" pitchFamily="2" charset="0"/>
              </a:rPr>
              <a:t>Feel frustrated when reaching out for help / cannot seek help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0DDB96-22EE-E67E-76A5-649BC9662925}"/>
              </a:ext>
            </a:extLst>
          </p:cNvPr>
          <p:cNvSpPr/>
          <p:nvPr/>
        </p:nvSpPr>
        <p:spPr>
          <a:xfrm>
            <a:off x="8158424" y="4942567"/>
            <a:ext cx="3657600" cy="1125724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One-click translation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within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selected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adjustable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frame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until switched off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696A512-514F-5FD4-6698-9250911DB492}"/>
              </a:ext>
            </a:extLst>
          </p:cNvPr>
          <p:cNvSpPr/>
          <p:nvPr/>
        </p:nvSpPr>
        <p:spPr>
          <a:xfrm>
            <a:off x="375976" y="4942567"/>
            <a:ext cx="3657600" cy="112572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Avenir Book" panose="02000503020000020003" pitchFamily="2" charset="0"/>
              </a:rPr>
              <a:t>Inconvenience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05F1244A-E013-43E1-F324-22E390232A9A}"/>
              </a:ext>
            </a:extLst>
          </p:cNvPr>
          <p:cNvCxnSpPr>
            <a:stCxn id="19" idx="3"/>
          </p:cNvCxnSpPr>
          <p:nvPr/>
        </p:nvCxnSpPr>
        <p:spPr>
          <a:xfrm>
            <a:off x="4033576" y="1660150"/>
            <a:ext cx="854142" cy="612451"/>
          </a:xfrm>
          <a:prstGeom prst="bentConnector3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F0DA2276-C37F-46E3-818F-59FBA6F6728F}"/>
              </a:ext>
            </a:extLst>
          </p:cNvPr>
          <p:cNvCxnSpPr>
            <a:cxnSpLocks/>
          </p:cNvCxnSpPr>
          <p:nvPr/>
        </p:nvCxnSpPr>
        <p:spPr>
          <a:xfrm>
            <a:off x="4033576" y="2702207"/>
            <a:ext cx="808726" cy="414468"/>
          </a:xfrm>
          <a:prstGeom prst="bentConnector3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130CA89-4969-CB34-84C4-DBBAE41533A9}"/>
              </a:ext>
            </a:extLst>
          </p:cNvPr>
          <p:cNvCxnSpPr>
            <a:cxnSpLocks/>
          </p:cNvCxnSpPr>
          <p:nvPr/>
        </p:nvCxnSpPr>
        <p:spPr>
          <a:xfrm flipV="1">
            <a:off x="4033576" y="3817341"/>
            <a:ext cx="854143" cy="212280"/>
          </a:xfrm>
          <a:prstGeom prst="bentConnector3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793741E-FC54-DB4D-C751-E1BD9CAF4826}"/>
              </a:ext>
            </a:extLst>
          </p:cNvPr>
          <p:cNvCxnSpPr>
            <a:cxnSpLocks/>
          </p:cNvCxnSpPr>
          <p:nvPr/>
        </p:nvCxnSpPr>
        <p:spPr>
          <a:xfrm flipV="1">
            <a:off x="4033576" y="4833904"/>
            <a:ext cx="854143" cy="678282"/>
          </a:xfrm>
          <a:prstGeom prst="bentConnector3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2EF0B04-7DB5-B85F-A8E2-2C50AB91072D}"/>
              </a:ext>
            </a:extLst>
          </p:cNvPr>
          <p:cNvCxnSpPr>
            <a:cxnSpLocks/>
          </p:cNvCxnSpPr>
          <p:nvPr/>
        </p:nvCxnSpPr>
        <p:spPr>
          <a:xfrm flipV="1">
            <a:off x="7339729" y="1665196"/>
            <a:ext cx="818695" cy="602357"/>
          </a:xfrm>
          <a:prstGeom prst="bentConnector3">
            <a:avLst/>
          </a:prstGeom>
          <a:ln w="222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9D0EF76F-9E9E-857C-FF4E-367B7FF15D5E}"/>
              </a:ext>
            </a:extLst>
          </p:cNvPr>
          <p:cNvCxnSpPr>
            <a:cxnSpLocks/>
          </p:cNvCxnSpPr>
          <p:nvPr/>
        </p:nvCxnSpPr>
        <p:spPr>
          <a:xfrm flipV="1">
            <a:off x="7344776" y="2738102"/>
            <a:ext cx="813647" cy="378573"/>
          </a:xfrm>
          <a:prstGeom prst="bentConnector3">
            <a:avLst/>
          </a:prstGeom>
          <a:ln w="222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8CF020FA-85EA-6D21-7771-0EE579D37B37}"/>
              </a:ext>
            </a:extLst>
          </p:cNvPr>
          <p:cNvCxnSpPr>
            <a:cxnSpLocks/>
          </p:cNvCxnSpPr>
          <p:nvPr/>
        </p:nvCxnSpPr>
        <p:spPr>
          <a:xfrm>
            <a:off x="7333089" y="3820749"/>
            <a:ext cx="825334" cy="209173"/>
          </a:xfrm>
          <a:prstGeom prst="bentConnector3">
            <a:avLst/>
          </a:prstGeom>
          <a:ln w="222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06101044-7D4B-C87E-9B2E-5E819410DB06}"/>
              </a:ext>
            </a:extLst>
          </p:cNvPr>
          <p:cNvCxnSpPr>
            <a:cxnSpLocks/>
          </p:cNvCxnSpPr>
          <p:nvPr/>
        </p:nvCxnSpPr>
        <p:spPr>
          <a:xfrm>
            <a:off x="7344776" y="4828819"/>
            <a:ext cx="813647" cy="721377"/>
          </a:xfrm>
          <a:prstGeom prst="bentConnector3">
            <a:avLst/>
          </a:prstGeom>
          <a:ln w="222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44C5B7F1-991E-AB64-0715-5521A161CE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97A175E-7D95-3F9A-08C7-8B307D347CF4}"/>
              </a:ext>
            </a:extLst>
          </p:cNvPr>
          <p:cNvGrpSpPr/>
          <p:nvPr/>
        </p:nvGrpSpPr>
        <p:grpSpPr>
          <a:xfrm>
            <a:off x="4838807" y="1119928"/>
            <a:ext cx="2514386" cy="5110564"/>
            <a:chOff x="4838807" y="1119928"/>
            <a:chExt cx="2514386" cy="51105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261F472-830D-F6E4-A7E8-A7003162977D}"/>
                </a:ext>
              </a:extLst>
            </p:cNvPr>
            <p:cNvGrpSpPr/>
            <p:nvPr/>
          </p:nvGrpSpPr>
          <p:grpSpPr>
            <a:xfrm>
              <a:off x="4838807" y="1119928"/>
              <a:ext cx="2514386" cy="5110564"/>
              <a:chOff x="4838807" y="1119928"/>
              <a:chExt cx="2514386" cy="5110564"/>
            </a:xfrm>
          </p:grpSpPr>
          <p:pic>
            <p:nvPicPr>
              <p:cNvPr id="6" name="Picture 5" descr="A screen shot of a phone&#10;&#10;Description automatically generated">
                <a:extLst>
                  <a:ext uri="{FF2B5EF4-FFF2-40B4-BE49-F238E27FC236}">
                    <a16:creationId xmlns:a16="http://schemas.microsoft.com/office/drawing/2014/main" id="{51A65443-EC84-DCC1-7A19-278D92B2A9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843" t="1072" r="2663"/>
              <a:stretch/>
            </p:blipFill>
            <p:spPr>
              <a:xfrm>
                <a:off x="4838807" y="1119928"/>
                <a:ext cx="2514386" cy="5110564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9ABAB9-8EAD-EAC2-5E32-AEA939A0B09C}"/>
                  </a:ext>
                </a:extLst>
              </p:cNvPr>
              <p:cNvSpPr/>
              <p:nvPr/>
            </p:nvSpPr>
            <p:spPr>
              <a:xfrm>
                <a:off x="5046451" y="2851688"/>
                <a:ext cx="2090888" cy="3076414"/>
              </a:xfrm>
              <a:prstGeom prst="rect">
                <a:avLst/>
              </a:prstGeom>
              <a:solidFill>
                <a:schemeClr val="bg1">
                  <a:alpha val="37000"/>
                </a:schemeClr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472A59-2412-32F4-204E-0B871289D738}"/>
                </a:ext>
              </a:extLst>
            </p:cNvPr>
            <p:cNvGrpSpPr/>
            <p:nvPr/>
          </p:nvGrpSpPr>
          <p:grpSpPr>
            <a:xfrm>
              <a:off x="6879623" y="3251152"/>
              <a:ext cx="334838" cy="334838"/>
              <a:chOff x="3317240" y="1808480"/>
              <a:chExt cx="350520" cy="3505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F85B3B8-C9E6-33CD-ADD7-A952849A0891}"/>
                  </a:ext>
                </a:extLst>
              </p:cNvPr>
              <p:cNvSpPr/>
              <p:nvPr/>
            </p:nvSpPr>
            <p:spPr>
              <a:xfrm>
                <a:off x="3317240" y="1808480"/>
                <a:ext cx="350520" cy="3505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" name="Picture 6" descr="A group of speech bubbles with a foreign language&#10;&#10;Description automatically generated">
                <a:extLst>
                  <a:ext uri="{FF2B5EF4-FFF2-40B4-BE49-F238E27FC236}">
                    <a16:creationId xmlns:a16="http://schemas.microsoft.com/office/drawing/2014/main" id="{BBCF12AA-E2FA-056C-7CF0-888DC1275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1302" y="1873693"/>
                <a:ext cx="242396" cy="2423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9475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5D09-18E3-E1B2-159E-8C388102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2D6CB-AE1C-E878-026C-C81885801C15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ABE683E-CD68-5CB4-FCD9-8AF29A62FAE4}"/>
              </a:ext>
            </a:extLst>
          </p:cNvPr>
          <p:cNvSpPr txBox="1">
            <a:spLocks/>
          </p:cNvSpPr>
          <p:nvPr/>
        </p:nvSpPr>
        <p:spPr>
          <a:xfrm>
            <a:off x="375976" y="339073"/>
            <a:ext cx="5488796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b="1">
                <a:latin typeface="Avenir Book" panose="02000503020000020003" pitchFamily="2" charset="0"/>
                <a:ea typeface="+mn-ea"/>
                <a:cs typeface="Calibri"/>
              </a:rPr>
              <a:t>Persona</a:t>
            </a:r>
            <a:endParaRPr lang="en-US" sz="1800">
              <a:latin typeface="Avenir Book" panose="02000503020000020003" pitchFamily="2" charset="0"/>
              <a:ea typeface="+mn-ea"/>
              <a:cs typeface="+mn-cs"/>
            </a:endParaRPr>
          </a:p>
        </p:txBody>
      </p:sp>
      <p:pic>
        <p:nvPicPr>
          <p:cNvPr id="5" name="Picture 4" descr="A person and person cartoon characters&#10;&#10;Description automatically generated">
            <a:extLst>
              <a:ext uri="{FF2B5EF4-FFF2-40B4-BE49-F238E27FC236}">
                <a16:creationId xmlns:a16="http://schemas.microsoft.com/office/drawing/2014/main" id="{F674F212-58B5-701D-B024-C7936563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29" y="1451354"/>
            <a:ext cx="1457446" cy="1457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03C0A-465E-3F05-B83E-0627E8F928FD}"/>
              </a:ext>
            </a:extLst>
          </p:cNvPr>
          <p:cNvSpPr txBox="1"/>
          <p:nvPr/>
        </p:nvSpPr>
        <p:spPr>
          <a:xfrm>
            <a:off x="375976" y="3090447"/>
            <a:ext cx="35881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Mr.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Mrs.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Chan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Going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sightseeing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China</a:t>
            </a:r>
          </a:p>
          <a:p>
            <a:endParaRPr lang="en-US" altLang="zh-TW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Have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access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Have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their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own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not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join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tour-groups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are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ordering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food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restaurant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endParaRPr lang="en-US" altLang="zh-TW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opened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digital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menu…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D7008F1C-4509-BF3B-19FB-DB92694E0EB4}"/>
              </a:ext>
            </a:extLst>
          </p:cNvPr>
          <p:cNvSpPr/>
          <p:nvPr/>
        </p:nvSpPr>
        <p:spPr>
          <a:xfrm>
            <a:off x="4252033" y="781920"/>
            <a:ext cx="3687934" cy="400111"/>
          </a:xfrm>
          <a:prstGeom prst="chevron">
            <a:avLst>
              <a:gd name="adj" fmla="val 1497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With</a:t>
            </a:r>
            <a:r>
              <a:rPr lang="zh-TW" altLang="en-US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our</a:t>
            </a:r>
            <a:r>
              <a:rPr lang="zh-TW" altLang="en-US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bg1"/>
                </a:solidFill>
                <a:latin typeface="Avenir Book" panose="02000503020000020003" pitchFamily="2" charset="0"/>
              </a:rPr>
              <a:t>product</a:t>
            </a:r>
            <a:endParaRPr lang="en-US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B73CB30E-402E-C383-3882-FAAFF8246872}"/>
              </a:ext>
            </a:extLst>
          </p:cNvPr>
          <p:cNvSpPr/>
          <p:nvPr/>
        </p:nvSpPr>
        <p:spPr>
          <a:xfrm>
            <a:off x="4252033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They try to ask help from staffs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activate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our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app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translate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F413156A-D171-BFBE-01D3-C65DE62C46AA}"/>
              </a:ext>
            </a:extLst>
          </p:cNvPr>
          <p:cNvSpPr/>
          <p:nvPr/>
        </p:nvSpPr>
        <p:spPr>
          <a:xfrm>
            <a:off x="6564086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However, they are not able to communicate…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not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have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to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struggle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with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communication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pPr algn="ctr"/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DF60AD3A-60EF-2DF3-1B82-B4F11D4673E1}"/>
              </a:ext>
            </a:extLst>
          </p:cNvPr>
          <p:cNvSpPr/>
          <p:nvPr/>
        </p:nvSpPr>
        <p:spPr>
          <a:xfrm>
            <a:off x="8873581" y="1313957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screenshot</a:t>
            </a:r>
            <a:r>
              <a:rPr lang="zh-TW" alt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 </a:t>
            </a:r>
            <a:r>
              <a:rPr lang="en-US" altLang="zh-TW" strike="sngStrike">
                <a:solidFill>
                  <a:srgbClr val="C00000"/>
                </a:solidFill>
                <a:latin typeface="Avenir Book" panose="02000503020000020003" pitchFamily="2" charset="0"/>
              </a:rPr>
              <a:t>and</a:t>
            </a:r>
            <a:r>
              <a:rPr lang="zh-TW" alt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 </a:t>
            </a:r>
            <a:r>
              <a:rPr lang="en-US" altLang="zh-TW" strike="sngStrike">
                <a:solidFill>
                  <a:srgbClr val="C00000"/>
                </a:solidFill>
                <a:latin typeface="Avenir Book" panose="02000503020000020003" pitchFamily="2" charset="0"/>
              </a:rPr>
              <a:t>upload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Automatic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background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translation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176A5C3F-1CEC-E3C9-6A53-889B0A3F0F54}"/>
              </a:ext>
            </a:extLst>
          </p:cNvPr>
          <p:cNvSpPr/>
          <p:nvPr/>
        </p:nvSpPr>
        <p:spPr>
          <a:xfrm>
            <a:off x="4254591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badly translated</a:t>
            </a:r>
            <a:r>
              <a:rPr lang="zh-TW" alt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 </a:t>
            </a:r>
            <a:r>
              <a:rPr lang="en-US" altLang="zh-TW" strike="sngStrike">
                <a:solidFill>
                  <a:srgbClr val="C00000"/>
                </a:solidFill>
                <a:latin typeface="Avenir Book" panose="02000503020000020003" pitchFamily="2" charset="0"/>
              </a:rPr>
              <a:t>wordings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Specified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translations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for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various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industries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D6338A41-7E09-FAD1-B836-2A3A5735409D}"/>
              </a:ext>
            </a:extLst>
          </p:cNvPr>
          <p:cNvSpPr/>
          <p:nvPr/>
        </p:nvSpPr>
        <p:spPr>
          <a:xfrm>
            <a:off x="6564086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order according to the cuisine photos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Know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exactly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what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the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menu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options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are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10D9D369-FED4-8B29-3DEB-8EC761A8D2C1}"/>
              </a:ext>
            </a:extLst>
          </p:cNvPr>
          <p:cNvSpPr/>
          <p:nvPr/>
        </p:nvSpPr>
        <p:spPr>
          <a:xfrm>
            <a:off x="8873581" y="3842795"/>
            <a:ext cx="2526070" cy="2411687"/>
          </a:xfrm>
          <a:prstGeom prst="chevron">
            <a:avLst>
              <a:gd name="adj" fmla="val 14976"/>
            </a:avLst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They feel sad</a:t>
            </a:r>
            <a:r>
              <a:rPr lang="zh-TW" altLang="en-US" strike="sngStrike">
                <a:solidFill>
                  <a:srgbClr val="C00000"/>
                </a:solidFill>
                <a:latin typeface="Avenir Book" panose="02000503020000020003" pitchFamily="2" charset="0"/>
              </a:rPr>
              <a:t> </a:t>
            </a:r>
            <a:r>
              <a:rPr lang="en-US" altLang="zh-TW" strike="sngStrike">
                <a:solidFill>
                  <a:srgbClr val="C00000"/>
                </a:solidFill>
                <a:latin typeface="Avenir Book" panose="02000503020000020003" pitchFamily="2" charset="0"/>
                <a:sym typeface="Wingdings" pitchFamily="2" charset="2"/>
              </a:rPr>
              <a:t></a:t>
            </a:r>
          </a:p>
          <a:p>
            <a:pPr algn="ctr"/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They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feel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happy</a:t>
            </a:r>
            <a:r>
              <a:rPr lang="zh-TW" alt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 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  <a:sym typeface="Wingdings" pitchFamily="2" charset="2"/>
              </a:rPr>
              <a:t>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26F5CCBC-0E27-B292-7EEC-3BF253316C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9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EBB6-D956-D293-92E8-9E9BBAAE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983F890-589F-7E51-1D23-B361D8AC8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74185"/>
              </p:ext>
            </p:extLst>
          </p:nvPr>
        </p:nvGraphicFramePr>
        <p:xfrm>
          <a:off x="192292" y="781919"/>
          <a:ext cx="11911213" cy="5563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202">
                  <a:extLst>
                    <a:ext uri="{9D8B030D-6E8A-4147-A177-3AD203B41FA5}">
                      <a16:colId xmlns:a16="http://schemas.microsoft.com/office/drawing/2014/main" val="3128718935"/>
                    </a:ext>
                  </a:extLst>
                </a:gridCol>
                <a:gridCol w="1716783">
                  <a:extLst>
                    <a:ext uri="{9D8B030D-6E8A-4147-A177-3AD203B41FA5}">
                      <a16:colId xmlns:a16="http://schemas.microsoft.com/office/drawing/2014/main" val="391720890"/>
                    </a:ext>
                  </a:extLst>
                </a:gridCol>
                <a:gridCol w="2253622">
                  <a:extLst>
                    <a:ext uri="{9D8B030D-6E8A-4147-A177-3AD203B41FA5}">
                      <a16:colId xmlns:a16="http://schemas.microsoft.com/office/drawing/2014/main" val="1110599645"/>
                    </a:ext>
                  </a:extLst>
                </a:gridCol>
                <a:gridCol w="1985202">
                  <a:extLst>
                    <a:ext uri="{9D8B030D-6E8A-4147-A177-3AD203B41FA5}">
                      <a16:colId xmlns:a16="http://schemas.microsoft.com/office/drawing/2014/main" val="2359925458"/>
                    </a:ext>
                  </a:extLst>
                </a:gridCol>
                <a:gridCol w="1985202">
                  <a:extLst>
                    <a:ext uri="{9D8B030D-6E8A-4147-A177-3AD203B41FA5}">
                      <a16:colId xmlns:a16="http://schemas.microsoft.com/office/drawing/2014/main" val="4061270761"/>
                    </a:ext>
                  </a:extLst>
                </a:gridCol>
                <a:gridCol w="1985202">
                  <a:extLst>
                    <a:ext uri="{9D8B030D-6E8A-4147-A177-3AD203B41FA5}">
                      <a16:colId xmlns:a16="http://schemas.microsoft.com/office/drawing/2014/main" val="3811944970"/>
                    </a:ext>
                  </a:extLst>
                </a:gridCol>
              </a:tblGrid>
              <a:tr h="423553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Product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CHanslate</a:t>
                      </a:r>
                      <a:endParaRPr lang="zh-TW" altLang="en-US" err="1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venir Book"/>
                        </a:rPr>
                        <a:t>Translate On 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Google Translate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Baidu Translate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(Companies)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276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Translation technology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Neural machine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Neural machine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Neural machine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Neural machine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Translation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development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781895"/>
                  </a:ext>
                </a:extLst>
              </a:tr>
              <a:tr h="741218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Translation quality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Avenir Book" panose="02000503020000020003"/>
                        </a:rPr>
                        <a:t>High, tuned for Chinese text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Medium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for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Chinese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text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High, tuned for Chinese text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High,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specified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for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their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own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company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367533"/>
                  </a:ext>
                </a:extLst>
              </a:tr>
              <a:tr h="741218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Accessible in China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No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Avenir Book" panose="02000503020000020003"/>
                        </a:rPr>
                        <a:t>Yes,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for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Chinese</a:t>
                      </a:r>
                      <a:r>
                        <a:rPr lang="zh-TW" altLang="en-US">
                          <a:latin typeface="Avenir Book" panose="02000503020000020003"/>
                        </a:rPr>
                        <a:t> </a:t>
                      </a:r>
                      <a:r>
                        <a:rPr lang="en-US" altLang="zh-TW">
                          <a:latin typeface="Avenir Book" panose="02000503020000020003"/>
                        </a:rPr>
                        <a:t>companies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382679"/>
                  </a:ext>
                </a:extLst>
              </a:tr>
              <a:tr h="552687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Optical character recognition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No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Avenir Book" panose="02000503020000020003"/>
                        </a:rPr>
                        <a:t>No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841042"/>
                  </a:ext>
                </a:extLst>
              </a:tr>
              <a:tr h="384773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Avenir Book" panose="02000503020000020003"/>
                        </a:rPr>
                        <a:t>Optimized for mini-apps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No, need manual text copying,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or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screenshot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No, need manual text copying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Avenir Book" panose="02000503020000020003"/>
                        </a:rPr>
                        <a:t>Yes</a:t>
                      </a:r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389576"/>
                  </a:ext>
                </a:extLst>
              </a:tr>
              <a:tr h="616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Avenir Book" panose="02000503020000020003"/>
                        </a:rPr>
                        <a:t>Pricing</a:t>
                      </a:r>
                      <a:endParaRPr lang="zh-TW" altLang="en-US">
                        <a:latin typeface="Avenir Book" panose="02000503020000020003"/>
                      </a:endParaRPr>
                    </a:p>
                    <a:p>
                      <a:endParaRPr lang="zh-TW" altLang="en-US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venir Book" panose="02000503020000020003"/>
                        </a:rPr>
                        <a:t>Weekly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($12)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/monthly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($40)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user</a:t>
                      </a:r>
                      <a:r>
                        <a:rPr lang="zh-TW" altLang="en-US" dirty="0">
                          <a:latin typeface="Avenir Book" panose="02000503020000020003"/>
                        </a:rPr>
                        <a:t> </a:t>
                      </a:r>
                      <a:r>
                        <a:rPr lang="en-US" altLang="zh-TW" dirty="0">
                          <a:latin typeface="Avenir Book" panose="02000503020000020003"/>
                        </a:rPr>
                        <a:t>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>
                          <a:latin typeface="Avenir Book"/>
                        </a:rPr>
                        <a:t>Free /</a:t>
                      </a:r>
                      <a:br>
                        <a:rPr lang="en-US" altLang="zh-TW">
                          <a:latin typeface="Avenir Book"/>
                        </a:rPr>
                      </a:br>
                      <a:r>
                        <a:rPr lang="en-US" altLang="zh-TW">
                          <a:latin typeface="Avenir Book"/>
                        </a:rPr>
                        <a:t>weekly($19.9)/</a:t>
                      </a:r>
                      <a:br>
                        <a:rPr lang="en-US" altLang="zh-TW">
                          <a:latin typeface="Avenir Book"/>
                        </a:rPr>
                      </a:br>
                      <a:r>
                        <a:rPr lang="en-US" altLang="zh-TW">
                          <a:latin typeface="Avenir Book"/>
                        </a:rPr>
                        <a:t>monthly($48)/</a:t>
                      </a:r>
                      <a:br>
                        <a:rPr lang="en-US" altLang="zh-TW">
                          <a:latin typeface="Avenir Book"/>
                        </a:rPr>
                      </a:br>
                      <a:r>
                        <a:rPr lang="en-US" altLang="zh-TW">
                          <a:latin typeface="Avenir Book"/>
                        </a:rPr>
                        <a:t>Yearly($198) / one time purchase($388)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Free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>
                          <a:latin typeface="Avenir Book" panose="02000503020000020003"/>
                        </a:rPr>
                        <a:t>Free</a:t>
                      </a:r>
                      <a:endParaRPr lang="zh-TW" altLang="en-US">
                        <a:latin typeface="Avenir Book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venir Book" panose="02000503020000020003"/>
                        </a:rPr>
                        <a:t>Free</a:t>
                      </a:r>
                      <a:endParaRPr lang="zh-TW" altLang="en-US" dirty="0">
                        <a:latin typeface="Avenir Book" panose="02000503020000020003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50790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6D30D2C-55AC-B191-E7B9-75B933470A14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C79742-D7B8-864B-1278-ADC3FF70A5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3565403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Competitor analysis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5AD68-0F5B-52D3-900D-85863744869E}"/>
              </a:ext>
            </a:extLst>
          </p:cNvPr>
          <p:cNvSpPr txBox="1"/>
          <p:nvPr/>
        </p:nvSpPr>
        <p:spPr>
          <a:xfrm>
            <a:off x="6952493" y="348982"/>
            <a:ext cx="225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>
                <a:latin typeface="Avenir Book" panose="02000503020000020003"/>
              </a:rPr>
              <a:t>Indirect competitors</a:t>
            </a:r>
            <a:endParaRPr lang="zh-HK" altLang="en-US">
              <a:latin typeface="Avenir Book" panose="0200050302000002000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C3EB5B-AA2F-3881-6D92-2EAD8B4265AF}"/>
              </a:ext>
            </a:extLst>
          </p:cNvPr>
          <p:cNvSpPr txBox="1"/>
          <p:nvPr/>
        </p:nvSpPr>
        <p:spPr>
          <a:xfrm>
            <a:off x="9900557" y="349743"/>
            <a:ext cx="240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latin typeface="Avenir Book" panose="02000503020000020003"/>
              </a:rPr>
              <a:t>Potential</a:t>
            </a:r>
            <a:r>
              <a:rPr lang="zh-TW" altLang="en-US">
                <a:latin typeface="Avenir Book" panose="02000503020000020003"/>
              </a:rPr>
              <a:t> </a:t>
            </a:r>
            <a:r>
              <a:rPr lang="en-US" altLang="zh-TW">
                <a:latin typeface="Avenir Book" panose="02000503020000020003"/>
              </a:rPr>
              <a:t>competitors</a:t>
            </a:r>
            <a:endParaRPr lang="zh-HK" altLang="en-US">
              <a:latin typeface="Avenir Book" panose="02000503020000020003"/>
            </a:endParaRP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9A29957F-4771-50F7-C968-242BCE6D0E56}"/>
              </a:ext>
            </a:extLst>
          </p:cNvPr>
          <p:cNvSpPr/>
          <p:nvPr/>
        </p:nvSpPr>
        <p:spPr>
          <a:xfrm rot="5400000">
            <a:off x="8058524" y="-1224628"/>
            <a:ext cx="121159" cy="3976973"/>
          </a:xfrm>
          <a:prstGeom prst="leftBracke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69692EA9-A716-C23B-2DB2-86C4CC2BD764}"/>
              </a:ext>
            </a:extLst>
          </p:cNvPr>
          <p:cNvSpPr/>
          <p:nvPr/>
        </p:nvSpPr>
        <p:spPr>
          <a:xfrm rot="5400000">
            <a:off x="11032410" y="-224197"/>
            <a:ext cx="118624" cy="1949395"/>
          </a:xfrm>
          <a:prstGeom prst="leftBracke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6837BCE5-5E4D-3E04-DE53-A39C595908D5}"/>
              </a:ext>
            </a:extLst>
          </p:cNvPr>
          <p:cNvSpPr/>
          <p:nvPr/>
        </p:nvSpPr>
        <p:spPr>
          <a:xfrm rot="5400000">
            <a:off x="4968189" y="-323533"/>
            <a:ext cx="121159" cy="2174782"/>
          </a:xfrm>
          <a:prstGeom prst="leftBracke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5DDBC-0060-362F-2072-B3661D9352CA}"/>
              </a:ext>
            </a:extLst>
          </p:cNvPr>
          <p:cNvSpPr txBox="1"/>
          <p:nvPr/>
        </p:nvSpPr>
        <p:spPr>
          <a:xfrm>
            <a:off x="3940778" y="336886"/>
            <a:ext cx="225799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HK">
                <a:latin typeface="Avenir Book" panose="02000503020000020003"/>
                <a:ea typeface="新細明體"/>
              </a:rPr>
              <a:t>Direct competitors</a:t>
            </a:r>
            <a:endParaRPr lang="zh-HK" altLang="en-US">
              <a:latin typeface="Avenir Book" panose="02000503020000020003"/>
              <a:ea typeface="新細明體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A5C605-FCAF-2ECE-8122-78CADDE8FD03}"/>
              </a:ext>
            </a:extLst>
          </p:cNvPr>
          <p:cNvSpPr/>
          <p:nvPr/>
        </p:nvSpPr>
        <p:spPr>
          <a:xfrm>
            <a:off x="2104074" y="691185"/>
            <a:ext cx="1840626" cy="6130919"/>
          </a:xfrm>
          <a:prstGeom prst="roundRect">
            <a:avLst>
              <a:gd name="adj" fmla="val 3912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logo&#10;&#10;Description automatically generated">
            <a:extLst>
              <a:ext uri="{FF2B5EF4-FFF2-40B4-BE49-F238E27FC236}">
                <a16:creationId xmlns:a16="http://schemas.microsoft.com/office/drawing/2014/main" id="{A7980B37-6BE4-11EB-5196-7FF07EAB3C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1C8579-E0D2-61CC-4B8B-231FB3CBA2E6}"/>
              </a:ext>
            </a:extLst>
          </p:cNvPr>
          <p:cNvSpPr/>
          <p:nvPr/>
        </p:nvSpPr>
        <p:spPr>
          <a:xfrm>
            <a:off x="548256" y="850057"/>
            <a:ext cx="439572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venir Book" panose="02000503020000020003" pitchFamily="2" charset="0"/>
              </a:rPr>
              <a:t>Comparative Advantages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544A31-58D1-9E3E-985A-6157A9A776A2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13196DC-E140-559C-F205-C06E8283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2506282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Product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94C671-BA80-0726-26F8-74EC818B6164}"/>
              </a:ext>
            </a:extLst>
          </p:cNvPr>
          <p:cNvSpPr/>
          <p:nvPr/>
        </p:nvSpPr>
        <p:spPr>
          <a:xfrm>
            <a:off x="5122651" y="850057"/>
            <a:ext cx="3106195" cy="40011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>
                <a:latin typeface="Avenir Book" panose="02000503020000020003" pitchFamily="2" charset="0"/>
              </a:rPr>
              <a:t>Concerns</a:t>
            </a:r>
            <a:endParaRPr lang="en-US">
              <a:latin typeface="Avenir Book" panose="02000503020000020003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A52F66-8F49-3C9A-34F5-721F35EA4E85}"/>
              </a:ext>
            </a:extLst>
          </p:cNvPr>
          <p:cNvSpPr/>
          <p:nvPr/>
        </p:nvSpPr>
        <p:spPr>
          <a:xfrm>
            <a:off x="548256" y="1339895"/>
            <a:ext cx="4395720" cy="1228832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Most user-friendly in the market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82055-1421-9E6A-6F5B-A1C1D182CDE4}"/>
              </a:ext>
            </a:extLst>
          </p:cNvPr>
          <p:cNvSpPr/>
          <p:nvPr/>
        </p:nvSpPr>
        <p:spPr>
          <a:xfrm>
            <a:off x="5122651" y="1339895"/>
            <a:ext cx="3100551" cy="164928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Avenir Book"/>
              </a:rPr>
              <a:t>May have privacy concerns from the 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E78CA-2915-5DD6-61AB-D92F201AF3E6}"/>
              </a:ext>
            </a:extLst>
          </p:cNvPr>
          <p:cNvSpPr/>
          <p:nvPr/>
        </p:nvSpPr>
        <p:spPr>
          <a:xfrm>
            <a:off x="8401877" y="850057"/>
            <a:ext cx="3100551" cy="4001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>
                <a:latin typeface="Avenir Book" panose="02000503020000020003" pitchFamily="2" charset="0"/>
              </a:rPr>
              <a:t>Solution</a:t>
            </a:r>
            <a:endParaRPr lang="en-US">
              <a:latin typeface="Avenir Book" panose="02000503020000020003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C2579F-8713-CBC2-03CE-2ECB0F494280}"/>
              </a:ext>
            </a:extLst>
          </p:cNvPr>
          <p:cNvSpPr/>
          <p:nvPr/>
        </p:nvSpPr>
        <p:spPr>
          <a:xfrm>
            <a:off x="8401874" y="1339895"/>
            <a:ext cx="3100551" cy="254739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Automatically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delete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translation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data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after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24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hours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BA4BD-8AFD-51FA-3305-188FF94B402C}"/>
              </a:ext>
            </a:extLst>
          </p:cNvPr>
          <p:cNvSpPr/>
          <p:nvPr/>
        </p:nvSpPr>
        <p:spPr>
          <a:xfrm>
            <a:off x="548254" y="2658455"/>
            <a:ext cx="4395720" cy="1228832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Can expand to not only tourists’ use, but public’s daily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use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2CF68-E93C-FDDB-E0FD-608CEAE80AD8}"/>
              </a:ext>
            </a:extLst>
          </p:cNvPr>
          <p:cNvSpPr/>
          <p:nvPr/>
        </p:nvSpPr>
        <p:spPr>
          <a:xfrm>
            <a:off x="548254" y="3977015"/>
            <a:ext cx="4395720" cy="1228832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Can expand to out of China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D9255-2E81-628E-22A1-B796BDEC5B56}"/>
              </a:ext>
            </a:extLst>
          </p:cNvPr>
          <p:cNvSpPr/>
          <p:nvPr/>
        </p:nvSpPr>
        <p:spPr>
          <a:xfrm>
            <a:off x="548254" y="5295575"/>
            <a:ext cx="4395720" cy="1228832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Language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model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developed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can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be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utilized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other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industries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6AC92-53D7-6E31-E960-314CF00C948B}"/>
              </a:ext>
            </a:extLst>
          </p:cNvPr>
          <p:cNvSpPr/>
          <p:nvPr/>
        </p:nvSpPr>
        <p:spPr>
          <a:xfrm>
            <a:off x="5122649" y="3111107"/>
            <a:ext cx="3100551" cy="164928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C00000"/>
              </a:solidFill>
              <a:latin typeface="Avenir Book"/>
            </a:endParaRPr>
          </a:p>
          <a:p>
            <a:pPr algn="ctr"/>
            <a:r>
              <a:rPr lang="en-US">
                <a:solidFill>
                  <a:srgbClr val="C00000"/>
                </a:solidFill>
                <a:latin typeface="Avenir Book"/>
              </a:rPr>
              <a:t>Easy to be copied by the other companies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3832CB-F4BB-E48B-4C33-0203E9FCD66E}"/>
              </a:ext>
            </a:extLst>
          </p:cNvPr>
          <p:cNvSpPr/>
          <p:nvPr/>
        </p:nvSpPr>
        <p:spPr>
          <a:xfrm>
            <a:off x="5122649" y="4875122"/>
            <a:ext cx="3100551" cy="164928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C00000"/>
              </a:solidFill>
              <a:latin typeface="Avenir Book"/>
            </a:endParaRPr>
          </a:p>
          <a:p>
            <a:pPr algn="ctr"/>
            <a:r>
              <a:rPr lang="en-US">
                <a:solidFill>
                  <a:srgbClr val="C00000"/>
                </a:solidFill>
                <a:latin typeface="Avenir Book"/>
              </a:rPr>
              <a:t>Small market segmentation</a:t>
            </a:r>
            <a:endParaRPr lang="en-US">
              <a:solidFill>
                <a:srgbClr val="C00000"/>
              </a:solidFill>
              <a:latin typeface="Avenir Book" panose="02000503020000020003" pitchFamily="2" charset="0"/>
            </a:endParaRPr>
          </a:p>
          <a:p>
            <a:pPr algn="ctr"/>
            <a:endParaRPr lang="en-US">
              <a:solidFill>
                <a:srgbClr val="C00000"/>
              </a:solidFill>
              <a:latin typeface="Avenir Book" panose="02000503020000020003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80568-12E5-EF5E-00B3-CC35E1CED31F}"/>
              </a:ext>
            </a:extLst>
          </p:cNvPr>
          <p:cNvSpPr/>
          <p:nvPr/>
        </p:nvSpPr>
        <p:spPr>
          <a:xfrm>
            <a:off x="8401874" y="3977015"/>
            <a:ext cx="3100551" cy="254739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altLang="zh-TW">
              <a:solidFill>
                <a:schemeClr val="accent1">
                  <a:lumMod val="75000"/>
                </a:schemeClr>
              </a:solidFill>
              <a:latin typeface="Avenir Book"/>
              <a:ea typeface="新細明體"/>
            </a:endParaRPr>
          </a:p>
          <a:p>
            <a:pPr algn="ctr"/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Develop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customer</a:t>
            </a:r>
            <a:r>
              <a:rPr lang="zh-TW" altLang="en-US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Avenir Book"/>
                <a:ea typeface="新細明體"/>
              </a:rPr>
              <a:t>stickiness</a:t>
            </a:r>
            <a:endParaRPr lang="en-US">
              <a:solidFill>
                <a:schemeClr val="accent1">
                  <a:lumMod val="75000"/>
                </a:schemeClr>
              </a:solidFill>
              <a:latin typeface="Avenir Book"/>
              <a:ea typeface="新細明體"/>
            </a:endParaRPr>
          </a:p>
          <a:p>
            <a:pPr algn="ctr"/>
            <a:endParaRPr lang="en-US">
              <a:solidFill>
                <a:schemeClr val="accent1">
                  <a:lumMod val="75000"/>
                </a:schemeClr>
              </a:solidFill>
              <a:latin typeface="Avenir Book" panose="02000503020000020003" pitchFamily="2" charset="0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436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544A31-58D1-9E3E-985A-6157A9A776A2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13196DC-E140-559C-F205-C06E8283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2506282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Business</a:t>
            </a:r>
            <a:r>
              <a:rPr kumimoji="0" lang="zh-TW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model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C046C6-6FEB-4F15-62AA-F5BB128FF9AA}"/>
              </a:ext>
            </a:extLst>
          </p:cNvPr>
          <p:cNvGrpSpPr/>
          <p:nvPr/>
        </p:nvGrpSpPr>
        <p:grpSpPr>
          <a:xfrm>
            <a:off x="5686600" y="1778249"/>
            <a:ext cx="3150346" cy="1650751"/>
            <a:chOff x="3590994" y="2139312"/>
            <a:chExt cx="3150346" cy="1650751"/>
          </a:xfrm>
        </p:grpSpPr>
        <p:sp>
          <p:nvSpPr>
            <p:cNvPr id="25" name="Curved Up Arrow 24">
              <a:extLst>
                <a:ext uri="{FF2B5EF4-FFF2-40B4-BE49-F238E27FC236}">
                  <a16:creationId xmlns:a16="http://schemas.microsoft.com/office/drawing/2014/main" id="{8B31DA52-7E9D-9AA3-52AC-DBE9C0978CA6}"/>
                </a:ext>
              </a:extLst>
            </p:cNvPr>
            <p:cNvSpPr/>
            <p:nvPr/>
          </p:nvSpPr>
          <p:spPr>
            <a:xfrm>
              <a:off x="4007457" y="3422685"/>
              <a:ext cx="2511550" cy="367378"/>
            </a:xfrm>
            <a:prstGeom prst="curvedUpArrow">
              <a:avLst>
                <a:gd name="adj1" fmla="val 7726"/>
                <a:gd name="adj2" fmla="val 19325"/>
                <a:gd name="adj3" fmla="val 10061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Curved Up Arrow 25">
              <a:extLst>
                <a:ext uri="{FF2B5EF4-FFF2-40B4-BE49-F238E27FC236}">
                  <a16:creationId xmlns:a16="http://schemas.microsoft.com/office/drawing/2014/main" id="{3FD58E4D-011F-A689-912F-3FF8B4F644AC}"/>
                </a:ext>
              </a:extLst>
            </p:cNvPr>
            <p:cNvSpPr/>
            <p:nvPr/>
          </p:nvSpPr>
          <p:spPr>
            <a:xfrm flipV="1">
              <a:off x="4007457" y="2139312"/>
              <a:ext cx="2511550" cy="367378"/>
            </a:xfrm>
            <a:prstGeom prst="curvedUpArrow">
              <a:avLst>
                <a:gd name="adj1" fmla="val 7726"/>
                <a:gd name="adj2" fmla="val 19325"/>
                <a:gd name="adj3" fmla="val 10061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E90928C-7492-7136-43EE-C49BE9B7E3AF}"/>
                </a:ext>
              </a:extLst>
            </p:cNvPr>
            <p:cNvGrpSpPr/>
            <p:nvPr/>
          </p:nvGrpSpPr>
          <p:grpSpPr>
            <a:xfrm>
              <a:off x="3590994" y="2505151"/>
              <a:ext cx="3150346" cy="923330"/>
              <a:chOff x="3590994" y="2505151"/>
              <a:chExt cx="3150346" cy="923330"/>
            </a:xfrm>
          </p:grpSpPr>
          <p:pic>
            <p:nvPicPr>
              <p:cNvPr id="22" name="Picture 21" descr="A group of speech bubbles with a foreign language&#10;&#10;Description automatically generated">
                <a:extLst>
                  <a:ext uri="{FF2B5EF4-FFF2-40B4-BE49-F238E27FC236}">
                    <a16:creationId xmlns:a16="http://schemas.microsoft.com/office/drawing/2014/main" id="{EC4E2953-46CE-D195-970B-B70EE9996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90994" y="2591217"/>
                <a:ext cx="746943" cy="746943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6E4023-63EA-8D58-D593-70D64631539B}"/>
                  </a:ext>
                </a:extLst>
              </p:cNvPr>
              <p:cNvSpPr txBox="1"/>
              <p:nvPr/>
            </p:nvSpPr>
            <p:spPr>
              <a:xfrm>
                <a:off x="4289628" y="2505151"/>
                <a:ext cx="19773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Weekly</a:t>
                </a:r>
                <a:r>
                  <a:rPr lang="zh-TW" altLang="en-US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 </a:t>
                </a:r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plan/</a:t>
                </a:r>
              </a:p>
              <a:p>
                <a:pPr algn="ctr"/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Monthly</a:t>
                </a:r>
                <a:r>
                  <a:rPr lang="zh-TW" altLang="en-US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 </a:t>
                </a:r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plan</a:t>
                </a:r>
              </a:p>
              <a:p>
                <a:pPr algn="ctr"/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(charge</a:t>
                </a:r>
                <a:r>
                  <a:rPr lang="zh-TW" altLang="en-US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 </a:t>
                </a:r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per</a:t>
                </a:r>
                <a:r>
                  <a:rPr lang="zh-TW" altLang="en-US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 </a:t>
                </a:r>
                <a:r>
                  <a:rPr lang="en-US" altLang="zh-TW" b="1" dirty="0">
                    <a:solidFill>
                      <a:schemeClr val="accent1">
                        <a:lumMod val="50000"/>
                      </a:schemeClr>
                    </a:solidFill>
                    <a:latin typeface="Avenir Book" panose="02000503020000020003" pitchFamily="2" charset="0"/>
                  </a:rPr>
                  <a:t>use)</a:t>
                </a:r>
                <a:endParaRPr lang="en-US" b="1" dirty="0">
                  <a:solidFill>
                    <a:schemeClr val="accent1">
                      <a:lumMod val="50000"/>
                    </a:schemeClr>
                  </a:solidFill>
                  <a:latin typeface="Avenir Book" panose="02000503020000020003" pitchFamily="2" charset="0"/>
                </a:endParaRPr>
              </a:p>
            </p:txBody>
          </p:sp>
          <p:pic>
            <p:nvPicPr>
              <p:cNvPr id="31" name="Graphic 30" descr="Family with girl with solid fill">
                <a:extLst>
                  <a:ext uri="{FF2B5EF4-FFF2-40B4-BE49-F238E27FC236}">
                    <a16:creationId xmlns:a16="http://schemas.microsoft.com/office/drawing/2014/main" id="{23F3DC40-D6AB-A1F8-E388-69D79CC92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88528" y="2691356"/>
                <a:ext cx="552812" cy="552812"/>
              </a:xfrm>
              <a:prstGeom prst="rect">
                <a:avLst/>
              </a:prstGeom>
            </p:spPr>
          </p:pic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82A6095-A469-512D-DE67-7DF461908101}"/>
              </a:ext>
            </a:extLst>
          </p:cNvPr>
          <p:cNvSpPr txBox="1"/>
          <p:nvPr/>
        </p:nvSpPr>
        <p:spPr>
          <a:xfrm>
            <a:off x="2656481" y="3373265"/>
            <a:ext cx="1935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Free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 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download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Graphic 2" descr="Dollar with solid fill">
            <a:extLst>
              <a:ext uri="{FF2B5EF4-FFF2-40B4-BE49-F238E27FC236}">
                <a16:creationId xmlns:a16="http://schemas.microsoft.com/office/drawing/2014/main" id="{FE8324E6-4682-552B-576B-AF1A23A310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927196" y="1103035"/>
            <a:ext cx="5169384" cy="5169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70E5EF-9070-C0D8-8657-581F6320CEE6}"/>
              </a:ext>
            </a:extLst>
          </p:cNvPr>
          <p:cNvSpPr/>
          <p:nvPr/>
        </p:nvSpPr>
        <p:spPr>
          <a:xfrm>
            <a:off x="1509214" y="5923608"/>
            <a:ext cx="10066353" cy="8475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BC4495-7CA6-0BF0-FDA6-B19F82A7C63E}"/>
              </a:ext>
            </a:extLst>
          </p:cNvPr>
          <p:cNvSpPr txBox="1"/>
          <p:nvPr/>
        </p:nvSpPr>
        <p:spPr>
          <a:xfrm>
            <a:off x="7593028" y="4473441"/>
            <a:ext cx="1935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Advertisements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CF94E59-E471-087A-BBFA-412386ACE29A}"/>
              </a:ext>
            </a:extLst>
          </p:cNvPr>
          <p:cNvGrpSpPr/>
          <p:nvPr/>
        </p:nvGrpSpPr>
        <p:grpSpPr>
          <a:xfrm>
            <a:off x="5701647" y="3840324"/>
            <a:ext cx="2928013" cy="1650751"/>
            <a:chOff x="3590994" y="2139312"/>
            <a:chExt cx="2928013" cy="1650751"/>
          </a:xfrm>
        </p:grpSpPr>
        <p:sp>
          <p:nvSpPr>
            <p:cNvPr id="30" name="Curved Up Arrow 29">
              <a:extLst>
                <a:ext uri="{FF2B5EF4-FFF2-40B4-BE49-F238E27FC236}">
                  <a16:creationId xmlns:a16="http://schemas.microsoft.com/office/drawing/2014/main" id="{1A8F928F-E0B2-5F81-8163-A5629703C80F}"/>
                </a:ext>
              </a:extLst>
            </p:cNvPr>
            <p:cNvSpPr/>
            <p:nvPr/>
          </p:nvSpPr>
          <p:spPr>
            <a:xfrm>
              <a:off x="4007457" y="3422685"/>
              <a:ext cx="2511550" cy="367378"/>
            </a:xfrm>
            <a:prstGeom prst="curvedUpArrow">
              <a:avLst>
                <a:gd name="adj1" fmla="val 7726"/>
                <a:gd name="adj2" fmla="val 19325"/>
                <a:gd name="adj3" fmla="val 10061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Curved Up Arrow 32">
              <a:extLst>
                <a:ext uri="{FF2B5EF4-FFF2-40B4-BE49-F238E27FC236}">
                  <a16:creationId xmlns:a16="http://schemas.microsoft.com/office/drawing/2014/main" id="{2D2E70D4-5305-EF20-7B7B-5EE506B09424}"/>
                </a:ext>
              </a:extLst>
            </p:cNvPr>
            <p:cNvSpPr/>
            <p:nvPr/>
          </p:nvSpPr>
          <p:spPr>
            <a:xfrm flipV="1">
              <a:off x="4007457" y="2139312"/>
              <a:ext cx="2511550" cy="367378"/>
            </a:xfrm>
            <a:prstGeom prst="curvedUpArrow">
              <a:avLst>
                <a:gd name="adj1" fmla="val 7726"/>
                <a:gd name="adj2" fmla="val 19325"/>
                <a:gd name="adj3" fmla="val 10061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35" name="Picture 34" descr="A group of speech bubbles with a foreign language&#10;&#10;Description automatically generated">
              <a:extLst>
                <a:ext uri="{FF2B5EF4-FFF2-40B4-BE49-F238E27FC236}">
                  <a16:creationId xmlns:a16="http://schemas.microsoft.com/office/drawing/2014/main" id="{FA38D45B-AD2D-2090-6EBA-6112DFA3A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0994" y="2591217"/>
              <a:ext cx="746943" cy="746943"/>
            </a:xfrm>
            <a:prstGeom prst="rect">
              <a:avLst/>
            </a:prstGeom>
          </p:spPr>
        </p:pic>
      </p:grp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98F5FB6-3764-0E47-1FDA-8DA234904050}"/>
              </a:ext>
            </a:extLst>
          </p:cNvPr>
          <p:cNvCxnSpPr>
            <a:cxnSpLocks/>
          </p:cNvCxnSpPr>
          <p:nvPr/>
        </p:nvCxnSpPr>
        <p:spPr>
          <a:xfrm>
            <a:off x="4507194" y="3559041"/>
            <a:ext cx="914400" cy="914400"/>
          </a:xfrm>
          <a:prstGeom prst="bentConnector3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44DCA17-2E1D-3B30-B6C4-41ADAA9A7D14}"/>
              </a:ext>
            </a:extLst>
          </p:cNvPr>
          <p:cNvCxnSpPr>
            <a:cxnSpLocks/>
          </p:cNvCxnSpPr>
          <p:nvPr/>
        </p:nvCxnSpPr>
        <p:spPr>
          <a:xfrm flipV="1">
            <a:off x="4524359" y="2662857"/>
            <a:ext cx="919498" cy="890529"/>
          </a:xfrm>
          <a:prstGeom prst="bentConnector3">
            <a:avLst>
              <a:gd name="adj1" fmla="val 4774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A23BBCDC-B51E-F1A1-B869-9070A8241F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289" b="-163"/>
          <a:stretch/>
        </p:blipFill>
        <p:spPr>
          <a:xfrm>
            <a:off x="10672011" y="28074"/>
            <a:ext cx="1522712" cy="11804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3ED64F-E1BF-766B-FD97-05C31D6FD93F}"/>
              </a:ext>
            </a:extLst>
          </p:cNvPr>
          <p:cNvSpPr txBox="1"/>
          <p:nvPr/>
        </p:nvSpPr>
        <p:spPr>
          <a:xfrm>
            <a:off x="9197805" y="2280459"/>
            <a:ext cx="1785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$12/</a:t>
            </a:r>
            <a:r>
              <a:rPr lang="en-HK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week</a:t>
            </a:r>
          </a:p>
          <a:p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  <a:t>$40/month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2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7C52A6-62B6-7A4A-9E52-498F98A2A89D}"/>
              </a:ext>
            </a:extLst>
          </p:cNvPr>
          <p:cNvSpPr/>
          <p:nvPr/>
        </p:nvSpPr>
        <p:spPr>
          <a:xfrm>
            <a:off x="1939" y="286897"/>
            <a:ext cx="305914" cy="4950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269DF3-2174-FABA-FB7F-E6B5A0CEF1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976" y="333593"/>
            <a:ext cx="5310121" cy="4001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Appendix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–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references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&amp;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Calibri"/>
              </a:rPr>
              <a:t>attributions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Book" panose="0200050302000002000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162A3-1CC5-5470-F09B-0A76A0CD73A1}"/>
              </a:ext>
            </a:extLst>
          </p:cNvPr>
          <p:cNvSpPr txBox="1"/>
          <p:nvPr/>
        </p:nvSpPr>
        <p:spPr>
          <a:xfrm>
            <a:off x="383953" y="781920"/>
            <a:ext cx="1142409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venir Book" panose="02000503020000020003" pitchFamily="2" charset="0"/>
                <a:cs typeface="Calibri"/>
              </a:rPr>
              <a:t>1 </a:t>
            </a:r>
            <a:r>
              <a:rPr lang="en-US" dirty="0">
                <a:latin typeface="Avenir Book" panose="02000503020000020003" pitchFamily="2" charset="0"/>
                <a:cs typeface="Calibri"/>
                <a:hlinkClick r:id="rId2"/>
              </a:rPr>
              <a:t>https://www.nia.gov.cn/n741440/n741567/c1589194/content.html</a:t>
            </a:r>
            <a:r>
              <a:rPr lang="en-US" dirty="0">
                <a:latin typeface="Avenir Book" panose="02000503020000020003" pitchFamily="2" charset="0"/>
                <a:cs typeface="Calibri"/>
              </a:rPr>
              <a:t> </a:t>
            </a:r>
          </a:p>
          <a:p>
            <a:r>
              <a:rPr lang="en-US" dirty="0">
                <a:latin typeface="Avenir Book" panose="02000503020000020003" pitchFamily="2" charset="0"/>
                <a:cs typeface="Calibri"/>
              </a:rPr>
              <a:t>2 </a:t>
            </a:r>
            <a:r>
              <a:rPr lang="en-HK" sz="1800" b="0" i="0" u="sng" strike="noStrike" dirty="0">
                <a:solidFill>
                  <a:srgbClr val="0563C1"/>
                </a:solidFill>
                <a:effectLst/>
                <a:latin typeface="Avenir Book" panose="02000503020000020003" pitchFamily="2" charset="0"/>
                <a:hlinkClick r:id="rId3"/>
              </a:rPr>
              <a:t>https://www.ceicdata.com/en/china/tourism-shanghai/shanghai-visitor-average-length-of-stay-foreigner</a:t>
            </a:r>
            <a:r>
              <a:rPr lang="en-HK" dirty="0">
                <a:latin typeface="Avenir Book" panose="02000503020000020003" pitchFamily="2" charset="0"/>
              </a:rPr>
              <a:t> </a:t>
            </a:r>
          </a:p>
          <a:p>
            <a:r>
              <a:rPr lang="en-HK" dirty="0">
                <a:latin typeface="Avenir Book" panose="02000503020000020003" pitchFamily="2" charset="0"/>
                <a:cs typeface="Calibri"/>
              </a:rPr>
              <a:t>3 </a:t>
            </a:r>
            <a:r>
              <a:rPr lang="en-HK" sz="1800" b="0" i="0" u="sng" strike="noStrike" dirty="0">
                <a:solidFill>
                  <a:srgbClr val="0563C1"/>
                </a:solidFill>
                <a:effectLst/>
                <a:latin typeface="Avenir Book" panose="02000503020000020003" pitchFamily="2" charset="0"/>
                <a:hlinkClick r:id="rId4"/>
              </a:rPr>
              <a:t>https://www.gov.cn/xinwen/2021-05/11/content_5605792.htm</a:t>
            </a:r>
            <a:r>
              <a:rPr lang="en-HK" dirty="0">
                <a:latin typeface="Avenir Book" panose="02000503020000020003" pitchFamily="2" charset="0"/>
              </a:rPr>
              <a:t> </a:t>
            </a:r>
          </a:p>
          <a:p>
            <a:r>
              <a:rPr lang="en-HK" dirty="0">
                <a:latin typeface="Avenir Book" panose="02000503020000020003" pitchFamily="2" charset="0"/>
                <a:cs typeface="Calibri"/>
              </a:rPr>
              <a:t>4 </a:t>
            </a:r>
            <a:r>
              <a:rPr lang="en-HK" dirty="0">
                <a:latin typeface="Avenir Book" panose="02000503020000020003" pitchFamily="2" charset="0"/>
                <a:cs typeface="Calibri"/>
                <a:hlinkClick r:id="rId5"/>
              </a:rPr>
              <a:t>http://www.xinhuanet.com/english/2017-05/17/c_136292324.htm</a:t>
            </a:r>
            <a:r>
              <a:rPr lang="en-HK" dirty="0">
                <a:latin typeface="Avenir Book" panose="02000503020000020003" pitchFamily="2" charset="0"/>
                <a:cs typeface="Calibri"/>
              </a:rPr>
              <a:t> </a:t>
            </a:r>
          </a:p>
          <a:p>
            <a:r>
              <a:rPr lang="en-US" altLang="zh-TW" dirty="0">
                <a:latin typeface="Avenir Book" panose="02000503020000020003" pitchFamily="2" charset="0"/>
                <a:cs typeface="Calibri"/>
              </a:rPr>
              <a:t>5</a:t>
            </a:r>
            <a:r>
              <a:rPr lang="zh-TW" altLang="en-US" dirty="0">
                <a:latin typeface="Avenir Book" panose="02000503020000020003" pitchFamily="2" charset="0"/>
                <a:cs typeface="Calibri"/>
              </a:rPr>
              <a:t> </a:t>
            </a:r>
            <a:r>
              <a:rPr lang="en-US" altLang="zh-TW" dirty="0">
                <a:latin typeface="Avenir Book" panose="02000503020000020003" pitchFamily="2" charset="0"/>
                <a:cs typeface="Calibri"/>
              </a:rPr>
              <a:t>pricing</a:t>
            </a:r>
            <a:r>
              <a:rPr lang="zh-TW" altLang="en-US" dirty="0">
                <a:latin typeface="Avenir Book" panose="02000503020000020003" pitchFamily="2" charset="0"/>
                <a:cs typeface="Calibri"/>
              </a:rPr>
              <a:t> </a:t>
            </a:r>
            <a:r>
              <a:rPr lang="en-US" altLang="zh-TW" dirty="0">
                <a:latin typeface="Avenir Book" panose="02000503020000020003" pitchFamily="2" charset="0"/>
                <a:cs typeface="Calibri"/>
              </a:rPr>
              <a:t>scheme</a:t>
            </a:r>
            <a:r>
              <a:rPr lang="zh-TW" altLang="en-US" dirty="0">
                <a:latin typeface="Avenir Book" panose="02000503020000020003" pitchFamily="2" charset="0"/>
                <a:cs typeface="Calibri"/>
              </a:rPr>
              <a:t> </a:t>
            </a:r>
            <a:r>
              <a:rPr lang="en-US" altLang="zh-TW" dirty="0">
                <a:latin typeface="Avenir Book" panose="02000503020000020003" pitchFamily="2" charset="0"/>
                <a:cs typeface="Calibri"/>
              </a:rPr>
              <a:t>inspired</a:t>
            </a:r>
            <a:r>
              <a:rPr lang="zh-TW" altLang="en-US" dirty="0">
                <a:latin typeface="Avenir Book" panose="02000503020000020003" pitchFamily="2" charset="0"/>
                <a:cs typeface="Calibri"/>
              </a:rPr>
              <a:t> </a:t>
            </a:r>
            <a:r>
              <a:rPr lang="en-US" altLang="zh-TW" dirty="0">
                <a:latin typeface="Avenir Book" panose="02000503020000020003" pitchFamily="2" charset="0"/>
                <a:cs typeface="Calibri"/>
              </a:rPr>
              <a:t>by</a:t>
            </a:r>
            <a:r>
              <a:rPr lang="zh-TW" altLang="en-US" dirty="0">
                <a:latin typeface="Avenir Book" panose="02000503020000020003" pitchFamily="2" charset="0"/>
                <a:cs typeface="Calibri"/>
              </a:rPr>
              <a:t> </a:t>
            </a:r>
            <a:r>
              <a:rPr lang="en-US" altLang="zh-TW" dirty="0" err="1">
                <a:latin typeface="Avenir Book" panose="02000503020000020003" pitchFamily="2" charset="0"/>
                <a:cs typeface="Calibri"/>
              </a:rPr>
              <a:t>iTranslate</a:t>
            </a:r>
            <a:endParaRPr lang="en-HK" dirty="0">
              <a:latin typeface="Avenir Book" panose="02000503020000020003" pitchFamily="2" charset="0"/>
              <a:cs typeface="Calibri"/>
            </a:endParaRPr>
          </a:p>
          <a:p>
            <a:endParaRPr lang="en-HK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  <a:hlinkClick r:id="rId6"/>
              </a:rPr>
              <a:t>https://www.flaticon.com/free-icons/salad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</a:rPr>
              <a:t>Salad icons created by </a:t>
            </a:r>
            <a:r>
              <a:rPr lang="en-GB" dirty="0" err="1">
                <a:latin typeface="Avenir Book" panose="02000503020000020003" pitchFamily="2" charset="0"/>
                <a:cs typeface="Calibri"/>
              </a:rPr>
              <a:t>Freepik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  <a:hlinkClick r:id="rId7"/>
              </a:rPr>
              <a:t>https://www.flaticon.com/free-icons/closet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</a:rPr>
              <a:t>Closet icons created by </a:t>
            </a:r>
            <a:r>
              <a:rPr lang="en-GB" dirty="0" err="1">
                <a:latin typeface="Avenir Book" panose="02000503020000020003" pitchFamily="2" charset="0"/>
                <a:cs typeface="Calibri"/>
              </a:rPr>
              <a:t>Freepik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  <a:hlinkClick r:id="rId8"/>
              </a:rPr>
              <a:t>https://www.flaticon.com/free-icons/bus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cs typeface="Calibri"/>
              </a:rPr>
              <a:t>Bus icons created by </a:t>
            </a:r>
            <a:r>
              <a:rPr lang="en-GB" dirty="0" err="1">
                <a:latin typeface="Avenir Book" panose="02000503020000020003" pitchFamily="2" charset="0"/>
                <a:cs typeface="Calibri"/>
              </a:rPr>
              <a:t>Freepik</a:t>
            </a:r>
            <a:endParaRPr lang="en-GB" dirty="0">
              <a:latin typeface="Avenir Book" panose="02000503020000020003" pitchFamily="2" charset="0"/>
              <a:cs typeface="Calibri"/>
            </a:endParaRPr>
          </a:p>
          <a:p>
            <a:r>
              <a:rPr lang="en-GB" dirty="0">
                <a:latin typeface="Avenir Book" panose="02000503020000020003" pitchFamily="2" charset="0"/>
                <a:hlinkClick r:id="rId9"/>
              </a:rPr>
              <a:t>https://www.flaticon.com/free-icons/translate</a:t>
            </a:r>
            <a:endParaRPr lang="en-HK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</a:rPr>
              <a:t>Translate icons created by </a:t>
            </a:r>
            <a:r>
              <a:rPr lang="en-GB" dirty="0" err="1">
                <a:latin typeface="Avenir Book" panose="02000503020000020003" pitchFamily="2" charset="0"/>
              </a:rPr>
              <a:t>Freepik</a:t>
            </a:r>
            <a:endParaRPr lang="en-GB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  <a:hlinkClick r:id="rId10"/>
              </a:rPr>
              <a:t>https://www.flaticon.com/free-icons/handrai</a:t>
            </a:r>
            <a:r>
              <a:rPr lang="en-US" altLang="zh-TW" dirty="0">
                <a:latin typeface="Avenir Book" panose="02000503020000020003" pitchFamily="2" charset="0"/>
                <a:hlinkClick r:id="rId10"/>
              </a:rPr>
              <a:t>l</a:t>
            </a:r>
            <a:endParaRPr lang="en-HK" altLang="zh-TW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</a:rPr>
              <a:t>Handrail icons created by Nikita </a:t>
            </a:r>
            <a:r>
              <a:rPr lang="en-GB" dirty="0" err="1">
                <a:latin typeface="Avenir Book" panose="02000503020000020003" pitchFamily="2" charset="0"/>
              </a:rPr>
              <a:t>Golubev</a:t>
            </a:r>
            <a:endParaRPr lang="en-GB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  <a:hlinkClick r:id="rId11"/>
              </a:rPr>
              <a:t>https://www.flaticon.com/free-icons/tourist</a:t>
            </a:r>
            <a:endParaRPr lang="en-GB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</a:rPr>
              <a:t>Tourist icons created by </a:t>
            </a:r>
            <a:r>
              <a:rPr lang="en-GB" dirty="0" err="1">
                <a:latin typeface="Avenir Book" panose="02000503020000020003" pitchFamily="2" charset="0"/>
              </a:rPr>
              <a:t>Eucalyp</a:t>
            </a:r>
            <a:endParaRPr lang="en-GB" dirty="0">
              <a:latin typeface="Avenir Book" panose="02000503020000020003" pitchFamily="2" charset="0"/>
            </a:endParaRPr>
          </a:p>
          <a:p>
            <a:r>
              <a:rPr lang="en-GB" dirty="0">
                <a:latin typeface="Avenir Book" panose="02000503020000020003" pitchFamily="2" charset="0"/>
              </a:rPr>
              <a:t>Mini program sample: </a:t>
            </a:r>
            <a:r>
              <a:rPr lang="en-GB" dirty="0" err="1">
                <a:latin typeface="Avenir Book" panose="02000503020000020003" pitchFamily="2" charset="0"/>
              </a:rPr>
              <a:t>張拉拉牛肉麵</a:t>
            </a:r>
            <a:endParaRPr lang="en-GB" dirty="0">
              <a:latin typeface="Avenir Book" panose="02000503020000020003" pitchFamily="2" charset="0"/>
            </a:endParaRPr>
          </a:p>
          <a:p>
            <a:r>
              <a:rPr lang="en-US" dirty="0">
                <a:latin typeface="Avenir Book" panose="02000503020000020003" pitchFamily="2" charset="0"/>
                <a:hlinkClick r:id="rId12"/>
              </a:rPr>
              <a:t>https://www.flaticon.com/free-icons/misunderstanding</a:t>
            </a:r>
            <a:r>
              <a:rPr lang="en-US" dirty="0">
                <a:latin typeface="Avenir Book" panose="02000503020000020003" pitchFamily="2" charset="0"/>
              </a:rPr>
              <a:t> </a:t>
            </a:r>
          </a:p>
          <a:p>
            <a:r>
              <a:rPr lang="en-US" dirty="0">
                <a:latin typeface="Avenir Book" panose="02000503020000020003" pitchFamily="2" charset="0"/>
              </a:rPr>
              <a:t>Misunderstanding icons created by </a:t>
            </a:r>
            <a:r>
              <a:rPr lang="en-US" dirty="0" err="1">
                <a:latin typeface="Avenir Book" panose="02000503020000020003" pitchFamily="2" charset="0"/>
              </a:rPr>
              <a:t>bsd</a:t>
            </a:r>
            <a:endParaRPr lang="en-HK" dirty="0">
              <a:latin typeface="Avenir Book" panose="02000503020000020003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1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Office PowerPoint</Application>
  <PresentationFormat>寬螢幕</PresentationFormat>
  <Paragraphs>208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Theme</vt:lpstr>
      <vt:lpstr>Prioritization Grid</vt:lpstr>
      <vt:lpstr>Prioritization Grid - Analysis</vt:lpstr>
      <vt:lpstr>Our Product    </vt:lpstr>
      <vt:lpstr>Market segmentation and targeting</vt:lpstr>
      <vt:lpstr>Market size</vt:lpstr>
      <vt:lpstr>PowerPoint 簡報</vt:lpstr>
      <vt:lpstr>Pain points (what we saw in the persona)</vt:lpstr>
      <vt:lpstr>Solution</vt:lpstr>
      <vt:lpstr>PowerPoint 簡報</vt:lpstr>
      <vt:lpstr>Competitor analysis</vt:lpstr>
      <vt:lpstr>Product</vt:lpstr>
      <vt:lpstr>Business model</vt:lpstr>
      <vt:lpstr>Appendix – references &amp; attributions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TAI Wai Ming</dc:creator>
  <cp:lastModifiedBy>TAI Wai Ming</cp:lastModifiedBy>
  <cp:revision>4</cp:revision>
  <dcterms:created xsi:type="dcterms:W3CDTF">2024-02-23T00:55:48Z</dcterms:created>
  <dcterms:modified xsi:type="dcterms:W3CDTF">2024-02-29T02:16:22Z</dcterms:modified>
</cp:coreProperties>
</file>
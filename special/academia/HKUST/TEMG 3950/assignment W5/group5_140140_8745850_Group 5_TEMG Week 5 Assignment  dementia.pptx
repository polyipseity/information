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93" r:id="rId2"/>
    <p:sldId id="318" r:id="rId3"/>
    <p:sldId id="319" r:id="rId4"/>
    <p:sldId id="301" r:id="rId5"/>
    <p:sldId id="322" r:id="rId6"/>
    <p:sldId id="259" r:id="rId7"/>
    <p:sldId id="287" r:id="rId8"/>
    <p:sldId id="312" r:id="rId9"/>
    <p:sldId id="314" r:id="rId10"/>
    <p:sldId id="317" r:id="rId11"/>
    <p:sldId id="310" r:id="rId12"/>
    <p:sldId id="305" r:id="rId13"/>
    <p:sldId id="320" r:id="rId14"/>
    <p:sldId id="308" r:id="rId15"/>
    <p:sldId id="278" r:id="rId16"/>
    <p:sldId id="321" r:id="rId17"/>
    <p:sldId id="284" r:id="rId18"/>
    <p:sldId id="279" r:id="rId19"/>
    <p:sldId id="270" r:id="rId20"/>
    <p:sldId id="298" r:id="rId21"/>
    <p:sldId id="292" r:id="rId22"/>
    <p:sldId id="303" r:id="rId23"/>
    <p:sldId id="300"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F82"/>
    <a:srgbClr val="165F7F"/>
    <a:srgbClr val="195D84"/>
    <a:srgbClr val="2020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9B61D-3B53-0B5F-04F4-6072B4CF27D9}" v="22" dt="2024-03-05T02:22:38.107"/>
    <p1510:client id="{55F13103-00A8-6AA6-E62E-9C6AE7E9F067}" v="17" dt="2024-03-05T07:29:30.283"/>
    <p1510:client id="{60AD7FEA-3ECE-B988-CCA0-57FD829F3FFE}" v="43" dt="2024-03-05T09:00:13.238"/>
    <p1510:client id="{74B5902A-4FCE-4A40-93CC-BF5A900CEA37}" v="8156" dt="2024-03-05T14:56:29.813"/>
    <p1510:client id="{8F457562-0A08-47D2-9634-E4E8E68EC8FB}" v="7412" dt="2024-03-05T14:53:04.283"/>
    <p1510:client id="{D67B8610-EFC4-CB46-8274-331DB9F0AD5C}" v="2277" dt="2024-03-05T05:14:46.360"/>
    <p1510:client id="{F63C141A-B720-51EC-E40D-5C778DA1D005}" v="718" dt="2024-03-05T08:45:36.84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3"/>
  </p:normalViewPr>
  <p:slideViewPr>
    <p:cSldViewPr snapToGrid="0">
      <p:cViewPr varScale="1">
        <p:scale>
          <a:sx n="92" d="100"/>
          <a:sy n="92" d="100"/>
        </p:scale>
        <p:origin x="7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A3EFD-E2DB-414F-8C20-81ABE1BE491A}" type="datetimeFigureOut">
              <a:rPr lang="en-HK" smtClean="0"/>
              <a:t>10/3/2024</a:t>
            </a:fld>
            <a:endParaRPr lang="en-HK"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DD412C-E641-4AA9-9E5D-C1688F1DBD29}" type="slidenum">
              <a:rPr lang="en-HK" smtClean="0"/>
              <a:t>‹#›</a:t>
            </a:fld>
            <a:endParaRPr lang="en-HK" dirty="0"/>
          </a:p>
        </p:txBody>
      </p:sp>
    </p:spTree>
    <p:extLst>
      <p:ext uri="{BB962C8B-B14F-4D97-AF65-F5344CB8AC3E}">
        <p14:creationId xmlns:p14="http://schemas.microsoft.com/office/powerpoint/2010/main" val="1166605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DD412C-E641-4AA9-9E5D-C1688F1DBD29}" type="slidenum">
              <a:rPr lang="en-HK" smtClean="0"/>
              <a:t>12</a:t>
            </a:fld>
            <a:endParaRPr lang="en-HK" dirty="0"/>
          </a:p>
        </p:txBody>
      </p:sp>
    </p:spTree>
    <p:extLst>
      <p:ext uri="{BB962C8B-B14F-4D97-AF65-F5344CB8AC3E}">
        <p14:creationId xmlns:p14="http://schemas.microsoft.com/office/powerpoint/2010/main" val="2471910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DD412C-E641-4AA9-9E5D-C1688F1DBD29}" type="slidenum">
              <a:rPr lang="en-HK" smtClean="0"/>
              <a:t>13</a:t>
            </a:fld>
            <a:endParaRPr lang="en-HK" dirty="0"/>
          </a:p>
        </p:txBody>
      </p:sp>
    </p:spTree>
    <p:extLst>
      <p:ext uri="{BB962C8B-B14F-4D97-AF65-F5344CB8AC3E}">
        <p14:creationId xmlns:p14="http://schemas.microsoft.com/office/powerpoint/2010/main" val="2059384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DD412C-E641-4AA9-9E5D-C1688F1DBD29}" type="slidenum">
              <a:rPr lang="en-HK" smtClean="0"/>
              <a:t>14</a:t>
            </a:fld>
            <a:endParaRPr lang="en-HK" dirty="0"/>
          </a:p>
        </p:txBody>
      </p:sp>
    </p:spTree>
    <p:extLst>
      <p:ext uri="{BB962C8B-B14F-4D97-AF65-F5344CB8AC3E}">
        <p14:creationId xmlns:p14="http://schemas.microsoft.com/office/powerpoint/2010/main" val="2174421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70F6C-11D0-C9A2-1D9B-999438502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5100C-1851-F7F2-7AE9-4C56F00C7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FA152-2D69-CDE1-721D-00132CB16F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9E7E87-16D5-ABEA-F144-043FAED1386F}"/>
              </a:ext>
            </a:extLst>
          </p:cNvPr>
          <p:cNvSpPr>
            <a:spLocks noGrp="1"/>
          </p:cNvSpPr>
          <p:nvPr>
            <p:ph type="sldNum" sz="quarter" idx="5"/>
          </p:nvPr>
        </p:nvSpPr>
        <p:spPr/>
        <p:txBody>
          <a:bodyPr/>
          <a:lstStyle/>
          <a:p>
            <a:fld id="{28DD412C-E641-4AA9-9E5D-C1688F1DBD29}" type="slidenum">
              <a:rPr lang="en-HK" smtClean="0"/>
              <a:t>15</a:t>
            </a:fld>
            <a:endParaRPr lang="en-HK" dirty="0"/>
          </a:p>
        </p:txBody>
      </p:sp>
    </p:spTree>
    <p:extLst>
      <p:ext uri="{BB962C8B-B14F-4D97-AF65-F5344CB8AC3E}">
        <p14:creationId xmlns:p14="http://schemas.microsoft.com/office/powerpoint/2010/main" val="3862218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525BC-7AA2-BEF4-69A6-D92344CE534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9E5DDB7-0F01-4A84-E66C-FBE7156AD3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3973CE-F49C-5BA3-5BF0-AE698A5FAEB1}"/>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5" name="Footer Placeholder 4">
            <a:extLst>
              <a:ext uri="{FF2B5EF4-FFF2-40B4-BE49-F238E27FC236}">
                <a16:creationId xmlns:a16="http://schemas.microsoft.com/office/drawing/2014/main" id="{5648F3B2-71EB-107B-2D0D-715896C927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1C7F28-8F79-B8A1-20F6-AF2FFED748B2}"/>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2671465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FC18-109C-777C-839E-31034B5DAD2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50635B3-F511-E24A-275D-8A9C40DD607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181215-229C-1CE2-B8AA-DFDFF3E7BA51}"/>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5" name="Footer Placeholder 4">
            <a:extLst>
              <a:ext uri="{FF2B5EF4-FFF2-40B4-BE49-F238E27FC236}">
                <a16:creationId xmlns:a16="http://schemas.microsoft.com/office/drawing/2014/main" id="{6F333626-3513-EDC3-A036-EA10BEA3818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C05DD11-2247-2784-A94A-7739A3502DA0}"/>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120708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9B43-9A44-84B4-2258-19D647B6D20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99DBA89-D20D-0F1A-5746-84213500EA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5180E32-10FF-E556-310B-9C0463805380}"/>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5" name="Footer Placeholder 4">
            <a:extLst>
              <a:ext uri="{FF2B5EF4-FFF2-40B4-BE49-F238E27FC236}">
                <a16:creationId xmlns:a16="http://schemas.microsoft.com/office/drawing/2014/main" id="{7999042F-F545-E192-BFCF-0B68297C04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D32BDCD-5091-A8AD-68B1-92BFDCBD9396}"/>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2256315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C19E7-6FC9-F09F-F79B-FC42B7DF4A2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CF36CD1-5BA1-9236-C55D-6BD2F498EA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3078277-FCD0-0041-1469-35C6604A0C2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92E69FC-F48E-C65D-2065-96B55C23D545}"/>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6" name="Footer Placeholder 5">
            <a:extLst>
              <a:ext uri="{FF2B5EF4-FFF2-40B4-BE49-F238E27FC236}">
                <a16:creationId xmlns:a16="http://schemas.microsoft.com/office/drawing/2014/main" id="{EC85BD7C-BD11-26DB-069D-1F5D9BBA24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9F4F1ED-9524-0BF3-4C86-375D59A3A0E9}"/>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1513413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934AD-9E44-CD49-D23C-58D965BF542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AF0878-D510-68B1-4ED5-8D7A583EE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D084562-B291-CF70-AB89-87D7D9E10DE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5B4BDD0-6DBD-D5D2-AC8C-D1D814AD4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89D630E-56AB-FA65-34A4-CAC4B5646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0DCF077-0AB9-47E6-F8B0-D75675AE4C9A}"/>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8" name="Footer Placeholder 7">
            <a:extLst>
              <a:ext uri="{FF2B5EF4-FFF2-40B4-BE49-F238E27FC236}">
                <a16:creationId xmlns:a16="http://schemas.microsoft.com/office/drawing/2014/main" id="{87EA77D5-45DB-C08E-E774-5421584339A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E5927FE-231E-9C7C-4B92-A072B67FCB26}"/>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4243200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59A64-E891-470D-A510-1B73DEB7A06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95C91C-DFFC-5225-3FAF-3ECCB7C34A2A}"/>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4" name="Footer Placeholder 3">
            <a:extLst>
              <a:ext uri="{FF2B5EF4-FFF2-40B4-BE49-F238E27FC236}">
                <a16:creationId xmlns:a16="http://schemas.microsoft.com/office/drawing/2014/main" id="{406649E2-A718-6281-1BDA-83FB0C989B1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7F7CD17-5F74-D579-C15F-75E3ED0D9545}"/>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6329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35A017-F626-BB9C-F99B-4B84C3029FEA}"/>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3" name="Footer Placeholder 2">
            <a:extLst>
              <a:ext uri="{FF2B5EF4-FFF2-40B4-BE49-F238E27FC236}">
                <a16:creationId xmlns:a16="http://schemas.microsoft.com/office/drawing/2014/main" id="{0AE89D2B-684C-0EDA-4A75-C82CCC192B4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C58BB9E-A4E5-015C-A8B2-B4FCA66A0957}"/>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3009092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DFFB-D783-F6A7-9B13-93BC28D329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2206869-DDBF-1493-37DE-98E5F98CE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87B5CEF-2B96-88EC-4082-C53CBA1067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811C7-89F3-8BF1-7532-F5D7FA9EC96F}"/>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6" name="Footer Placeholder 5">
            <a:extLst>
              <a:ext uri="{FF2B5EF4-FFF2-40B4-BE49-F238E27FC236}">
                <a16:creationId xmlns:a16="http://schemas.microsoft.com/office/drawing/2014/main" id="{A72E3E61-290F-9E2C-AA9F-5D14626FA5D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99598FA-AA62-E275-E902-95048964E1B2}"/>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2277071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6AF-04A2-123D-2CA1-033DA84EC5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D93512A-22BD-7C92-5F6B-16B3408409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E46A2BC-672F-E9C6-59A1-B98DA47E3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288700B-9CCC-C8BF-270C-1127098C3D7E}"/>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6" name="Footer Placeholder 5">
            <a:extLst>
              <a:ext uri="{FF2B5EF4-FFF2-40B4-BE49-F238E27FC236}">
                <a16:creationId xmlns:a16="http://schemas.microsoft.com/office/drawing/2014/main" id="{17A15182-7B15-6007-4F51-63B23DECA61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17B98C-4CDB-B954-8144-97E6AF6B7E05}"/>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2711841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87248-7AEB-6F5A-3707-AA0AB9A02DA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D1E2AF-9C3A-5666-02CC-366608A7E05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8ED5C6-625C-978E-F66F-253F780F77A2}"/>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5" name="Footer Placeholder 4">
            <a:extLst>
              <a:ext uri="{FF2B5EF4-FFF2-40B4-BE49-F238E27FC236}">
                <a16:creationId xmlns:a16="http://schemas.microsoft.com/office/drawing/2014/main" id="{FC8C4016-1887-1AA2-1110-B5D3BC6130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71C949-05FC-EE9B-DB64-6114E110EFFB}"/>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2989390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FDFBED-1C7B-2CEE-7029-996B7EC0FDD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C2A0C9-576E-2D23-581C-53BD3F65CB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934952-FF5F-6F47-E812-7C588D23A25F}"/>
              </a:ext>
            </a:extLst>
          </p:cNvPr>
          <p:cNvSpPr>
            <a:spLocks noGrp="1"/>
          </p:cNvSpPr>
          <p:nvPr>
            <p:ph type="dt" sz="half" idx="10"/>
          </p:nvPr>
        </p:nvSpPr>
        <p:spPr/>
        <p:txBody>
          <a:bodyPr/>
          <a:lstStyle/>
          <a:p>
            <a:fld id="{0498CC02-B044-7948-8B87-3ACC890418F6}" type="datetimeFigureOut">
              <a:rPr lang="en-US" smtClean="0"/>
              <a:t>3/10/2024</a:t>
            </a:fld>
            <a:endParaRPr lang="en-US" dirty="0"/>
          </a:p>
        </p:txBody>
      </p:sp>
      <p:sp>
        <p:nvSpPr>
          <p:cNvPr id="5" name="Footer Placeholder 4">
            <a:extLst>
              <a:ext uri="{FF2B5EF4-FFF2-40B4-BE49-F238E27FC236}">
                <a16:creationId xmlns:a16="http://schemas.microsoft.com/office/drawing/2014/main" id="{AADC74FB-DA9F-D020-1CCF-B53B08B99F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B6D8593-8B5D-346B-5E63-53649287980A}"/>
              </a:ext>
            </a:extLst>
          </p:cNvPr>
          <p:cNvSpPr>
            <a:spLocks noGrp="1"/>
          </p:cNvSpPr>
          <p:nvPr>
            <p:ph type="sldNum" sz="quarter" idx="12"/>
          </p:nvPr>
        </p:nvSpPr>
        <p:spPr/>
        <p:txBody>
          <a:bodyPr/>
          <a:lstStyle/>
          <a:p>
            <a:fld id="{47321689-7E9D-7E47-B02D-FF80F0737F05}" type="slidenum">
              <a:rPr lang="en-US" smtClean="0"/>
              <a:t>‹#›</a:t>
            </a:fld>
            <a:endParaRPr lang="en-US" dirty="0"/>
          </a:p>
        </p:txBody>
      </p:sp>
    </p:spTree>
    <p:extLst>
      <p:ext uri="{BB962C8B-B14F-4D97-AF65-F5344CB8AC3E}">
        <p14:creationId xmlns:p14="http://schemas.microsoft.com/office/powerpoint/2010/main" val="3644949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77449F-D65B-D438-F07E-DEAC62392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B984457-273E-59E3-4B89-70B8107489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F69D69-2AD7-585D-03BA-3D9FA29345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98CC02-B044-7948-8B87-3ACC890418F6}" type="datetimeFigureOut">
              <a:rPr lang="en-US" smtClean="0"/>
              <a:t>3/10/2024</a:t>
            </a:fld>
            <a:endParaRPr lang="en-US" dirty="0"/>
          </a:p>
        </p:txBody>
      </p:sp>
      <p:sp>
        <p:nvSpPr>
          <p:cNvPr id="5" name="Footer Placeholder 4">
            <a:extLst>
              <a:ext uri="{FF2B5EF4-FFF2-40B4-BE49-F238E27FC236}">
                <a16:creationId xmlns:a16="http://schemas.microsoft.com/office/drawing/2014/main" id="{6B31AADA-79C1-21D8-CF9B-68ED144781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899BE408-9BFC-B970-305D-D00E017D9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21689-7E9D-7E47-B02D-FF80F0737F05}" type="slidenum">
              <a:rPr lang="en-US" smtClean="0"/>
              <a:t>‹#›</a:t>
            </a:fld>
            <a:endParaRPr lang="en-US" dirty="0"/>
          </a:p>
        </p:txBody>
      </p:sp>
    </p:spTree>
    <p:extLst>
      <p:ext uri="{BB962C8B-B14F-4D97-AF65-F5344CB8AC3E}">
        <p14:creationId xmlns:p14="http://schemas.microsoft.com/office/powerpoint/2010/main" val="3938485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hkustconnect-my.sharepoint.com/:x:/g/personal/khhuangaa_connect_ust_hk/EewT6geD6ORKpcJQnxImdcsBKbWiEBjqOf6A3s_ak78cRw?e=qx4QnZ"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hyperlink" Target="https://hkustconnect-my.sharepoint.com/:x:/g/personal/khhuangaa_connect_ust_hk/EfkhNDbGmTNLqYlgypLNSK8BoSk3s5Hpk_ptgf-9IWFpFA?e=na2ox6"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hyperlink" Target="https://www.openaccessgovernment.org/dementia-as-a-public-health-issue-in-hong-kong/80451" TargetMode="External"/><Relationship Id="rId13" Type="http://schemas.openxmlformats.org/officeDocument/2006/relationships/hyperlink" Target="https://youtu.be/x9X75voKB5w?si=c1aIuR7oHC9u_zaz" TargetMode="External"/><Relationship Id="rId3" Type="http://schemas.openxmlformats.org/officeDocument/2006/relationships/hyperlink" Target="https://www.edb.gov.hk/attachment/en/curriculum-development/kla/pshe/references-and-resources/geography/Population_E.pdf" TargetMode="External"/><Relationship Id="rId7" Type="http://schemas.openxmlformats.org/officeDocument/2006/relationships/hyperlink" Target="https://www.statista.com/statistics/604594/age-distribution-in-hong-kong" TargetMode="External"/><Relationship Id="rId12" Type="http://schemas.openxmlformats.org/officeDocument/2006/relationships/hyperlink" Target="http://hittps:/www3.nhk.or.jp/nhkworld/en/tv/documentary/20200223/4001348/" TargetMode="External"/><Relationship Id="rId2" Type="http://schemas.openxmlformats.org/officeDocument/2006/relationships/hyperlink" Target="https://www.statista.com/statistics/1172165/china-population-in-the-greater-bay-area-cities/" TargetMode="External"/><Relationship Id="rId16" Type="http://schemas.openxmlformats.org/officeDocument/2006/relationships/hyperlink" Target="https://www.flaticon.com/free-icons/parents" TargetMode="External"/><Relationship Id="rId1" Type="http://schemas.openxmlformats.org/officeDocument/2006/relationships/slideLayout" Target="../slideLayouts/slideLayout7.xml"/><Relationship Id="rId6" Type="http://schemas.openxmlformats.org/officeDocument/2006/relationships/hyperlink" Target="https://www.statista.com/statistics/316842/hong-kong-mid-year-population" TargetMode="External"/><Relationship Id="rId11" Type="http://schemas.openxmlformats.org/officeDocument/2006/relationships/hyperlink" Target="https://iris.who.int/bitstream/handle/10665/344701/9789240033245-eng.pdf?sequence=1" TargetMode="External"/><Relationship Id="rId5" Type="http://schemas.openxmlformats.org/officeDocument/2006/relationships/hyperlink" Target="https://www.qk.sjtu.edu.cn/jdcp/CN/10.16150/j.1671-2870.2021.04.001" TargetMode="External"/><Relationship Id="rId15" Type="http://schemas.openxmlformats.org/officeDocument/2006/relationships/hyperlink" Target="https://www.flaticon.com/free-icons/old" TargetMode="External"/><Relationship Id="rId10" Type="http://schemas.openxmlformats.org/officeDocument/2006/relationships/hyperlink" Target="https://database.earth/population/by-country/2050" TargetMode="External"/><Relationship Id="rId4" Type="http://schemas.openxmlformats.org/officeDocument/2006/relationships/hyperlink" Target="https://www.sciencedirect.com/science/article/pii/S2468266720301857?via%3Dihub" TargetMode="External"/><Relationship Id="rId9" Type="http://schemas.openxmlformats.org/officeDocument/2006/relationships/hyperlink" Target="https://www.statista.com/statistics/251529/share-of-persons-aged-60-and-older-in-the-chinese-population/" TargetMode="External"/><Relationship Id="rId14" Type="http://schemas.openxmlformats.org/officeDocument/2006/relationships/hyperlink" Target="https://www.freepik.com/free-psd/smartwatch-presentation_869739.htm#fromView=search&amp;page=1&amp;position=7&amp;uuid=d33e79d3-02bb-4da8-bdf4-938fdfac308c"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E5169-AFC3-F2CB-13E7-17E932B89A9E}"/>
              </a:ext>
            </a:extLst>
          </p:cNvPr>
          <p:cNvSpPr>
            <a:spLocks noGrp="1"/>
          </p:cNvSpPr>
          <p:nvPr>
            <p:ph type="title"/>
          </p:nvPr>
        </p:nvSpPr>
        <p:spPr>
          <a:xfrm>
            <a:off x="589561" y="286897"/>
            <a:ext cx="6171458" cy="3586229"/>
          </a:xfrm>
        </p:spPr>
        <p:txBody>
          <a:bodyPr anchor="ctr">
            <a:normAutofit/>
          </a:bodyPr>
          <a:lstStyle/>
          <a:p>
            <a:r>
              <a:rPr lang="en-US" altLang="zh-TW" sz="4000" b="1" dirty="0">
                <a:latin typeface="Avenir Book"/>
                <a:ea typeface="新細明體"/>
                <a:cs typeface="Calibri Light"/>
              </a:rPr>
              <a:t>How</a:t>
            </a:r>
            <a:r>
              <a:rPr lang="zh-TW" altLang="en-US" sz="4000" b="1">
                <a:latin typeface="Avenir Book"/>
                <a:ea typeface="新細明體"/>
                <a:cs typeface="Calibri Light"/>
              </a:rPr>
              <a:t> </a:t>
            </a:r>
            <a:r>
              <a:rPr lang="en-US" altLang="zh-TW" sz="4000" b="1" dirty="0">
                <a:latin typeface="Avenir Book"/>
                <a:ea typeface="新細明體"/>
                <a:cs typeface="Calibri Light"/>
              </a:rPr>
              <a:t>Might</a:t>
            </a:r>
            <a:r>
              <a:rPr lang="zh-TW" altLang="en-US" sz="4000" b="1">
                <a:latin typeface="Avenir Book"/>
                <a:ea typeface="新細明體"/>
                <a:cs typeface="Calibri Light"/>
              </a:rPr>
              <a:t> </a:t>
            </a:r>
            <a:r>
              <a:rPr lang="en-US" altLang="zh-TW" sz="4000" b="1" dirty="0">
                <a:latin typeface="Avenir Book"/>
                <a:ea typeface="新細明體"/>
                <a:cs typeface="Calibri Light"/>
              </a:rPr>
              <a:t>We</a:t>
            </a:r>
            <a:r>
              <a:rPr lang="zh-TW" altLang="en-US" sz="4000" b="1">
                <a:latin typeface="Avenir Book"/>
                <a:ea typeface="新細明體"/>
                <a:cs typeface="Calibri Light"/>
              </a:rPr>
              <a:t> </a:t>
            </a:r>
            <a:r>
              <a:rPr lang="en-US" altLang="zh-TW" sz="4000" b="1" dirty="0">
                <a:latin typeface="Avenir Book"/>
                <a:ea typeface="新細明體"/>
                <a:cs typeface="Calibri Light"/>
              </a:rPr>
              <a:t>help</a:t>
            </a:r>
            <a:r>
              <a:rPr lang="zh-TW" altLang="en-US" sz="4000" b="1">
                <a:latin typeface="Avenir Book"/>
                <a:ea typeface="新細明體"/>
                <a:cs typeface="Calibri Light"/>
              </a:rPr>
              <a:t> </a:t>
            </a:r>
            <a:r>
              <a:rPr lang="en-US" altLang="zh-TW" sz="4000" b="1" dirty="0">
                <a:latin typeface="Avenir Book"/>
                <a:ea typeface="新細明體"/>
                <a:cs typeface="Calibri Light"/>
              </a:rPr>
              <a:t>families</a:t>
            </a:r>
            <a:r>
              <a:rPr lang="zh-TW" altLang="en-US" sz="4000" b="1">
                <a:latin typeface="Avenir Book"/>
                <a:ea typeface="新細明體"/>
                <a:cs typeface="Calibri Light"/>
              </a:rPr>
              <a:t> </a:t>
            </a:r>
            <a:r>
              <a:rPr lang="en-US" altLang="zh-TW" sz="4000" b="1" dirty="0">
                <a:latin typeface="Avenir Book"/>
                <a:ea typeface="新細明體"/>
                <a:cs typeface="Calibri Light"/>
              </a:rPr>
              <a:t>to</a:t>
            </a:r>
            <a:r>
              <a:rPr lang="zh-TW" altLang="en-US" sz="4000" b="1">
                <a:latin typeface="Avenir Book"/>
                <a:ea typeface="新細明體"/>
                <a:cs typeface="Calibri Light"/>
              </a:rPr>
              <a:t> </a:t>
            </a:r>
            <a:r>
              <a:rPr lang="en-US" altLang="zh-TW" sz="4000" b="1" dirty="0">
                <a:latin typeface="Avenir Book"/>
                <a:ea typeface="新細明體"/>
                <a:cs typeface="Calibri Light"/>
              </a:rPr>
              <a:t>get</a:t>
            </a:r>
            <a:r>
              <a:rPr lang="zh-TW" altLang="en-US" sz="4000" b="1">
                <a:latin typeface="Avenir Book"/>
                <a:ea typeface="新細明體"/>
                <a:cs typeface="Calibri Light"/>
              </a:rPr>
              <a:t> </a:t>
            </a:r>
            <a:r>
              <a:rPr lang="en-US" altLang="zh-TW" sz="4000" b="1" dirty="0">
                <a:latin typeface="Avenir Book"/>
                <a:ea typeface="新細明體"/>
                <a:cs typeface="Calibri Light"/>
              </a:rPr>
              <a:t>a</a:t>
            </a:r>
            <a:r>
              <a:rPr lang="zh-TW" altLang="en-US" sz="4000" b="1">
                <a:latin typeface="Avenir Book"/>
                <a:ea typeface="新細明體"/>
                <a:cs typeface="Calibri Light"/>
              </a:rPr>
              <a:t> </a:t>
            </a:r>
            <a:r>
              <a:rPr lang="en-US" altLang="zh-TW" sz="4000" b="1" dirty="0">
                <a:latin typeface="Avenir Book"/>
                <a:ea typeface="新細明體"/>
                <a:cs typeface="Calibri Light"/>
              </a:rPr>
              <a:t>peace</a:t>
            </a:r>
            <a:r>
              <a:rPr lang="zh-TW" altLang="en-US" sz="4000" b="1">
                <a:latin typeface="Avenir Book"/>
                <a:ea typeface="新細明體"/>
                <a:cs typeface="Calibri Light"/>
              </a:rPr>
              <a:t> </a:t>
            </a:r>
            <a:r>
              <a:rPr lang="en-US" altLang="zh-TW" sz="4000" b="1" dirty="0">
                <a:latin typeface="Avenir Book"/>
                <a:ea typeface="新細明體"/>
                <a:cs typeface="Calibri Light"/>
              </a:rPr>
              <a:t>of</a:t>
            </a:r>
            <a:r>
              <a:rPr lang="zh-TW" altLang="en-US" sz="4000" b="1">
                <a:latin typeface="Avenir Book"/>
                <a:ea typeface="新細明體"/>
                <a:cs typeface="Calibri Light"/>
              </a:rPr>
              <a:t> </a:t>
            </a:r>
            <a:r>
              <a:rPr lang="en-US" altLang="zh-TW" sz="4000" b="1" dirty="0">
                <a:latin typeface="Avenir Book"/>
                <a:ea typeface="新細明體"/>
                <a:cs typeface="Calibri Light"/>
              </a:rPr>
              <a:t>mind</a:t>
            </a:r>
            <a:r>
              <a:rPr lang="zh-TW" altLang="en-US" sz="4000" b="1">
                <a:latin typeface="Avenir Book"/>
                <a:ea typeface="新細明體"/>
                <a:cs typeface="Calibri Light"/>
              </a:rPr>
              <a:t> </a:t>
            </a:r>
            <a:r>
              <a:rPr lang="en-US" altLang="zh-TW" sz="4000" b="1" dirty="0">
                <a:latin typeface="Avenir Book"/>
                <a:ea typeface="新細明體"/>
                <a:cs typeface="Calibri Light"/>
              </a:rPr>
              <a:t>from</a:t>
            </a:r>
            <a:r>
              <a:rPr lang="zh-TW" altLang="en-US" sz="4000" b="1">
                <a:latin typeface="Avenir Book"/>
                <a:ea typeface="新細明體"/>
                <a:cs typeface="Calibri Light"/>
              </a:rPr>
              <a:t> </a:t>
            </a:r>
            <a:r>
              <a:rPr lang="en-US" altLang="zh-TW" sz="4000" b="1" dirty="0">
                <a:latin typeface="Avenir Book"/>
                <a:ea typeface="新細明體"/>
                <a:cs typeface="Calibri Light"/>
              </a:rPr>
              <a:t>dementia</a:t>
            </a:r>
            <a:r>
              <a:rPr lang="zh-TW" altLang="en-US" sz="4000" b="1">
                <a:latin typeface="Avenir Book"/>
                <a:ea typeface="新細明體"/>
                <a:cs typeface="Calibri Light"/>
              </a:rPr>
              <a:t> </a:t>
            </a:r>
            <a:r>
              <a:rPr lang="en-US" altLang="zh-TW" sz="4000" b="1" dirty="0">
                <a:latin typeface="Avenir Book"/>
                <a:ea typeface="新細明體"/>
                <a:cs typeface="Calibri Light"/>
              </a:rPr>
              <a:t>patients?</a:t>
            </a:r>
            <a:endParaRPr lang="en-GB" sz="4000" b="1" dirty="0">
              <a:latin typeface="Avenir Book"/>
              <a:ea typeface="新細明體"/>
            </a:endParaRPr>
          </a:p>
        </p:txBody>
      </p:sp>
      <p:sp>
        <p:nvSpPr>
          <p:cNvPr id="3" name="Rectangle 2">
            <a:extLst>
              <a:ext uri="{FF2B5EF4-FFF2-40B4-BE49-F238E27FC236}">
                <a16:creationId xmlns:a16="http://schemas.microsoft.com/office/drawing/2014/main" id="{FD29738A-B62F-8192-284D-C444CF8B5EA4}"/>
              </a:ext>
            </a:extLst>
          </p:cNvPr>
          <p:cNvSpPr/>
          <p:nvPr/>
        </p:nvSpPr>
        <p:spPr>
          <a:xfrm>
            <a:off x="1939" y="286897"/>
            <a:ext cx="305914" cy="4066442"/>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5E27F477-A219-2DB0-94B4-AEB08EA96960}"/>
              </a:ext>
            </a:extLst>
          </p:cNvPr>
          <p:cNvSpPr/>
          <p:nvPr/>
        </p:nvSpPr>
        <p:spPr>
          <a:xfrm>
            <a:off x="8841139" y="0"/>
            <a:ext cx="3348922" cy="6858000"/>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itle 1">
            <a:extLst>
              <a:ext uri="{FF2B5EF4-FFF2-40B4-BE49-F238E27FC236}">
                <a16:creationId xmlns:a16="http://schemas.microsoft.com/office/drawing/2014/main" id="{C6B269BA-1D85-FEBD-117A-1D108BA4DEB0}"/>
              </a:ext>
            </a:extLst>
          </p:cNvPr>
          <p:cNvSpPr txBox="1">
            <a:spLocks/>
          </p:cNvSpPr>
          <p:nvPr/>
        </p:nvSpPr>
        <p:spPr>
          <a:xfrm>
            <a:off x="538854" y="3873126"/>
            <a:ext cx="3348922" cy="4802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1800" dirty="0">
                <a:latin typeface="Avenir Book"/>
                <a:cs typeface="Calibri Light"/>
              </a:rPr>
              <a:t>Group</a:t>
            </a:r>
            <a:r>
              <a:rPr lang="zh-TW" altLang="en-US" sz="1800">
                <a:latin typeface="Avenir Book"/>
                <a:cs typeface="Calibri Light"/>
              </a:rPr>
              <a:t> </a:t>
            </a:r>
            <a:r>
              <a:rPr lang="en-US" altLang="zh-TW" sz="1800" dirty="0">
                <a:latin typeface="Avenir Book"/>
                <a:cs typeface="Calibri Light"/>
              </a:rPr>
              <a:t>5</a:t>
            </a:r>
            <a:endParaRPr lang="en-GB" sz="1800" dirty="0">
              <a:latin typeface="Avenir Book"/>
            </a:endParaRPr>
          </a:p>
        </p:txBody>
      </p:sp>
      <p:sp>
        <p:nvSpPr>
          <p:cNvPr id="6" name="TextBox 5">
            <a:extLst>
              <a:ext uri="{FF2B5EF4-FFF2-40B4-BE49-F238E27FC236}">
                <a16:creationId xmlns:a16="http://schemas.microsoft.com/office/drawing/2014/main" id="{3D163311-CD12-0CD7-90E7-38729B07C5D5}"/>
              </a:ext>
            </a:extLst>
          </p:cNvPr>
          <p:cNvSpPr txBox="1"/>
          <p:nvPr/>
        </p:nvSpPr>
        <p:spPr>
          <a:xfrm>
            <a:off x="5043055" y="2563091"/>
            <a:ext cx="692727" cy="369332"/>
          </a:xfrm>
          <a:prstGeom prst="rect">
            <a:avLst/>
          </a:prstGeom>
          <a:noFill/>
        </p:spPr>
        <p:txBody>
          <a:bodyPr wrap="square" rtlCol="0">
            <a:spAutoFit/>
          </a:bodyPr>
          <a:lstStyle/>
          <a:p>
            <a:r>
              <a:rPr lang="en-US" dirty="0">
                <a:solidFill>
                  <a:srgbClr val="FF0000"/>
                </a:solidFill>
              </a:rPr>
              <a:t>9/10</a:t>
            </a:r>
            <a:endParaRPr lang="en-HK" dirty="0">
              <a:solidFill>
                <a:srgbClr val="FF0000"/>
              </a:solidFill>
            </a:endParaRPr>
          </a:p>
        </p:txBody>
      </p:sp>
      <p:sp>
        <p:nvSpPr>
          <p:cNvPr id="7" name="TextBox 6">
            <a:extLst>
              <a:ext uri="{FF2B5EF4-FFF2-40B4-BE49-F238E27FC236}">
                <a16:creationId xmlns:a16="http://schemas.microsoft.com/office/drawing/2014/main" id="{65853971-0851-998A-59F8-B619B891F317}"/>
              </a:ext>
            </a:extLst>
          </p:cNvPr>
          <p:cNvSpPr txBox="1"/>
          <p:nvPr/>
        </p:nvSpPr>
        <p:spPr>
          <a:xfrm>
            <a:off x="1517072" y="3769217"/>
            <a:ext cx="6033655" cy="923330"/>
          </a:xfrm>
          <a:prstGeom prst="rect">
            <a:avLst/>
          </a:prstGeom>
          <a:noFill/>
        </p:spPr>
        <p:txBody>
          <a:bodyPr wrap="square" rtlCol="0">
            <a:spAutoFit/>
          </a:bodyPr>
          <a:lstStyle/>
          <a:p>
            <a:r>
              <a:rPr lang="en-US" dirty="0">
                <a:solidFill>
                  <a:srgbClr val="FF0000"/>
                </a:solidFill>
              </a:rPr>
              <a:t>Your team identified an important problem, but your solution is very similar to many which are available in the market.  How can you survive in the red ocean? </a:t>
            </a:r>
            <a:endParaRPr lang="en-HK" dirty="0">
              <a:solidFill>
                <a:srgbClr val="FF0000"/>
              </a:solidFill>
            </a:endParaRPr>
          </a:p>
        </p:txBody>
      </p:sp>
      <p:sp>
        <p:nvSpPr>
          <p:cNvPr id="8" name="TextBox 7">
            <a:extLst>
              <a:ext uri="{FF2B5EF4-FFF2-40B4-BE49-F238E27FC236}">
                <a16:creationId xmlns:a16="http://schemas.microsoft.com/office/drawing/2014/main" id="{4F168F47-8D9F-D996-EEFF-CC5F63B2CDE3}"/>
              </a:ext>
            </a:extLst>
          </p:cNvPr>
          <p:cNvSpPr txBox="1"/>
          <p:nvPr/>
        </p:nvSpPr>
        <p:spPr>
          <a:xfrm>
            <a:off x="6373091" y="505691"/>
            <a:ext cx="997527" cy="369332"/>
          </a:xfrm>
          <a:prstGeom prst="rect">
            <a:avLst/>
          </a:prstGeom>
          <a:noFill/>
        </p:spPr>
        <p:txBody>
          <a:bodyPr wrap="square" rtlCol="0">
            <a:spAutoFit/>
          </a:bodyPr>
          <a:lstStyle/>
          <a:p>
            <a:r>
              <a:rPr lang="en-US" b="1" dirty="0">
                <a:solidFill>
                  <a:srgbClr val="FF0000"/>
                </a:solidFill>
              </a:rPr>
              <a:t>75/100</a:t>
            </a:r>
            <a:endParaRPr lang="en-HK" b="1" dirty="0">
              <a:solidFill>
                <a:srgbClr val="FF0000"/>
              </a:solidFill>
            </a:endParaRPr>
          </a:p>
        </p:txBody>
      </p:sp>
    </p:spTree>
    <p:extLst>
      <p:ext uri="{BB962C8B-B14F-4D97-AF65-F5344CB8AC3E}">
        <p14:creationId xmlns:p14="http://schemas.microsoft.com/office/powerpoint/2010/main" val="1843896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FB1A-7F2C-1E2A-28A1-CE238C3AFC1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6B6A88-D908-1A5D-F1A7-54C655550526}"/>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EEDCBF55-F711-E6BD-A654-176353A75F25}"/>
              </a:ext>
            </a:extLst>
          </p:cNvPr>
          <p:cNvSpPr txBox="1">
            <a:spLocks noGrp="1"/>
          </p:cNvSpPr>
          <p:nvPr>
            <p:ph type="title" idx="4294967295"/>
          </p:nvPr>
        </p:nvSpPr>
        <p:spPr>
          <a:xfrm>
            <a:off x="375975" y="333593"/>
            <a:ext cx="10076319"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dirty="0">
                <a:latin typeface="Avenir Book"/>
                <a:ea typeface="新細明體"/>
                <a:cs typeface="Calibri Light"/>
              </a:rPr>
              <a:t>Target</a:t>
            </a:r>
            <a:r>
              <a:rPr lang="zh-TW" altLang="en-US" sz="2000" b="1">
                <a:latin typeface="Avenir Book"/>
                <a:ea typeface="新細明體"/>
                <a:cs typeface="Calibri Light"/>
              </a:rPr>
              <a:t> </a:t>
            </a:r>
            <a:r>
              <a:rPr lang="en-US" altLang="zh-TW" sz="2000" b="1" dirty="0">
                <a:latin typeface="Avenir Book"/>
                <a:ea typeface="新細明體"/>
                <a:cs typeface="Calibri Light"/>
              </a:rPr>
              <a:t>Market</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2" name="Rectangle 1">
            <a:extLst>
              <a:ext uri="{FF2B5EF4-FFF2-40B4-BE49-F238E27FC236}">
                <a16:creationId xmlns:a16="http://schemas.microsoft.com/office/drawing/2014/main" id="{A1857312-E6ED-2975-5FF4-77FA74CF7E08}"/>
              </a:ext>
            </a:extLst>
          </p:cNvPr>
          <p:cNvSpPr/>
          <p:nvPr/>
        </p:nvSpPr>
        <p:spPr>
          <a:xfrm>
            <a:off x="486917" y="970157"/>
            <a:ext cx="2071752" cy="1814124"/>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venir Book" panose="02000503020000020003" pitchFamily="2" charset="0"/>
              </a:rPr>
              <a:t>Target Segment</a:t>
            </a:r>
          </a:p>
        </p:txBody>
      </p:sp>
      <p:sp>
        <p:nvSpPr>
          <p:cNvPr id="4" name="Rectangle 3">
            <a:extLst>
              <a:ext uri="{FF2B5EF4-FFF2-40B4-BE49-F238E27FC236}">
                <a16:creationId xmlns:a16="http://schemas.microsoft.com/office/drawing/2014/main" id="{228AB417-55F3-052B-4FD0-59ACBF3E096E}"/>
              </a:ext>
            </a:extLst>
          </p:cNvPr>
          <p:cNvSpPr/>
          <p:nvPr/>
        </p:nvSpPr>
        <p:spPr>
          <a:xfrm>
            <a:off x="2655210" y="970157"/>
            <a:ext cx="9049873" cy="1814124"/>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Users: dementia patients, including Alzheimer Dementia(AD), Vascular Dementia(VaD), Mild Cognitive Impairment(MCI), etc. </a:t>
            </a:r>
          </a:p>
          <a:p>
            <a:pPr marL="742950" lvl="1" indent="-285750">
              <a:buFont typeface="Arial" panose="020B0604020202020204" pitchFamily="34" charset="0"/>
              <a:buChar char="•"/>
            </a:pPr>
            <a:r>
              <a:rPr lang="en-US" altLang="zh-TW" dirty="0">
                <a:solidFill>
                  <a:schemeClr val="accent1">
                    <a:lumMod val="50000"/>
                  </a:schemeClr>
                </a:solidFill>
                <a:latin typeface="Avenir Book"/>
                <a:ea typeface="新細明體"/>
              </a:rPr>
              <a:t>Most patients are elderly (age&gt;=65)</a:t>
            </a:r>
          </a:p>
          <a:p>
            <a:pPr marL="742950" lvl="1" indent="-285750">
              <a:buFont typeface="Arial" panose="020B0604020202020204" pitchFamily="34" charset="0"/>
              <a:buChar char="•"/>
            </a:pPr>
            <a:r>
              <a:rPr lang="en-US" altLang="zh-TW" dirty="0">
                <a:solidFill>
                  <a:schemeClr val="accent1">
                    <a:lumMod val="50000"/>
                  </a:schemeClr>
                </a:solidFill>
                <a:latin typeface="Avenir Book"/>
                <a:ea typeface="新細明體"/>
              </a:rPr>
              <a:t>For the age range of 40 to 64, prevalence is just ranging from 0.15% to 0.87%, neglected in the estimation </a:t>
            </a:r>
            <a:r>
              <a:rPr lang="en-US" altLang="zh-TW" sz="1200" dirty="0">
                <a:solidFill>
                  <a:schemeClr val="bg1">
                    <a:lumMod val="50000"/>
                  </a:schemeClr>
                </a:solidFill>
                <a:ea typeface="新細明體"/>
              </a:rPr>
              <a:t>see appendix reference J</a:t>
            </a:r>
          </a:p>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Buyers: caregivers, including elderly homes, hospitals and households</a:t>
            </a:r>
          </a:p>
        </p:txBody>
      </p:sp>
      <p:sp>
        <p:nvSpPr>
          <p:cNvPr id="8" name="Rectangle 7">
            <a:extLst>
              <a:ext uri="{FF2B5EF4-FFF2-40B4-BE49-F238E27FC236}">
                <a16:creationId xmlns:a16="http://schemas.microsoft.com/office/drawing/2014/main" id="{DEEEC560-9B41-A7EA-4192-CF7AA4199608}"/>
              </a:ext>
            </a:extLst>
          </p:cNvPr>
          <p:cNvSpPr/>
          <p:nvPr/>
        </p:nvSpPr>
        <p:spPr>
          <a:xfrm>
            <a:off x="486917" y="2891837"/>
            <a:ext cx="2071752" cy="3632570"/>
          </a:xfrm>
          <a:prstGeom prst="rect">
            <a:avLst/>
          </a:prstGeom>
          <a:solidFill>
            <a:schemeClr val="accent1">
              <a:lumMod val="75000"/>
            </a:schemeClr>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venir Book" panose="02000503020000020003" pitchFamily="2" charset="0"/>
              </a:rPr>
              <a:t>Jobs</a:t>
            </a:r>
            <a:endParaRPr lang="en-GB" dirty="0">
              <a:latin typeface="Avenir Book" panose="02000503020000020003" pitchFamily="2" charset="0"/>
            </a:endParaRPr>
          </a:p>
        </p:txBody>
      </p:sp>
      <p:sp>
        <p:nvSpPr>
          <p:cNvPr id="9" name="Rectangle 8">
            <a:extLst>
              <a:ext uri="{FF2B5EF4-FFF2-40B4-BE49-F238E27FC236}">
                <a16:creationId xmlns:a16="http://schemas.microsoft.com/office/drawing/2014/main" id="{55FBC76A-6E31-9885-4784-24396AB24A88}"/>
              </a:ext>
            </a:extLst>
          </p:cNvPr>
          <p:cNvSpPr/>
          <p:nvPr/>
        </p:nvSpPr>
        <p:spPr>
          <a:xfrm>
            <a:off x="2655210" y="2891837"/>
            <a:ext cx="9049873" cy="3632570"/>
          </a:xfrm>
          <a:prstGeom prst="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2" rtlCol="0" anchor="b"/>
          <a:lstStyle/>
          <a:p>
            <a:r>
              <a:rPr lang="en-US" altLang="zh-TW" b="1" u="sng" dirty="0">
                <a:solidFill>
                  <a:schemeClr val="accent1">
                    <a:lumMod val="50000"/>
                  </a:schemeClr>
                </a:solidFill>
                <a:latin typeface="Avenir Book" panose="02000503020000020003" pitchFamily="2" charset="0"/>
              </a:rPr>
              <a:t>Patients</a:t>
            </a:r>
          </a:p>
          <a:p>
            <a:r>
              <a:rPr lang="en-US" altLang="zh-TW" b="1" dirty="0">
                <a:solidFill>
                  <a:schemeClr val="accent1">
                    <a:lumMod val="50000"/>
                  </a:schemeClr>
                </a:solidFill>
                <a:latin typeface="Avenir Book" panose="02000503020000020003" pitchFamily="2" charset="0"/>
              </a:rPr>
              <a:t>Functional:</a:t>
            </a:r>
            <a:endParaRPr lang="en-HK" altLang="zh-TW" b="1"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Remember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everyday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such</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taking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medicine</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Remember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path</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back</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home</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Perform</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according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daily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schedules</a:t>
            </a:r>
          </a:p>
          <a:p>
            <a:pPr marL="285750" indent="-285750">
              <a:buFont typeface="Arial" panose="020B0604020202020204" pitchFamily="34" charset="0"/>
              <a:buChar char="•"/>
            </a:pPr>
            <a:endParaRPr lang="en-US" altLang="zh-TW" dirty="0">
              <a:solidFill>
                <a:schemeClr val="accent1">
                  <a:lumMod val="50000"/>
                </a:schemeClr>
              </a:solidFill>
              <a:latin typeface="Avenir Book" panose="02000503020000020003" pitchFamily="2" charset="0"/>
            </a:endParaRPr>
          </a:p>
          <a:p>
            <a:r>
              <a:rPr lang="en-US" altLang="zh-TW" b="1" dirty="0">
                <a:solidFill>
                  <a:schemeClr val="accent1">
                    <a:lumMod val="50000"/>
                  </a:schemeClr>
                </a:solidFill>
                <a:latin typeface="Avenir Book" panose="02000503020000020003" pitchFamily="2" charset="0"/>
              </a:rPr>
              <a:t>Emotional:</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Feel</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less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dependent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caregivers</a:t>
            </a:r>
          </a:p>
          <a:p>
            <a:pPr marL="285750" indent="-285750">
              <a:buFont typeface="Arial" panose="020B0604020202020204" pitchFamily="34" charset="0"/>
              <a:buChar char="•"/>
            </a:pPr>
            <a:endParaRPr lang="en-US" altLang="zh-TW" dirty="0">
              <a:solidFill>
                <a:schemeClr val="accent1">
                  <a:lumMod val="50000"/>
                </a:schemeClr>
              </a:solidFill>
              <a:latin typeface="Avenir Book" panose="02000503020000020003" pitchFamily="2" charset="0"/>
            </a:endParaRPr>
          </a:p>
          <a:p>
            <a:r>
              <a:rPr lang="en-US" altLang="zh-TW" b="1" dirty="0">
                <a:solidFill>
                  <a:schemeClr val="accent1">
                    <a:lumMod val="50000"/>
                  </a:schemeClr>
                </a:solidFill>
                <a:latin typeface="Avenir Book" panose="02000503020000020003" pitchFamily="2" charset="0"/>
              </a:rPr>
              <a:t>Social:</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Commute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themselves</a:t>
            </a:r>
          </a:p>
          <a:p>
            <a:r>
              <a:rPr lang="en-US" altLang="zh-TW" b="1" u="sng" dirty="0">
                <a:solidFill>
                  <a:schemeClr val="accent1">
                    <a:lumMod val="50000"/>
                  </a:schemeClr>
                </a:solidFill>
                <a:latin typeface="Avenir Book" panose="02000503020000020003" pitchFamily="2" charset="0"/>
              </a:rPr>
              <a:t>Caregivers</a:t>
            </a:r>
          </a:p>
          <a:p>
            <a:r>
              <a:rPr lang="en-US" altLang="zh-TW" b="1" dirty="0">
                <a:solidFill>
                  <a:schemeClr val="accent1">
                    <a:lumMod val="50000"/>
                  </a:schemeClr>
                </a:solidFill>
                <a:latin typeface="Avenir Book" panose="02000503020000020003" pitchFamily="2" charset="0"/>
              </a:rPr>
              <a:t>Functional:</a:t>
            </a:r>
            <a:endParaRPr lang="en-GB" altLang="zh-TW" b="1"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Reduce the risk facing by patients, including</a:t>
            </a: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getting lost</a:t>
            </a: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placing in dangerous environment</a:t>
            </a:r>
          </a:p>
          <a:p>
            <a:pPr marL="285750"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Assist patients to perform daily tasks to ensure their mental and physical health</a:t>
            </a: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exercise</a:t>
            </a: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meet friends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Focus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work</a:t>
            </a:r>
            <a:endParaRPr lang="en-GB" altLang="zh-TW" dirty="0">
              <a:solidFill>
                <a:schemeClr val="accent1">
                  <a:lumMod val="50000"/>
                </a:schemeClr>
              </a:solidFill>
              <a:latin typeface="Avenir Book" panose="02000503020000020003" pitchFamily="2" charset="0"/>
            </a:endParaRPr>
          </a:p>
          <a:p>
            <a:r>
              <a:rPr lang="en-US" altLang="zh-TW" b="1" dirty="0">
                <a:solidFill>
                  <a:schemeClr val="accent1">
                    <a:lumMod val="50000"/>
                  </a:schemeClr>
                </a:solidFill>
                <a:latin typeface="Avenir Book" panose="02000503020000020003" pitchFamily="2" charset="0"/>
              </a:rPr>
              <a:t>Emotional:</a:t>
            </a:r>
            <a:endParaRPr lang="en-HK" altLang="zh-TW" b="1"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Get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peace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mind</a:t>
            </a:r>
            <a:endParaRPr lang="en-HK" altLang="zh-TW" dirty="0">
              <a:solidFill>
                <a:schemeClr val="accent1">
                  <a:lumMod val="50000"/>
                </a:schemeClr>
              </a:solidFill>
              <a:latin typeface="Avenir Book" panose="02000503020000020003" pitchFamily="2" charset="0"/>
            </a:endParaRPr>
          </a:p>
        </p:txBody>
      </p:sp>
    </p:spTree>
    <p:extLst>
      <p:ext uri="{BB962C8B-B14F-4D97-AF65-F5344CB8AC3E}">
        <p14:creationId xmlns:p14="http://schemas.microsoft.com/office/powerpoint/2010/main" val="2044126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C7EABB-73F4-F7B3-C017-71482CBCAA50}"/>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Avenir Book" panose="02000503020000020003"/>
            </a:endParaRPr>
          </a:p>
        </p:txBody>
      </p:sp>
      <p:sp>
        <p:nvSpPr>
          <p:cNvPr id="4" name="Title 6">
            <a:extLst>
              <a:ext uri="{FF2B5EF4-FFF2-40B4-BE49-F238E27FC236}">
                <a16:creationId xmlns:a16="http://schemas.microsoft.com/office/drawing/2014/main" id="{51B405AE-7A06-DB7F-0362-771DE5FC0E8C}"/>
              </a:ext>
            </a:extLst>
          </p:cNvPr>
          <p:cNvSpPr txBox="1">
            <a:spLocks/>
          </p:cNvSpPr>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US" altLang="zh-TW" sz="2000" b="1" dirty="0">
                <a:latin typeface="Avenir Book" panose="02000503020000020003" pitchFamily="2" charset="0"/>
                <a:ea typeface="+mn-ea"/>
                <a:cs typeface="Calibri"/>
              </a:rPr>
              <a:t>Customer</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Profile</a:t>
            </a:r>
            <a:endParaRPr lang="en-US" sz="1800" dirty="0">
              <a:latin typeface="Avenir Book" panose="02000503020000020003" pitchFamily="2" charset="0"/>
              <a:ea typeface="+mn-ea"/>
              <a:cs typeface="+mn-cs"/>
            </a:endParaRPr>
          </a:p>
        </p:txBody>
      </p:sp>
      <p:sp>
        <p:nvSpPr>
          <p:cNvPr id="54" name="Oval 53">
            <a:extLst>
              <a:ext uri="{FF2B5EF4-FFF2-40B4-BE49-F238E27FC236}">
                <a16:creationId xmlns:a16="http://schemas.microsoft.com/office/drawing/2014/main" id="{1AFFEAD6-BDE6-543A-C0F8-6C323213AB28}"/>
              </a:ext>
            </a:extLst>
          </p:cNvPr>
          <p:cNvSpPr/>
          <p:nvPr/>
        </p:nvSpPr>
        <p:spPr>
          <a:xfrm>
            <a:off x="5046517" y="2712030"/>
            <a:ext cx="2078182" cy="20781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grpSp>
        <p:nvGrpSpPr>
          <p:cNvPr id="22" name="Group 21">
            <a:extLst>
              <a:ext uri="{FF2B5EF4-FFF2-40B4-BE49-F238E27FC236}">
                <a16:creationId xmlns:a16="http://schemas.microsoft.com/office/drawing/2014/main" id="{B8F4FC2D-3168-ECD6-7376-A4606A57662D}"/>
              </a:ext>
            </a:extLst>
          </p:cNvPr>
          <p:cNvGrpSpPr/>
          <p:nvPr/>
        </p:nvGrpSpPr>
        <p:grpSpPr>
          <a:xfrm>
            <a:off x="4378337" y="2630567"/>
            <a:ext cx="3414542" cy="1621950"/>
            <a:chOff x="4590132" y="2946595"/>
            <a:chExt cx="3414542" cy="1621950"/>
          </a:xfrm>
        </p:grpSpPr>
        <p:grpSp>
          <p:nvGrpSpPr>
            <p:cNvPr id="53" name="Group 52">
              <a:extLst>
                <a:ext uri="{FF2B5EF4-FFF2-40B4-BE49-F238E27FC236}">
                  <a16:creationId xmlns:a16="http://schemas.microsoft.com/office/drawing/2014/main" id="{7153B676-682C-8DAE-00C2-645E2EABB533}"/>
                </a:ext>
              </a:extLst>
            </p:cNvPr>
            <p:cNvGrpSpPr/>
            <p:nvPr/>
          </p:nvGrpSpPr>
          <p:grpSpPr>
            <a:xfrm>
              <a:off x="4590132" y="2946595"/>
              <a:ext cx="1613042" cy="1613042"/>
              <a:chOff x="5289479" y="2622479"/>
              <a:chExt cx="1613042" cy="1613042"/>
            </a:xfrm>
          </p:grpSpPr>
          <p:sp>
            <p:nvSpPr>
              <p:cNvPr id="3" name="Oval 2">
                <a:extLst>
                  <a:ext uri="{FF2B5EF4-FFF2-40B4-BE49-F238E27FC236}">
                    <a16:creationId xmlns:a16="http://schemas.microsoft.com/office/drawing/2014/main" id="{FD0768B3-4649-4373-59BA-B81174389ACD}"/>
                  </a:ext>
                </a:extLst>
              </p:cNvPr>
              <p:cNvSpPr/>
              <p:nvPr/>
            </p:nvSpPr>
            <p:spPr>
              <a:xfrm>
                <a:off x="5289479" y="2622479"/>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pic>
            <p:nvPicPr>
              <p:cNvPr id="23" name="Picture 22" descr="A person and person smiling&#10;&#10;Description automatically generated">
                <a:extLst>
                  <a:ext uri="{FF2B5EF4-FFF2-40B4-BE49-F238E27FC236}">
                    <a16:creationId xmlns:a16="http://schemas.microsoft.com/office/drawing/2014/main" id="{9D7F1865-4B48-96FC-C87B-FA3D354F7325}"/>
                  </a:ext>
                </a:extLst>
              </p:cNvPr>
              <p:cNvPicPr>
                <a:picLocks noChangeAspect="1"/>
              </p:cNvPicPr>
              <p:nvPr/>
            </p:nvPicPr>
            <p:blipFill>
              <a:blip r:embed="rId2"/>
              <a:stretch>
                <a:fillRect/>
              </a:stretch>
            </p:blipFill>
            <p:spPr>
              <a:xfrm>
                <a:off x="5572390" y="2905392"/>
                <a:ext cx="1047216" cy="1047216"/>
              </a:xfrm>
              <a:prstGeom prst="rect">
                <a:avLst/>
              </a:prstGeom>
            </p:spPr>
          </p:pic>
        </p:grpSp>
        <p:grpSp>
          <p:nvGrpSpPr>
            <p:cNvPr id="21" name="Group 20">
              <a:extLst>
                <a:ext uri="{FF2B5EF4-FFF2-40B4-BE49-F238E27FC236}">
                  <a16:creationId xmlns:a16="http://schemas.microsoft.com/office/drawing/2014/main" id="{3878B87D-CFC7-DAF6-BBE4-ACBB2596A765}"/>
                </a:ext>
              </a:extLst>
            </p:cNvPr>
            <p:cNvGrpSpPr/>
            <p:nvPr/>
          </p:nvGrpSpPr>
          <p:grpSpPr>
            <a:xfrm>
              <a:off x="6391632" y="2955503"/>
              <a:ext cx="1613042" cy="1613042"/>
              <a:chOff x="10175958" y="3091663"/>
              <a:chExt cx="1613042" cy="1613042"/>
            </a:xfrm>
          </p:grpSpPr>
          <p:sp>
            <p:nvSpPr>
              <p:cNvPr id="16" name="Oval 15">
                <a:extLst>
                  <a:ext uri="{FF2B5EF4-FFF2-40B4-BE49-F238E27FC236}">
                    <a16:creationId xmlns:a16="http://schemas.microsoft.com/office/drawing/2014/main" id="{29418136-A08D-212F-251C-DABA74E258D2}"/>
                  </a:ext>
                </a:extLst>
              </p:cNvPr>
              <p:cNvSpPr/>
              <p:nvPr/>
            </p:nvSpPr>
            <p:spPr>
              <a:xfrm>
                <a:off x="10175958" y="3091663"/>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pic>
            <p:nvPicPr>
              <p:cNvPr id="19" name="Picture 18" descr="A person and person smiling&#10;&#10;Description automatically generated">
                <a:extLst>
                  <a:ext uri="{FF2B5EF4-FFF2-40B4-BE49-F238E27FC236}">
                    <a16:creationId xmlns:a16="http://schemas.microsoft.com/office/drawing/2014/main" id="{B10788F3-811F-42BF-000C-094D7094C4EC}"/>
                  </a:ext>
                </a:extLst>
              </p:cNvPr>
              <p:cNvPicPr>
                <a:picLocks noChangeAspect="1"/>
              </p:cNvPicPr>
              <p:nvPr/>
            </p:nvPicPr>
            <p:blipFill>
              <a:blip r:embed="rId3"/>
              <a:stretch>
                <a:fillRect/>
              </a:stretch>
            </p:blipFill>
            <p:spPr>
              <a:xfrm>
                <a:off x="10521716" y="3438703"/>
                <a:ext cx="921525" cy="921525"/>
              </a:xfrm>
              <a:prstGeom prst="rect">
                <a:avLst/>
              </a:prstGeom>
            </p:spPr>
          </p:pic>
        </p:grpSp>
      </p:grpSp>
      <p:sp>
        <p:nvSpPr>
          <p:cNvPr id="25" name="Rounded Rectangle 24">
            <a:extLst>
              <a:ext uri="{FF2B5EF4-FFF2-40B4-BE49-F238E27FC236}">
                <a16:creationId xmlns:a16="http://schemas.microsoft.com/office/drawing/2014/main" id="{78516BF8-C989-4DA6-5D7C-AB70E14850F8}"/>
              </a:ext>
            </a:extLst>
          </p:cNvPr>
          <p:cNvSpPr/>
          <p:nvPr/>
        </p:nvSpPr>
        <p:spPr>
          <a:xfrm>
            <a:off x="470514" y="1072062"/>
            <a:ext cx="1756456" cy="451736"/>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dirty="0">
                <a:solidFill>
                  <a:schemeClr val="accent1">
                    <a:lumMod val="50000"/>
                  </a:schemeClr>
                </a:solidFill>
                <a:latin typeface="Avenir Book" panose="02000503020000020003" pitchFamily="2" charset="0"/>
              </a:rPr>
              <a:t>Age: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above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65</a:t>
            </a:r>
            <a:endParaRPr lang="en-US" dirty="0">
              <a:solidFill>
                <a:schemeClr val="accent1">
                  <a:lumMod val="50000"/>
                </a:schemeClr>
              </a:solidFill>
              <a:latin typeface="Avenir Book" panose="02000503020000020003" pitchFamily="2" charset="0"/>
            </a:endParaRPr>
          </a:p>
        </p:txBody>
      </p:sp>
      <p:sp>
        <p:nvSpPr>
          <p:cNvPr id="27" name="Rounded Rectangle 26">
            <a:extLst>
              <a:ext uri="{FF2B5EF4-FFF2-40B4-BE49-F238E27FC236}">
                <a16:creationId xmlns:a16="http://schemas.microsoft.com/office/drawing/2014/main" id="{51384FE2-7A19-04A7-104B-B9E073823F6B}"/>
              </a:ext>
            </a:extLst>
          </p:cNvPr>
          <p:cNvSpPr/>
          <p:nvPr/>
        </p:nvSpPr>
        <p:spPr>
          <a:xfrm>
            <a:off x="10332632" y="781920"/>
            <a:ext cx="1388854"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accent1">
                    <a:lumMod val="50000"/>
                  </a:schemeClr>
                </a:solidFill>
                <a:latin typeface="Avenir Book" panose="02000503020000020003" pitchFamily="2" charset="0"/>
              </a:rPr>
              <a:t>Age: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20-65</a:t>
            </a:r>
            <a:endParaRPr lang="en-US" dirty="0">
              <a:solidFill>
                <a:schemeClr val="accent1">
                  <a:lumMod val="50000"/>
                </a:schemeClr>
              </a:solidFill>
              <a:latin typeface="Avenir Book" panose="02000503020000020003" pitchFamily="2" charset="0"/>
            </a:endParaRPr>
          </a:p>
        </p:txBody>
      </p:sp>
      <p:sp>
        <p:nvSpPr>
          <p:cNvPr id="29" name="Rounded Rectangle 28">
            <a:extLst>
              <a:ext uri="{FF2B5EF4-FFF2-40B4-BE49-F238E27FC236}">
                <a16:creationId xmlns:a16="http://schemas.microsoft.com/office/drawing/2014/main" id="{4F867875-40C4-47FA-7AC5-009290498C6C}"/>
              </a:ext>
            </a:extLst>
          </p:cNvPr>
          <p:cNvSpPr/>
          <p:nvPr/>
        </p:nvSpPr>
        <p:spPr>
          <a:xfrm>
            <a:off x="470513" y="1669377"/>
            <a:ext cx="3485581" cy="1361116"/>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Dementia</a:t>
            </a:r>
            <a:r>
              <a:rPr lang="zh-TW" altLang="en-US" sz="1800" dirty="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Patients</a:t>
            </a:r>
            <a:r>
              <a:rPr lang="zh-TW" altLang="en-US" sz="1800" dirty="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a:t>
            </a:r>
            <a:r>
              <a:rPr lang="en-US" altLang="zh-TW" sz="1800" dirty="0">
                <a:solidFill>
                  <a:schemeClr val="accent1">
                    <a:lumMod val="50000"/>
                  </a:schemeClr>
                </a:solidFill>
                <a:latin typeface="Avenir Book" panose="02000503020000020003" pitchFamily="2" charset="0"/>
                <a:ea typeface="新細明體"/>
              </a:rPr>
              <a:t>Alzheimer Dementia(AD), Mild Cognitive Impairment(MCI), Vascular Dementia(VaD), etc. </a:t>
            </a:r>
            <a:r>
              <a:rPr lang="en-US" altLang="zh-TW" sz="1800" dirty="0">
                <a:solidFill>
                  <a:schemeClr val="accent1">
                    <a:lumMod val="50000"/>
                  </a:schemeClr>
                </a:solidFill>
                <a:latin typeface="Avenir Book" panose="02000503020000020003" pitchFamily="2" charset="0"/>
                <a:ea typeface="+mn-ea"/>
                <a:cs typeface="Calibri"/>
              </a:rPr>
              <a:t>)</a:t>
            </a:r>
            <a:endParaRPr lang="en-US" sz="1800" dirty="0">
              <a:solidFill>
                <a:schemeClr val="accent1">
                  <a:lumMod val="50000"/>
                </a:schemeClr>
              </a:solidFill>
              <a:latin typeface="Avenir Book" panose="02000503020000020003" pitchFamily="2" charset="0"/>
              <a:ea typeface="+mn-ea"/>
              <a:cs typeface="+mn-cs"/>
            </a:endParaRPr>
          </a:p>
        </p:txBody>
      </p:sp>
      <p:sp>
        <p:nvSpPr>
          <p:cNvPr id="30" name="Rounded Rectangle 29">
            <a:extLst>
              <a:ext uri="{FF2B5EF4-FFF2-40B4-BE49-F238E27FC236}">
                <a16:creationId xmlns:a16="http://schemas.microsoft.com/office/drawing/2014/main" id="{D57C20CC-B4C0-22EE-0EBF-7CE2A799F185}"/>
              </a:ext>
            </a:extLst>
          </p:cNvPr>
          <p:cNvSpPr/>
          <p:nvPr/>
        </p:nvSpPr>
        <p:spPr>
          <a:xfrm>
            <a:off x="470513" y="3215938"/>
            <a:ext cx="3034671" cy="468505"/>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Working</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condition:</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retired</a:t>
            </a:r>
            <a:endParaRPr lang="en-US" sz="1800" dirty="0">
              <a:solidFill>
                <a:schemeClr val="accent1">
                  <a:lumMod val="50000"/>
                </a:schemeClr>
              </a:solidFill>
              <a:latin typeface="Avenir Book" panose="02000503020000020003" pitchFamily="2" charset="0"/>
              <a:ea typeface="+mn-ea"/>
              <a:cs typeface="+mn-cs"/>
            </a:endParaRPr>
          </a:p>
        </p:txBody>
      </p:sp>
      <p:sp>
        <p:nvSpPr>
          <p:cNvPr id="32" name="Rounded Rectangle 31">
            <a:extLst>
              <a:ext uri="{FF2B5EF4-FFF2-40B4-BE49-F238E27FC236}">
                <a16:creationId xmlns:a16="http://schemas.microsoft.com/office/drawing/2014/main" id="{9E6F47B5-D0EF-DE27-CEC5-BBAF75E437E3}"/>
              </a:ext>
            </a:extLst>
          </p:cNvPr>
          <p:cNvSpPr/>
          <p:nvPr/>
        </p:nvSpPr>
        <p:spPr>
          <a:xfrm>
            <a:off x="473103" y="3874116"/>
            <a:ext cx="3508570" cy="719761"/>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mn-cs"/>
              </a:rPr>
              <a:t>Family</a:t>
            </a:r>
            <a:r>
              <a:rPr lang="zh-TW" altLang="en-US" sz="1800">
                <a:solidFill>
                  <a:schemeClr val="accent1">
                    <a:lumMod val="50000"/>
                  </a:schemeClr>
                </a:solidFill>
                <a:latin typeface="Avenir Book" panose="02000503020000020003" pitchFamily="2" charset="0"/>
                <a:ea typeface="+mn-ea"/>
                <a:cs typeface="+mn-cs"/>
              </a:rPr>
              <a:t> </a:t>
            </a:r>
            <a:r>
              <a:rPr lang="en-US" altLang="zh-TW" sz="1800" dirty="0">
                <a:solidFill>
                  <a:schemeClr val="accent1">
                    <a:lumMod val="50000"/>
                  </a:schemeClr>
                </a:solidFill>
                <a:latin typeface="Avenir Book" panose="02000503020000020003" pitchFamily="2" charset="0"/>
                <a:ea typeface="+mn-ea"/>
                <a:cs typeface="+mn-cs"/>
              </a:rPr>
              <a:t>condition:</a:t>
            </a:r>
            <a:r>
              <a:rPr lang="zh-TW" altLang="en-US" sz="1800">
                <a:solidFill>
                  <a:schemeClr val="accent1">
                    <a:lumMod val="50000"/>
                  </a:schemeClr>
                </a:solidFill>
                <a:latin typeface="Avenir Book" panose="02000503020000020003" pitchFamily="2" charset="0"/>
                <a:ea typeface="+mn-ea"/>
                <a:cs typeface="+mn-cs"/>
              </a:rPr>
              <a:t> </a:t>
            </a:r>
            <a:r>
              <a:rPr lang="en-US" altLang="zh-TW" sz="1800" dirty="0">
                <a:solidFill>
                  <a:schemeClr val="accent1">
                    <a:lumMod val="50000"/>
                  </a:schemeClr>
                </a:solidFill>
                <a:latin typeface="Avenir Book" panose="02000503020000020003" pitchFamily="2" charset="0"/>
                <a:ea typeface="+mn-ea"/>
                <a:cs typeface="+mn-cs"/>
              </a:rPr>
              <a:t>have</a:t>
            </a:r>
            <a:r>
              <a:rPr lang="zh-TW" altLang="en-US" sz="1800">
                <a:solidFill>
                  <a:schemeClr val="accent1">
                    <a:lumMod val="50000"/>
                  </a:schemeClr>
                </a:solidFill>
                <a:latin typeface="Avenir Book" panose="02000503020000020003" pitchFamily="2" charset="0"/>
                <a:ea typeface="+mn-ea"/>
                <a:cs typeface="+mn-cs"/>
              </a:rPr>
              <a:t> </a:t>
            </a:r>
            <a:r>
              <a:rPr lang="en-HK" altLang="zh-TW" sz="1800" dirty="0">
                <a:solidFill>
                  <a:schemeClr val="accent1">
                    <a:lumMod val="50000"/>
                  </a:schemeClr>
                </a:solidFill>
                <a:latin typeface="Avenir Book" panose="02000503020000020003" pitchFamily="2" charset="0"/>
                <a:ea typeface="+mn-ea"/>
                <a:cs typeface="+mn-cs"/>
              </a:rPr>
              <a:t>child</a:t>
            </a:r>
            <a:r>
              <a:rPr lang="en-US" altLang="zh-TW" sz="1800" dirty="0">
                <a:solidFill>
                  <a:schemeClr val="accent1">
                    <a:lumMod val="50000"/>
                  </a:schemeClr>
                </a:solidFill>
                <a:latin typeface="Avenir Book" panose="02000503020000020003" pitchFamily="2" charset="0"/>
                <a:ea typeface="+mn-ea"/>
                <a:cs typeface="+mn-cs"/>
              </a:rPr>
              <a:t>ren</a:t>
            </a:r>
            <a:r>
              <a:rPr lang="zh-TW" altLang="en-US" sz="1800">
                <a:solidFill>
                  <a:schemeClr val="accent1">
                    <a:lumMod val="50000"/>
                  </a:schemeClr>
                </a:solidFill>
                <a:latin typeface="Avenir Book" panose="02000503020000020003" pitchFamily="2" charset="0"/>
                <a:ea typeface="+mn-ea"/>
                <a:cs typeface="+mn-cs"/>
              </a:rPr>
              <a:t> </a:t>
            </a:r>
            <a:r>
              <a:rPr lang="en-US" altLang="zh-TW" dirty="0">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take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them</a:t>
            </a:r>
            <a:endParaRPr lang="en-US" sz="1800" dirty="0">
              <a:solidFill>
                <a:schemeClr val="accent1">
                  <a:lumMod val="50000"/>
                </a:schemeClr>
              </a:solidFill>
              <a:latin typeface="Avenir Book" panose="02000503020000020003" pitchFamily="2" charset="0"/>
              <a:ea typeface="+mn-ea"/>
              <a:cs typeface="+mn-cs"/>
            </a:endParaRPr>
          </a:p>
        </p:txBody>
      </p:sp>
      <p:sp>
        <p:nvSpPr>
          <p:cNvPr id="35" name="Rounded Rectangle 34">
            <a:extLst>
              <a:ext uri="{FF2B5EF4-FFF2-40B4-BE49-F238E27FC236}">
                <a16:creationId xmlns:a16="http://schemas.microsoft.com/office/drawing/2014/main" id="{833D3594-6220-DCEC-476C-DF0980D551CD}"/>
              </a:ext>
            </a:extLst>
          </p:cNvPr>
          <p:cNvSpPr/>
          <p:nvPr/>
        </p:nvSpPr>
        <p:spPr>
          <a:xfrm>
            <a:off x="470513" y="4773936"/>
            <a:ext cx="4475559" cy="915867"/>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mn-cs"/>
              </a:rPr>
              <a:t>Want</a:t>
            </a:r>
            <a:r>
              <a:rPr lang="zh-TW" altLang="en-US" sz="1800">
                <a:solidFill>
                  <a:schemeClr val="accent1">
                    <a:lumMod val="50000"/>
                  </a:schemeClr>
                </a:solidFill>
                <a:latin typeface="Avenir Book" panose="02000503020000020003" pitchFamily="2" charset="0"/>
                <a:ea typeface="+mn-ea"/>
                <a:cs typeface="+mn-cs"/>
              </a:rPr>
              <a:t> </a:t>
            </a:r>
            <a:r>
              <a:rPr lang="en-US" altLang="zh-TW" dirty="0">
                <a:solidFill>
                  <a:schemeClr val="accent1">
                    <a:lumMod val="50000"/>
                  </a:schemeClr>
                </a:solidFill>
                <a:latin typeface="Avenir Book" panose="02000503020000020003" pitchFamily="2" charset="0"/>
              </a:rPr>
              <a:t>a</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sense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independence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and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freedom</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while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knowing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safe</a:t>
            </a:r>
            <a:endParaRPr lang="en-US" sz="1800" dirty="0">
              <a:solidFill>
                <a:schemeClr val="accent1">
                  <a:lumMod val="50000"/>
                </a:schemeClr>
              </a:solidFill>
              <a:latin typeface="Avenir Book" panose="02000503020000020003" pitchFamily="2" charset="0"/>
              <a:ea typeface="+mn-ea"/>
              <a:cs typeface="+mn-cs"/>
            </a:endParaRPr>
          </a:p>
        </p:txBody>
      </p:sp>
      <p:sp>
        <p:nvSpPr>
          <p:cNvPr id="36" name="Rounded Rectangle 35">
            <a:extLst>
              <a:ext uri="{FF2B5EF4-FFF2-40B4-BE49-F238E27FC236}">
                <a16:creationId xmlns:a16="http://schemas.microsoft.com/office/drawing/2014/main" id="{7896F7DC-5CC0-D253-EE4D-9C406CE4C16D}"/>
              </a:ext>
            </a:extLst>
          </p:cNvPr>
          <p:cNvSpPr/>
          <p:nvPr/>
        </p:nvSpPr>
        <p:spPr>
          <a:xfrm>
            <a:off x="8895078" y="1607292"/>
            <a:ext cx="2826408" cy="1383983"/>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Working</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condition:</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middle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to</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high</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income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group</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($5000+/month)</a:t>
            </a:r>
            <a:endParaRPr lang="en-US" sz="1800" dirty="0">
              <a:solidFill>
                <a:schemeClr val="accent1">
                  <a:lumMod val="50000"/>
                </a:schemeClr>
              </a:solidFill>
              <a:latin typeface="Avenir Book" panose="02000503020000020003" pitchFamily="2" charset="0"/>
              <a:ea typeface="+mn-ea"/>
              <a:cs typeface="+mn-cs"/>
            </a:endParaRPr>
          </a:p>
        </p:txBody>
      </p:sp>
      <p:sp>
        <p:nvSpPr>
          <p:cNvPr id="38" name="Rounded Rectangle 37">
            <a:extLst>
              <a:ext uri="{FF2B5EF4-FFF2-40B4-BE49-F238E27FC236}">
                <a16:creationId xmlns:a16="http://schemas.microsoft.com/office/drawing/2014/main" id="{5656057C-B8ED-D709-EF7D-ECB790F63524}"/>
              </a:ext>
            </a:extLst>
          </p:cNvPr>
          <p:cNvSpPr/>
          <p:nvPr/>
        </p:nvSpPr>
        <p:spPr>
          <a:xfrm>
            <a:off x="8462990" y="3120486"/>
            <a:ext cx="3258496" cy="922672"/>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Family</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condition:</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have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a</a:t>
            </a:r>
            <a:endParaRPr lang="en-US" sz="1800" dirty="0">
              <a:solidFill>
                <a:schemeClr val="accent1">
                  <a:lumMod val="50000"/>
                </a:schemeClr>
              </a:solidFill>
              <a:latin typeface="Avenir Book" panose="02000503020000020003" pitchFamily="2" charset="0"/>
              <a:ea typeface="+mn-ea"/>
              <a:cs typeface="+mn-cs"/>
            </a:endParaRPr>
          </a:p>
          <a:p>
            <a:pPr algn="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patient</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at</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home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to</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take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care</a:t>
            </a:r>
            <a:endParaRPr lang="en-US" sz="1800" dirty="0">
              <a:solidFill>
                <a:schemeClr val="accent1">
                  <a:lumMod val="50000"/>
                </a:schemeClr>
              </a:solidFill>
              <a:latin typeface="Avenir Book" panose="02000503020000020003" pitchFamily="2" charset="0"/>
              <a:ea typeface="+mn-ea"/>
              <a:cs typeface="+mn-cs"/>
            </a:endParaRPr>
          </a:p>
        </p:txBody>
      </p:sp>
      <p:sp>
        <p:nvSpPr>
          <p:cNvPr id="39" name="Rounded Rectangle 38">
            <a:extLst>
              <a:ext uri="{FF2B5EF4-FFF2-40B4-BE49-F238E27FC236}">
                <a16:creationId xmlns:a16="http://schemas.microsoft.com/office/drawing/2014/main" id="{18E22F64-9E6E-1873-D778-F70AB59FBCDB}"/>
              </a:ext>
            </a:extLst>
          </p:cNvPr>
          <p:cNvSpPr/>
          <p:nvPr/>
        </p:nvSpPr>
        <p:spPr>
          <a:xfrm>
            <a:off x="8908461" y="4184282"/>
            <a:ext cx="2820089"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Did</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not</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employ</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a</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caretaker</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for</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the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patient</a:t>
            </a:r>
            <a:endParaRPr lang="en-US" sz="1800" dirty="0">
              <a:solidFill>
                <a:schemeClr val="accent1">
                  <a:lumMod val="50000"/>
                </a:schemeClr>
              </a:solidFill>
              <a:latin typeface="Avenir Book" panose="02000503020000020003" pitchFamily="2" charset="0"/>
              <a:ea typeface="+mn-ea"/>
              <a:cs typeface="+mn-cs"/>
            </a:endParaRPr>
          </a:p>
        </p:txBody>
      </p:sp>
      <p:sp>
        <p:nvSpPr>
          <p:cNvPr id="42" name="Rounded Rectangle 41">
            <a:extLst>
              <a:ext uri="{FF2B5EF4-FFF2-40B4-BE49-F238E27FC236}">
                <a16:creationId xmlns:a16="http://schemas.microsoft.com/office/drawing/2014/main" id="{639741FB-9FE5-E955-DC3E-08662C2BCDDA}"/>
              </a:ext>
            </a:extLst>
          </p:cNvPr>
          <p:cNvSpPr/>
          <p:nvPr/>
        </p:nvSpPr>
        <p:spPr>
          <a:xfrm>
            <a:off x="8300259" y="5034998"/>
            <a:ext cx="3428290"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Busy</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working</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for</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their</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salaries</a:t>
            </a:r>
            <a:endParaRPr lang="en-US" sz="1800" dirty="0">
              <a:solidFill>
                <a:schemeClr val="accent1">
                  <a:lumMod val="50000"/>
                </a:schemeClr>
              </a:solidFill>
              <a:latin typeface="Avenir Book" panose="02000503020000020003" pitchFamily="2" charset="0"/>
              <a:ea typeface="+mn-ea"/>
              <a:cs typeface="+mn-cs"/>
            </a:endParaRPr>
          </a:p>
        </p:txBody>
      </p:sp>
      <p:cxnSp>
        <p:nvCxnSpPr>
          <p:cNvPr id="44" name="Elbow Connector 43">
            <a:extLst>
              <a:ext uri="{FF2B5EF4-FFF2-40B4-BE49-F238E27FC236}">
                <a16:creationId xmlns:a16="http://schemas.microsoft.com/office/drawing/2014/main" id="{AB86519D-7ED0-3676-FC12-3EE4A48C29D4}"/>
              </a:ext>
            </a:extLst>
          </p:cNvPr>
          <p:cNvCxnSpPr>
            <a:cxnSpLocks/>
            <a:stCxn id="25" idx="3"/>
            <a:endCxn id="3" idx="0"/>
          </p:cNvCxnSpPr>
          <p:nvPr/>
        </p:nvCxnSpPr>
        <p:spPr>
          <a:xfrm>
            <a:off x="2226970" y="1297930"/>
            <a:ext cx="2957888" cy="1332637"/>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6F26B697-6425-B21E-9678-A1C47D964E93}"/>
              </a:ext>
            </a:extLst>
          </p:cNvPr>
          <p:cNvCxnSpPr>
            <a:cxnSpLocks/>
            <a:stCxn id="29" idx="3"/>
            <a:endCxn id="3" idx="1"/>
          </p:cNvCxnSpPr>
          <p:nvPr/>
        </p:nvCxnSpPr>
        <p:spPr>
          <a:xfrm>
            <a:off x="3956094" y="2349935"/>
            <a:ext cx="658468" cy="516857"/>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4B99AACE-6BA8-E5AF-687F-720980F47287}"/>
              </a:ext>
            </a:extLst>
          </p:cNvPr>
          <p:cNvCxnSpPr>
            <a:cxnSpLocks/>
            <a:stCxn id="30" idx="3"/>
            <a:endCxn id="3" idx="2"/>
          </p:cNvCxnSpPr>
          <p:nvPr/>
        </p:nvCxnSpPr>
        <p:spPr>
          <a:xfrm flipV="1">
            <a:off x="3505184" y="3437088"/>
            <a:ext cx="873153" cy="13103"/>
          </a:xfrm>
          <a:prstGeom prst="bentConnector3">
            <a:avLst>
              <a:gd name="adj1" fmla="val 124179"/>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432ACC62-C974-F9B4-B09F-0973D6B5C1F6}"/>
              </a:ext>
            </a:extLst>
          </p:cNvPr>
          <p:cNvCxnSpPr>
            <a:cxnSpLocks/>
            <a:stCxn id="32" idx="3"/>
            <a:endCxn id="3" idx="3"/>
          </p:cNvCxnSpPr>
          <p:nvPr/>
        </p:nvCxnSpPr>
        <p:spPr>
          <a:xfrm flipV="1">
            <a:off x="3981673" y="4007384"/>
            <a:ext cx="632889" cy="226613"/>
          </a:xfrm>
          <a:prstGeom prst="bentConnector4">
            <a:avLst>
              <a:gd name="adj1" fmla="val 31338"/>
              <a:gd name="adj2" fmla="val -877"/>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D895106E-A54A-BFE7-7600-06D6D0A9E0CE}"/>
              </a:ext>
            </a:extLst>
          </p:cNvPr>
          <p:cNvCxnSpPr>
            <a:cxnSpLocks/>
            <a:stCxn id="35" idx="3"/>
            <a:endCxn id="89" idx="2"/>
          </p:cNvCxnSpPr>
          <p:nvPr/>
        </p:nvCxnSpPr>
        <p:spPr>
          <a:xfrm flipV="1">
            <a:off x="4946072" y="4233997"/>
            <a:ext cx="238784" cy="997873"/>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891FE1BA-8B87-BF7E-BADA-F299C2ECA84E}"/>
              </a:ext>
            </a:extLst>
          </p:cNvPr>
          <p:cNvCxnSpPr>
            <a:cxnSpLocks/>
            <a:stCxn id="16" idx="0"/>
            <a:endCxn id="27" idx="1"/>
          </p:cNvCxnSpPr>
          <p:nvPr/>
        </p:nvCxnSpPr>
        <p:spPr>
          <a:xfrm rot="5400000" flipH="1" flipV="1">
            <a:off x="7904889" y="211732"/>
            <a:ext cx="1509213" cy="3346274"/>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Elbow Connector 75">
            <a:extLst>
              <a:ext uri="{FF2B5EF4-FFF2-40B4-BE49-F238E27FC236}">
                <a16:creationId xmlns:a16="http://schemas.microsoft.com/office/drawing/2014/main" id="{BEC3C8DA-F173-1B84-FAA3-16DD8FD0A075}"/>
              </a:ext>
            </a:extLst>
          </p:cNvPr>
          <p:cNvCxnSpPr>
            <a:cxnSpLocks/>
            <a:stCxn id="16" idx="7"/>
            <a:endCxn id="36" idx="1"/>
          </p:cNvCxnSpPr>
          <p:nvPr/>
        </p:nvCxnSpPr>
        <p:spPr>
          <a:xfrm rot="5400000" flipH="1" flipV="1">
            <a:off x="7937658" y="1918280"/>
            <a:ext cx="576416" cy="1338424"/>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7DC3C7F0-3022-FED9-6E8A-CAD16D78D445}"/>
              </a:ext>
            </a:extLst>
          </p:cNvPr>
          <p:cNvCxnSpPr>
            <a:cxnSpLocks/>
            <a:stCxn id="16" idx="6"/>
            <a:endCxn id="38" idx="1"/>
          </p:cNvCxnSpPr>
          <p:nvPr/>
        </p:nvCxnSpPr>
        <p:spPr>
          <a:xfrm>
            <a:off x="7792879" y="3445996"/>
            <a:ext cx="670111" cy="135826"/>
          </a:xfrm>
          <a:prstGeom prst="bentConnector3">
            <a:avLst>
              <a:gd name="adj1" fmla="val 50000"/>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4BE25FFC-408E-2B3E-5624-7B60824EF195}"/>
              </a:ext>
            </a:extLst>
          </p:cNvPr>
          <p:cNvCxnSpPr>
            <a:cxnSpLocks/>
            <a:stCxn id="16" idx="5"/>
            <a:endCxn id="39" idx="1"/>
          </p:cNvCxnSpPr>
          <p:nvPr/>
        </p:nvCxnSpPr>
        <p:spPr>
          <a:xfrm rot="16200000" flipH="1">
            <a:off x="7974391" y="3598554"/>
            <a:ext cx="516332" cy="1351807"/>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684E494B-F687-DF86-6EAC-00770613A01D}"/>
              </a:ext>
            </a:extLst>
          </p:cNvPr>
          <p:cNvCxnSpPr>
            <a:cxnSpLocks/>
            <a:endCxn id="42" idx="1"/>
          </p:cNvCxnSpPr>
          <p:nvPr/>
        </p:nvCxnSpPr>
        <p:spPr>
          <a:xfrm rot="16200000" flipH="1">
            <a:off x="6929841" y="4012922"/>
            <a:ext cx="1426932" cy="1313904"/>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E63FCBB3-5AF3-9A1F-55E8-37A3B9BB2806}"/>
              </a:ext>
            </a:extLst>
          </p:cNvPr>
          <p:cNvSpPr txBox="1"/>
          <p:nvPr/>
        </p:nvSpPr>
        <p:spPr>
          <a:xfrm>
            <a:off x="4519790" y="3864665"/>
            <a:ext cx="1330131" cy="369332"/>
          </a:xfrm>
          <a:prstGeom prst="rect">
            <a:avLst/>
          </a:prstGeom>
          <a:noFill/>
        </p:spPr>
        <p:txBody>
          <a:bodyPr wrap="square" rtlCol="0">
            <a:spAutoFit/>
          </a:bodyPr>
          <a:lstStyle/>
          <a:p>
            <a:pPr algn="ctr"/>
            <a:r>
              <a:rPr lang="en-US" altLang="zh-TW" dirty="0">
                <a:solidFill>
                  <a:schemeClr val="bg1"/>
                </a:solidFill>
                <a:latin typeface="Avenir Book" panose="02000503020000020003" pitchFamily="2" charset="0"/>
              </a:rPr>
              <a:t>Users</a:t>
            </a:r>
            <a:endParaRPr lang="en-US" dirty="0">
              <a:solidFill>
                <a:schemeClr val="bg1"/>
              </a:solidFill>
              <a:latin typeface="Avenir Book" panose="02000503020000020003" pitchFamily="2" charset="0"/>
            </a:endParaRPr>
          </a:p>
        </p:txBody>
      </p:sp>
      <p:sp>
        <p:nvSpPr>
          <p:cNvPr id="90" name="TextBox 89">
            <a:extLst>
              <a:ext uri="{FF2B5EF4-FFF2-40B4-BE49-F238E27FC236}">
                <a16:creationId xmlns:a16="http://schemas.microsoft.com/office/drawing/2014/main" id="{CDBD499F-07B4-E626-0FB0-6241446C62C9}"/>
              </a:ext>
            </a:extLst>
          </p:cNvPr>
          <p:cNvSpPr txBox="1"/>
          <p:nvPr/>
        </p:nvSpPr>
        <p:spPr>
          <a:xfrm>
            <a:off x="6289868" y="3852564"/>
            <a:ext cx="1330131" cy="369332"/>
          </a:xfrm>
          <a:prstGeom prst="rect">
            <a:avLst/>
          </a:prstGeom>
          <a:noFill/>
        </p:spPr>
        <p:txBody>
          <a:bodyPr wrap="square" rtlCol="0">
            <a:spAutoFit/>
          </a:bodyPr>
          <a:lstStyle/>
          <a:p>
            <a:pPr algn="ctr"/>
            <a:r>
              <a:rPr lang="en-US" altLang="zh-TW" dirty="0">
                <a:solidFill>
                  <a:schemeClr val="bg1"/>
                </a:solidFill>
                <a:latin typeface="Avenir Book" panose="02000503020000020003" pitchFamily="2" charset="0"/>
              </a:rPr>
              <a:t>Buyers</a:t>
            </a:r>
            <a:endParaRPr lang="en-US" dirty="0">
              <a:solidFill>
                <a:schemeClr val="bg1"/>
              </a:solidFill>
              <a:latin typeface="Avenir Book" panose="02000503020000020003" pitchFamily="2" charset="0"/>
            </a:endParaRPr>
          </a:p>
        </p:txBody>
      </p:sp>
      <p:sp>
        <p:nvSpPr>
          <p:cNvPr id="91" name="Rounded Rectangle 90">
            <a:extLst>
              <a:ext uri="{FF2B5EF4-FFF2-40B4-BE49-F238E27FC236}">
                <a16:creationId xmlns:a16="http://schemas.microsoft.com/office/drawing/2014/main" id="{2D3352DC-09C8-2E94-9EE9-4986F754CC76}"/>
              </a:ext>
            </a:extLst>
          </p:cNvPr>
          <p:cNvSpPr/>
          <p:nvPr/>
        </p:nvSpPr>
        <p:spPr>
          <a:xfrm>
            <a:off x="9040483" y="5894598"/>
            <a:ext cx="2675314" cy="696684"/>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Calibri"/>
              </a:rPr>
              <a:t>Care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about</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the</a:t>
            </a:r>
            <a:r>
              <a:rPr lang="zh-TW" altLang="en-US" sz="1800">
                <a:solidFill>
                  <a:schemeClr val="accent1">
                    <a:lumMod val="50000"/>
                  </a:schemeClr>
                </a:solidFill>
                <a:latin typeface="Avenir Book" panose="02000503020000020003" pitchFamily="2" charset="0"/>
                <a:ea typeface="+mn-ea"/>
                <a:cs typeface="Calibri"/>
              </a:rPr>
              <a:t> </a:t>
            </a:r>
            <a:r>
              <a:rPr lang="en-US" altLang="zh-TW" sz="1800" dirty="0">
                <a:solidFill>
                  <a:schemeClr val="accent1">
                    <a:lumMod val="50000"/>
                  </a:schemeClr>
                </a:solidFill>
                <a:latin typeface="Avenir Book" panose="02000503020000020003" pitchFamily="2" charset="0"/>
                <a:ea typeface="+mn-ea"/>
                <a:cs typeface="Calibri"/>
              </a:rPr>
              <a:t>patient</a:t>
            </a:r>
            <a:endParaRPr lang="en-US" sz="1800" dirty="0">
              <a:solidFill>
                <a:schemeClr val="accent1">
                  <a:lumMod val="50000"/>
                </a:schemeClr>
              </a:solidFill>
              <a:latin typeface="Avenir Book" panose="02000503020000020003" pitchFamily="2" charset="0"/>
              <a:ea typeface="+mn-ea"/>
              <a:cs typeface="+mn-cs"/>
            </a:endParaRPr>
          </a:p>
        </p:txBody>
      </p:sp>
      <p:cxnSp>
        <p:nvCxnSpPr>
          <p:cNvPr id="92" name="Elbow Connector 91">
            <a:extLst>
              <a:ext uri="{FF2B5EF4-FFF2-40B4-BE49-F238E27FC236}">
                <a16:creationId xmlns:a16="http://schemas.microsoft.com/office/drawing/2014/main" id="{E32C6A79-9939-9497-01ED-1E112A9017D9}"/>
              </a:ext>
            </a:extLst>
          </p:cNvPr>
          <p:cNvCxnSpPr>
            <a:cxnSpLocks/>
            <a:stCxn id="16" idx="4"/>
            <a:endCxn id="91" idx="1"/>
          </p:cNvCxnSpPr>
          <p:nvPr/>
        </p:nvCxnSpPr>
        <p:spPr>
          <a:xfrm rot="16200000" flipH="1">
            <a:off x="7018209" y="4220665"/>
            <a:ext cx="1990423" cy="2054125"/>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1" name="Rounded Rectangle 120">
            <a:extLst>
              <a:ext uri="{FF2B5EF4-FFF2-40B4-BE49-F238E27FC236}">
                <a16:creationId xmlns:a16="http://schemas.microsoft.com/office/drawing/2014/main" id="{7824CFFC-B0A4-BA1C-BCC2-1E310BB6D770}"/>
              </a:ext>
            </a:extLst>
          </p:cNvPr>
          <p:cNvSpPr/>
          <p:nvPr/>
        </p:nvSpPr>
        <p:spPr>
          <a:xfrm>
            <a:off x="470513" y="5869862"/>
            <a:ext cx="3727414" cy="448363"/>
          </a:xfrm>
          <a:prstGeom prst="roundRect">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0000"/>
              </a:lnSpc>
              <a:spcBef>
                <a:spcPts val="0"/>
              </a:spcBef>
              <a:defRPr/>
            </a:pPr>
            <a:r>
              <a:rPr lang="en-US" altLang="zh-TW" sz="1800" dirty="0">
                <a:solidFill>
                  <a:schemeClr val="accent1">
                    <a:lumMod val="50000"/>
                  </a:schemeClr>
                </a:solidFill>
                <a:latin typeface="Avenir Book" panose="02000503020000020003" pitchFamily="2" charset="0"/>
                <a:ea typeface="+mn-ea"/>
                <a:cs typeface="+mn-cs"/>
              </a:rPr>
              <a:t>Close</a:t>
            </a:r>
            <a:r>
              <a:rPr lang="zh-TW" altLang="en-US" sz="1800">
                <a:solidFill>
                  <a:schemeClr val="accent1">
                    <a:lumMod val="50000"/>
                  </a:schemeClr>
                </a:solidFill>
                <a:latin typeface="Avenir Book" panose="02000503020000020003" pitchFamily="2" charset="0"/>
                <a:ea typeface="+mn-ea"/>
                <a:cs typeface="+mn-cs"/>
              </a:rPr>
              <a:t> </a:t>
            </a:r>
            <a:r>
              <a:rPr lang="en-US" altLang="zh-TW" sz="1800" dirty="0">
                <a:solidFill>
                  <a:schemeClr val="accent1">
                    <a:lumMod val="50000"/>
                  </a:schemeClr>
                </a:solidFill>
                <a:latin typeface="Avenir Book" panose="02000503020000020003" pitchFamily="2" charset="0"/>
                <a:ea typeface="+mn-ea"/>
                <a:cs typeface="+mn-cs"/>
              </a:rPr>
              <a:t>relationship</a:t>
            </a:r>
            <a:r>
              <a:rPr lang="zh-TW" altLang="en-US" sz="1800">
                <a:solidFill>
                  <a:schemeClr val="accent1">
                    <a:lumMod val="50000"/>
                  </a:schemeClr>
                </a:solidFill>
                <a:latin typeface="Avenir Book" panose="02000503020000020003" pitchFamily="2" charset="0"/>
                <a:ea typeface="+mn-ea"/>
                <a:cs typeface="+mn-cs"/>
              </a:rPr>
              <a:t> </a:t>
            </a:r>
            <a:r>
              <a:rPr lang="en-US" altLang="zh-TW" dirty="0">
                <a:solidFill>
                  <a:schemeClr val="accent1">
                    <a:lumMod val="50000"/>
                  </a:schemeClr>
                </a:solidFill>
                <a:latin typeface="Avenir Book" panose="02000503020000020003" pitchFamily="2" charset="0"/>
              </a:rPr>
              <a:t>with</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caregiver</a:t>
            </a:r>
            <a:endParaRPr lang="en-US" sz="1800" dirty="0">
              <a:solidFill>
                <a:schemeClr val="accent1">
                  <a:lumMod val="50000"/>
                </a:schemeClr>
              </a:solidFill>
              <a:latin typeface="Avenir Book" panose="02000503020000020003" pitchFamily="2" charset="0"/>
              <a:ea typeface="+mn-ea"/>
              <a:cs typeface="+mn-cs"/>
            </a:endParaRPr>
          </a:p>
        </p:txBody>
      </p:sp>
      <p:cxnSp>
        <p:nvCxnSpPr>
          <p:cNvPr id="128" name="Elbow Connector 127">
            <a:extLst>
              <a:ext uri="{FF2B5EF4-FFF2-40B4-BE49-F238E27FC236}">
                <a16:creationId xmlns:a16="http://schemas.microsoft.com/office/drawing/2014/main" id="{D6066D1B-FF6B-5CC7-F19A-E67C34E85AB9}"/>
              </a:ext>
            </a:extLst>
          </p:cNvPr>
          <p:cNvCxnSpPr>
            <a:cxnSpLocks/>
          </p:cNvCxnSpPr>
          <p:nvPr/>
        </p:nvCxnSpPr>
        <p:spPr>
          <a:xfrm flipV="1">
            <a:off x="4210284" y="4243609"/>
            <a:ext cx="986931" cy="1850435"/>
          </a:xfrm>
          <a:prstGeom prst="bentConnector2">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67F5CCC-E51B-78F1-BAEC-1F88CCCB196A}"/>
              </a:ext>
            </a:extLst>
          </p:cNvPr>
          <p:cNvSpPr txBox="1"/>
          <p:nvPr/>
        </p:nvSpPr>
        <p:spPr>
          <a:xfrm>
            <a:off x="5493327" y="505691"/>
            <a:ext cx="796541" cy="369332"/>
          </a:xfrm>
          <a:prstGeom prst="rect">
            <a:avLst/>
          </a:prstGeom>
          <a:noFill/>
        </p:spPr>
        <p:txBody>
          <a:bodyPr wrap="square" rtlCol="0">
            <a:spAutoFit/>
          </a:bodyPr>
          <a:lstStyle/>
          <a:p>
            <a:r>
              <a:rPr lang="en-US" dirty="0">
                <a:solidFill>
                  <a:srgbClr val="FF0000"/>
                </a:solidFill>
              </a:rPr>
              <a:t>5/5</a:t>
            </a:r>
            <a:endParaRPr lang="en-HK" dirty="0">
              <a:solidFill>
                <a:srgbClr val="FF0000"/>
              </a:solidFill>
            </a:endParaRPr>
          </a:p>
        </p:txBody>
      </p:sp>
    </p:spTree>
    <p:extLst>
      <p:ext uri="{BB962C8B-B14F-4D97-AF65-F5344CB8AC3E}">
        <p14:creationId xmlns:p14="http://schemas.microsoft.com/office/powerpoint/2010/main" val="2447638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F4CF-2D65-D417-DE3E-11CF1B65DB9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176A1FB-6E82-A7F4-338C-207A5759AEF1}"/>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A7FF0BB9-815C-792A-25CD-D88DB92AD69D}"/>
              </a:ext>
            </a:extLst>
          </p:cNvPr>
          <p:cNvSpPr txBox="1">
            <a:spLocks noGrp="1"/>
          </p:cNvSpPr>
          <p:nvPr>
            <p:ph type="title" idx="4294967295"/>
          </p:nvPr>
        </p:nvSpPr>
        <p:spPr>
          <a:xfrm>
            <a:off x="375976" y="333593"/>
            <a:ext cx="847305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Market size</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 Greater Bay Area &amp; Hong Kong</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grpSp>
        <p:nvGrpSpPr>
          <p:cNvPr id="26" name="Group 25">
            <a:extLst>
              <a:ext uri="{FF2B5EF4-FFF2-40B4-BE49-F238E27FC236}">
                <a16:creationId xmlns:a16="http://schemas.microsoft.com/office/drawing/2014/main" id="{757D8ECD-5523-D952-0FCC-1A830217642F}"/>
              </a:ext>
            </a:extLst>
          </p:cNvPr>
          <p:cNvGrpSpPr/>
          <p:nvPr/>
        </p:nvGrpSpPr>
        <p:grpSpPr>
          <a:xfrm>
            <a:off x="4596557" y="1012916"/>
            <a:ext cx="1440000" cy="1440000"/>
            <a:chOff x="536396" y="942340"/>
            <a:chExt cx="1440000" cy="1440000"/>
          </a:xfrm>
        </p:grpSpPr>
        <p:pic>
          <p:nvPicPr>
            <p:cNvPr id="3" name="Picture 2" descr="A circle with a blue circle&#10;&#10;Description automatically generated">
              <a:extLst>
                <a:ext uri="{FF2B5EF4-FFF2-40B4-BE49-F238E27FC236}">
                  <a16:creationId xmlns:a16="http://schemas.microsoft.com/office/drawing/2014/main" id="{8384B3AD-D999-B130-062F-46A5DBEB5E56}"/>
                </a:ext>
              </a:extLst>
            </p:cNvPr>
            <p:cNvPicPr>
              <a:picLocks noChangeAspect="1"/>
            </p:cNvPicPr>
            <p:nvPr/>
          </p:nvPicPr>
          <p:blipFill>
            <a:blip r:embed="rId2"/>
            <a:stretch>
              <a:fillRect/>
            </a:stretch>
          </p:blipFill>
          <p:spPr>
            <a:xfrm>
              <a:off x="536396" y="942340"/>
              <a:ext cx="1440000" cy="1440000"/>
            </a:xfrm>
            <a:prstGeom prst="rect">
              <a:avLst/>
            </a:prstGeom>
          </p:spPr>
        </p:pic>
        <p:sp>
          <p:nvSpPr>
            <p:cNvPr id="4" name="TextBox 3">
              <a:extLst>
                <a:ext uri="{FF2B5EF4-FFF2-40B4-BE49-F238E27FC236}">
                  <a16:creationId xmlns:a16="http://schemas.microsoft.com/office/drawing/2014/main" id="{12FA91F3-4138-77FA-3B3D-69A5A079217B}"/>
                </a:ext>
              </a:extLst>
            </p:cNvPr>
            <p:cNvSpPr txBox="1"/>
            <p:nvPr/>
          </p:nvSpPr>
          <p:spPr>
            <a:xfrm>
              <a:off x="679018" y="1463760"/>
              <a:ext cx="1160371" cy="400110"/>
            </a:xfrm>
            <a:prstGeom prst="rect">
              <a:avLst/>
            </a:prstGeom>
            <a:noFill/>
          </p:spPr>
          <p:txBody>
            <a:bodyPr wrap="square" rtlCol="0">
              <a:spAutoFit/>
            </a:bodyPr>
            <a:lstStyle/>
            <a:p>
              <a:pPr algn="ctr"/>
              <a:r>
                <a:rPr lang="en-US" sz="2000" dirty="0">
                  <a:latin typeface="Avenir Book" panose="02000503020000020003"/>
                </a:rPr>
                <a:t>8.64%</a:t>
              </a:r>
              <a:r>
                <a:rPr lang="en-US" sz="2000" baseline="30000" dirty="0">
                  <a:latin typeface="Avenir Book" panose="02000503020000020003"/>
                </a:rPr>
                <a:t>2</a:t>
              </a:r>
              <a:endParaRPr lang="en-HK" sz="2000" dirty="0">
                <a:latin typeface="Avenir Book" panose="02000503020000020003"/>
              </a:endParaRPr>
            </a:p>
          </p:txBody>
        </p:sp>
      </p:grpSp>
      <p:sp>
        <p:nvSpPr>
          <p:cNvPr id="6" name="TextBox 5">
            <a:extLst>
              <a:ext uri="{FF2B5EF4-FFF2-40B4-BE49-F238E27FC236}">
                <a16:creationId xmlns:a16="http://schemas.microsoft.com/office/drawing/2014/main" id="{4701DAC3-D0F6-8782-0808-D02D6972EAC5}"/>
              </a:ext>
            </a:extLst>
          </p:cNvPr>
          <p:cNvSpPr txBox="1"/>
          <p:nvPr/>
        </p:nvSpPr>
        <p:spPr>
          <a:xfrm>
            <a:off x="6036556" y="1271251"/>
            <a:ext cx="2323968" cy="1477328"/>
          </a:xfrm>
          <a:prstGeom prst="rect">
            <a:avLst/>
          </a:prstGeom>
          <a:noFill/>
        </p:spPr>
        <p:txBody>
          <a:bodyPr wrap="square" rtlCol="0">
            <a:spAutoFit/>
          </a:bodyPr>
          <a:lstStyle/>
          <a:p>
            <a:r>
              <a:rPr lang="en-US" dirty="0">
                <a:latin typeface="Avenir Book" panose="02000503020000020003"/>
              </a:rPr>
              <a:t>of GBA population is above or equal to 65 years old</a:t>
            </a:r>
          </a:p>
          <a:p>
            <a:r>
              <a:rPr lang="en-HK" sz="1200" dirty="0">
                <a:hlinkClick r:id="rId3"/>
              </a:rPr>
              <a:t>GBA_age_distribution.xlsx</a:t>
            </a:r>
            <a:r>
              <a:rPr lang="en-HK" sz="1200" dirty="0"/>
              <a:t> </a:t>
            </a:r>
            <a:r>
              <a:rPr lang="en-HK" sz="1200" dirty="0">
                <a:solidFill>
                  <a:schemeClr val="bg1">
                    <a:lumMod val="50000"/>
                  </a:schemeClr>
                </a:solidFill>
              </a:rPr>
              <a:t>(Ctrl + Click for window) &amp; </a:t>
            </a:r>
            <a:r>
              <a:rPr lang="en-US" sz="1200" dirty="0">
                <a:solidFill>
                  <a:schemeClr val="bg1">
                    <a:lumMod val="50000"/>
                  </a:schemeClr>
                </a:solidFill>
              </a:rPr>
              <a:t>appendix </a:t>
            </a:r>
            <a:r>
              <a:rPr lang="en-HK" sz="1200" dirty="0">
                <a:solidFill>
                  <a:schemeClr val="bg1">
                    <a:lumMod val="50000"/>
                  </a:schemeClr>
                </a:solidFill>
              </a:rPr>
              <a:t>reference B</a:t>
            </a:r>
          </a:p>
        </p:txBody>
      </p:sp>
      <p:grpSp>
        <p:nvGrpSpPr>
          <p:cNvPr id="28" name="Group 27">
            <a:extLst>
              <a:ext uri="{FF2B5EF4-FFF2-40B4-BE49-F238E27FC236}">
                <a16:creationId xmlns:a16="http://schemas.microsoft.com/office/drawing/2014/main" id="{7239C1D5-BD0A-426E-4372-565EA96C81AA}"/>
              </a:ext>
            </a:extLst>
          </p:cNvPr>
          <p:cNvGrpSpPr/>
          <p:nvPr/>
        </p:nvGrpSpPr>
        <p:grpSpPr>
          <a:xfrm>
            <a:off x="8200401" y="1012916"/>
            <a:ext cx="1783385" cy="1440000"/>
            <a:chOff x="4224130" y="942340"/>
            <a:chExt cx="1783385" cy="1440000"/>
          </a:xfrm>
        </p:grpSpPr>
        <p:pic>
          <p:nvPicPr>
            <p:cNvPr id="14" name="Picture 13" descr="A circle with a blue and orange circle&#10;&#10;Description automatically generated with medium confidence">
              <a:extLst>
                <a:ext uri="{FF2B5EF4-FFF2-40B4-BE49-F238E27FC236}">
                  <a16:creationId xmlns:a16="http://schemas.microsoft.com/office/drawing/2014/main" id="{0C6389EA-0D99-2BF0-401C-D342E7081D3A}"/>
                </a:ext>
              </a:extLst>
            </p:cNvPr>
            <p:cNvPicPr>
              <a:picLocks noChangeAspect="1"/>
            </p:cNvPicPr>
            <p:nvPr/>
          </p:nvPicPr>
          <p:blipFill>
            <a:blip r:embed="rId4"/>
            <a:stretch>
              <a:fillRect/>
            </a:stretch>
          </p:blipFill>
          <p:spPr>
            <a:xfrm>
              <a:off x="4224130" y="942340"/>
              <a:ext cx="1783385" cy="1440000"/>
            </a:xfrm>
            <a:prstGeom prst="rect">
              <a:avLst/>
            </a:prstGeom>
          </p:spPr>
        </p:pic>
        <p:sp>
          <p:nvSpPr>
            <p:cNvPr id="15" name="TextBox 14">
              <a:extLst>
                <a:ext uri="{FF2B5EF4-FFF2-40B4-BE49-F238E27FC236}">
                  <a16:creationId xmlns:a16="http://schemas.microsoft.com/office/drawing/2014/main" id="{F81AFEE8-D37A-F7C1-4E75-55E4461DC181}"/>
                </a:ext>
              </a:extLst>
            </p:cNvPr>
            <p:cNvSpPr txBox="1"/>
            <p:nvPr/>
          </p:nvSpPr>
          <p:spPr>
            <a:xfrm>
              <a:off x="4516139" y="1462285"/>
              <a:ext cx="1131647" cy="400110"/>
            </a:xfrm>
            <a:prstGeom prst="rect">
              <a:avLst/>
            </a:prstGeom>
            <a:noFill/>
          </p:spPr>
          <p:txBody>
            <a:bodyPr wrap="square" rtlCol="0">
              <a:spAutoFit/>
            </a:bodyPr>
            <a:lstStyle/>
            <a:p>
              <a:pPr algn="ctr"/>
              <a:r>
                <a:rPr lang="en-US" sz="2000" dirty="0">
                  <a:latin typeface="Avenir Book" panose="02000503020000020003"/>
                </a:rPr>
                <a:t>20.39%</a:t>
              </a:r>
              <a:r>
                <a:rPr lang="en-US" sz="2000" baseline="30000" dirty="0">
                  <a:latin typeface="Avenir Book" panose="02000503020000020003"/>
                </a:rPr>
                <a:t>3</a:t>
              </a:r>
              <a:endParaRPr lang="en-HK" sz="2000" dirty="0">
                <a:latin typeface="Avenir Book" panose="02000503020000020003"/>
              </a:endParaRPr>
            </a:p>
          </p:txBody>
        </p:sp>
      </p:grpSp>
      <p:sp>
        <p:nvSpPr>
          <p:cNvPr id="17" name="TextBox 16">
            <a:extLst>
              <a:ext uri="{FF2B5EF4-FFF2-40B4-BE49-F238E27FC236}">
                <a16:creationId xmlns:a16="http://schemas.microsoft.com/office/drawing/2014/main" id="{83348CC0-FF81-473E-C788-EABF60581C3D}"/>
              </a:ext>
            </a:extLst>
          </p:cNvPr>
          <p:cNvSpPr txBox="1"/>
          <p:nvPr/>
        </p:nvSpPr>
        <p:spPr>
          <a:xfrm>
            <a:off x="9698645" y="1271251"/>
            <a:ext cx="2323968" cy="1292662"/>
          </a:xfrm>
          <a:prstGeom prst="rect">
            <a:avLst/>
          </a:prstGeom>
          <a:noFill/>
        </p:spPr>
        <p:txBody>
          <a:bodyPr wrap="square" rtlCol="0">
            <a:spAutoFit/>
          </a:bodyPr>
          <a:lstStyle/>
          <a:p>
            <a:r>
              <a:rPr lang="en-US" dirty="0">
                <a:latin typeface="Avenir Book" panose="02000503020000020003"/>
              </a:rPr>
              <a:t>of elderly population is suffering different kind of dementia</a:t>
            </a:r>
            <a:r>
              <a:rPr lang="en-GB" dirty="0">
                <a:latin typeface="Avenir Book" panose="02000503020000020003"/>
              </a:rPr>
              <a:t> and MCI</a:t>
            </a:r>
          </a:p>
          <a:p>
            <a:r>
              <a:rPr lang="en-HK" sz="1200" dirty="0">
                <a:hlinkClick r:id="rId5"/>
              </a:rPr>
              <a:t>dementia_percentage.xlsx</a:t>
            </a:r>
            <a:r>
              <a:rPr lang="en-HK" sz="1200" dirty="0"/>
              <a:t> </a:t>
            </a:r>
            <a:r>
              <a:rPr lang="en-HK" sz="1200" dirty="0">
                <a:solidFill>
                  <a:schemeClr val="bg1">
                    <a:lumMod val="50000"/>
                  </a:schemeClr>
                </a:solidFill>
              </a:rPr>
              <a:t>&amp; </a:t>
            </a:r>
            <a:r>
              <a:rPr lang="en-US" sz="1200" dirty="0">
                <a:solidFill>
                  <a:schemeClr val="bg1">
                    <a:lumMod val="50000"/>
                  </a:schemeClr>
                </a:solidFill>
              </a:rPr>
              <a:t>appendix </a:t>
            </a:r>
            <a:r>
              <a:rPr lang="en-HK" sz="1200" dirty="0">
                <a:solidFill>
                  <a:schemeClr val="bg1">
                    <a:lumMod val="50000"/>
                  </a:schemeClr>
                </a:solidFill>
              </a:rPr>
              <a:t>reference C, D</a:t>
            </a:r>
          </a:p>
        </p:txBody>
      </p:sp>
      <p:grpSp>
        <p:nvGrpSpPr>
          <p:cNvPr id="27" name="Group 26">
            <a:extLst>
              <a:ext uri="{FF2B5EF4-FFF2-40B4-BE49-F238E27FC236}">
                <a16:creationId xmlns:a16="http://schemas.microsoft.com/office/drawing/2014/main" id="{8D8393AF-B897-E37C-8BA2-8C1752B5FB96}"/>
              </a:ext>
            </a:extLst>
          </p:cNvPr>
          <p:cNvGrpSpPr/>
          <p:nvPr/>
        </p:nvGrpSpPr>
        <p:grpSpPr>
          <a:xfrm>
            <a:off x="4510753" y="2771378"/>
            <a:ext cx="1611429" cy="1440000"/>
            <a:chOff x="450592" y="2700802"/>
            <a:chExt cx="1611429" cy="1440000"/>
          </a:xfrm>
        </p:grpSpPr>
        <p:pic>
          <p:nvPicPr>
            <p:cNvPr id="2" name="Picture 1" descr="A circle with a number of different colored parts&#10;&#10;Description automatically generated with medium confidence">
              <a:extLst>
                <a:ext uri="{FF2B5EF4-FFF2-40B4-BE49-F238E27FC236}">
                  <a16:creationId xmlns:a16="http://schemas.microsoft.com/office/drawing/2014/main" id="{5CE5F0CC-1A7F-23C3-5928-00526E4837D0}"/>
                </a:ext>
              </a:extLst>
            </p:cNvPr>
            <p:cNvPicPr>
              <a:picLocks noChangeAspect="1"/>
            </p:cNvPicPr>
            <p:nvPr/>
          </p:nvPicPr>
          <p:blipFill>
            <a:blip r:embed="rId6"/>
            <a:stretch>
              <a:fillRect/>
            </a:stretch>
          </p:blipFill>
          <p:spPr>
            <a:xfrm>
              <a:off x="450592" y="2700802"/>
              <a:ext cx="1611429" cy="1440000"/>
            </a:xfrm>
            <a:prstGeom prst="rect">
              <a:avLst/>
            </a:prstGeom>
          </p:spPr>
        </p:pic>
        <p:sp>
          <p:nvSpPr>
            <p:cNvPr id="8" name="TextBox 7">
              <a:extLst>
                <a:ext uri="{FF2B5EF4-FFF2-40B4-BE49-F238E27FC236}">
                  <a16:creationId xmlns:a16="http://schemas.microsoft.com/office/drawing/2014/main" id="{D2C1CEA5-E8EB-AFA9-FAC1-F3795E7F521C}"/>
                </a:ext>
              </a:extLst>
            </p:cNvPr>
            <p:cNvSpPr txBox="1"/>
            <p:nvPr/>
          </p:nvSpPr>
          <p:spPr>
            <a:xfrm>
              <a:off x="656863" y="3220747"/>
              <a:ext cx="1215589" cy="400110"/>
            </a:xfrm>
            <a:prstGeom prst="rect">
              <a:avLst/>
            </a:prstGeom>
            <a:noFill/>
          </p:spPr>
          <p:txBody>
            <a:bodyPr wrap="square" rtlCol="0">
              <a:spAutoFit/>
            </a:bodyPr>
            <a:lstStyle/>
            <a:p>
              <a:pPr algn="ctr"/>
              <a:r>
                <a:rPr lang="en-US" sz="2000" dirty="0">
                  <a:latin typeface="Avenir Book" panose="02000503020000020003"/>
                </a:rPr>
                <a:t>20.47%</a:t>
              </a:r>
              <a:r>
                <a:rPr lang="en-US" sz="2000" baseline="30000" dirty="0">
                  <a:latin typeface="Avenir Book" panose="02000503020000020003"/>
                </a:rPr>
                <a:t>5</a:t>
              </a:r>
              <a:endParaRPr lang="en-HK" sz="2000" dirty="0">
                <a:latin typeface="Avenir Book" panose="02000503020000020003"/>
              </a:endParaRPr>
            </a:p>
          </p:txBody>
        </p:sp>
      </p:grpSp>
      <p:sp>
        <p:nvSpPr>
          <p:cNvPr id="9" name="TextBox 8">
            <a:extLst>
              <a:ext uri="{FF2B5EF4-FFF2-40B4-BE49-F238E27FC236}">
                <a16:creationId xmlns:a16="http://schemas.microsoft.com/office/drawing/2014/main" id="{B49B0D4C-D5ED-E60A-8629-07E9DFAF75B5}"/>
              </a:ext>
            </a:extLst>
          </p:cNvPr>
          <p:cNvSpPr txBox="1"/>
          <p:nvPr/>
        </p:nvSpPr>
        <p:spPr>
          <a:xfrm>
            <a:off x="6036554" y="3029713"/>
            <a:ext cx="2323970" cy="1107996"/>
          </a:xfrm>
          <a:prstGeom prst="rect">
            <a:avLst/>
          </a:prstGeom>
          <a:noFill/>
        </p:spPr>
        <p:txBody>
          <a:bodyPr wrap="square" rtlCol="0">
            <a:spAutoFit/>
          </a:bodyPr>
          <a:lstStyle/>
          <a:p>
            <a:r>
              <a:rPr lang="en-US" dirty="0">
                <a:latin typeface="Avenir Book" panose="02000503020000020003"/>
              </a:rPr>
              <a:t>of Hong Kong population is above or equal to 65 years old</a:t>
            </a:r>
          </a:p>
          <a:p>
            <a:r>
              <a:rPr lang="en-US" sz="1200" dirty="0">
                <a:solidFill>
                  <a:schemeClr val="bg1">
                    <a:lumMod val="50000"/>
                  </a:schemeClr>
                </a:solidFill>
              </a:rPr>
              <a:t>see appendix reference F</a:t>
            </a:r>
          </a:p>
        </p:txBody>
      </p:sp>
      <p:grpSp>
        <p:nvGrpSpPr>
          <p:cNvPr id="29" name="Group 28">
            <a:extLst>
              <a:ext uri="{FF2B5EF4-FFF2-40B4-BE49-F238E27FC236}">
                <a16:creationId xmlns:a16="http://schemas.microsoft.com/office/drawing/2014/main" id="{AE01CB8C-2AB0-010A-14AF-97FFE019E9D4}"/>
              </a:ext>
            </a:extLst>
          </p:cNvPr>
          <p:cNvGrpSpPr/>
          <p:nvPr/>
        </p:nvGrpSpPr>
        <p:grpSpPr>
          <a:xfrm>
            <a:off x="8341149" y="2771378"/>
            <a:ext cx="1434170" cy="1440000"/>
            <a:chOff x="4364878" y="2700802"/>
            <a:chExt cx="1434170" cy="1440000"/>
          </a:xfrm>
        </p:grpSpPr>
        <p:pic>
          <p:nvPicPr>
            <p:cNvPr id="10" name="Picture 9" descr="A circle with a blue center&#10;&#10;Description automatically generated with medium confidence">
              <a:extLst>
                <a:ext uri="{FF2B5EF4-FFF2-40B4-BE49-F238E27FC236}">
                  <a16:creationId xmlns:a16="http://schemas.microsoft.com/office/drawing/2014/main" id="{4ADE9C63-8E55-D240-FFD0-426812F89E42}"/>
                </a:ext>
              </a:extLst>
            </p:cNvPr>
            <p:cNvPicPr>
              <a:picLocks noChangeAspect="1"/>
            </p:cNvPicPr>
            <p:nvPr/>
          </p:nvPicPr>
          <p:blipFill>
            <a:blip r:embed="rId7"/>
            <a:stretch>
              <a:fillRect/>
            </a:stretch>
          </p:blipFill>
          <p:spPr>
            <a:xfrm>
              <a:off x="4364878" y="2700802"/>
              <a:ext cx="1434170" cy="1440000"/>
            </a:xfrm>
            <a:prstGeom prst="rect">
              <a:avLst/>
            </a:prstGeom>
          </p:spPr>
        </p:pic>
        <p:sp>
          <p:nvSpPr>
            <p:cNvPr id="11" name="TextBox 10">
              <a:extLst>
                <a:ext uri="{FF2B5EF4-FFF2-40B4-BE49-F238E27FC236}">
                  <a16:creationId xmlns:a16="http://schemas.microsoft.com/office/drawing/2014/main" id="{AAD016CB-5DC5-EE94-9064-01DA42921590}"/>
                </a:ext>
              </a:extLst>
            </p:cNvPr>
            <p:cNvSpPr txBox="1"/>
            <p:nvPr/>
          </p:nvSpPr>
          <p:spPr>
            <a:xfrm>
              <a:off x="4499735" y="3220747"/>
              <a:ext cx="1164453" cy="400110"/>
            </a:xfrm>
            <a:prstGeom prst="rect">
              <a:avLst/>
            </a:prstGeom>
            <a:noFill/>
          </p:spPr>
          <p:txBody>
            <a:bodyPr wrap="square" rtlCol="0">
              <a:spAutoFit/>
            </a:bodyPr>
            <a:lstStyle/>
            <a:p>
              <a:pPr algn="ctr"/>
              <a:r>
                <a:rPr lang="en-US" sz="2000" dirty="0">
                  <a:latin typeface="Avenir Book" panose="02000503020000020003"/>
                </a:rPr>
                <a:t>6.75%</a:t>
              </a:r>
              <a:r>
                <a:rPr lang="en-US" sz="2000" baseline="30000" dirty="0">
                  <a:latin typeface="Avenir Book" panose="02000503020000020003"/>
                </a:rPr>
                <a:t>6</a:t>
              </a:r>
              <a:endParaRPr lang="en-HK" sz="2000" dirty="0">
                <a:latin typeface="Avenir Book" panose="02000503020000020003"/>
              </a:endParaRPr>
            </a:p>
          </p:txBody>
        </p:sp>
      </p:grpSp>
      <p:sp>
        <p:nvSpPr>
          <p:cNvPr id="13" name="TextBox 12">
            <a:extLst>
              <a:ext uri="{FF2B5EF4-FFF2-40B4-BE49-F238E27FC236}">
                <a16:creationId xmlns:a16="http://schemas.microsoft.com/office/drawing/2014/main" id="{DBABEF4D-803C-EE3B-36E6-57AA16FE5816}"/>
              </a:ext>
            </a:extLst>
          </p:cNvPr>
          <p:cNvSpPr txBox="1"/>
          <p:nvPr/>
        </p:nvSpPr>
        <p:spPr>
          <a:xfrm>
            <a:off x="9698644" y="3029713"/>
            <a:ext cx="2299652" cy="1477328"/>
          </a:xfrm>
          <a:prstGeom prst="rect">
            <a:avLst/>
          </a:prstGeom>
          <a:noFill/>
        </p:spPr>
        <p:txBody>
          <a:bodyPr wrap="square" rtlCol="0">
            <a:spAutoFit/>
          </a:bodyPr>
          <a:lstStyle/>
          <a:p>
            <a:r>
              <a:rPr lang="en-US" dirty="0">
                <a:latin typeface="Avenir Book" panose="02000503020000020003"/>
              </a:rPr>
              <a:t>of Hong Kong elderly population is suffering dementia</a:t>
            </a:r>
          </a:p>
          <a:p>
            <a:r>
              <a:rPr lang="en-US" sz="1200" dirty="0">
                <a:solidFill>
                  <a:schemeClr val="bg1">
                    <a:lumMod val="50000"/>
                  </a:schemeClr>
                </a:solidFill>
              </a:rPr>
              <a:t>reasonable estimation, base on the 5-8% estimation from CUHK 2020, see appendix reference G</a:t>
            </a:r>
            <a:endParaRPr lang="en-HK" sz="1200" baseline="30000" dirty="0">
              <a:solidFill>
                <a:schemeClr val="bg1">
                  <a:lumMod val="50000"/>
                </a:schemeClr>
              </a:solidFill>
              <a:latin typeface="Avenir Book" panose="02000503020000020003"/>
            </a:endParaRPr>
          </a:p>
        </p:txBody>
      </p:sp>
      <p:sp>
        <p:nvSpPr>
          <p:cNvPr id="23" name="TextBox 8">
            <a:extLst>
              <a:ext uri="{FF2B5EF4-FFF2-40B4-BE49-F238E27FC236}">
                <a16:creationId xmlns:a16="http://schemas.microsoft.com/office/drawing/2014/main" id="{8B95A129-90E7-127E-E4BC-77B54B1BB0FB}"/>
              </a:ext>
            </a:extLst>
          </p:cNvPr>
          <p:cNvSpPr txBox="1"/>
          <p:nvPr/>
        </p:nvSpPr>
        <p:spPr>
          <a:xfrm>
            <a:off x="444201" y="4372676"/>
            <a:ext cx="10416428" cy="1200329"/>
          </a:xfrm>
          <a:prstGeom prst="rect">
            <a:avLst/>
          </a:prstGeom>
          <a:noFill/>
        </p:spPr>
        <p:txBody>
          <a:bodyPr wrap="square" rtlCol="0">
            <a:spAutoFit/>
          </a:bodyPr>
          <a:lstStyle/>
          <a:p>
            <a:r>
              <a:rPr lang="en-GB" dirty="0">
                <a:latin typeface="Avenir Book" panose="02000503020000020003"/>
              </a:rPr>
              <a:t>Main hypothesis: </a:t>
            </a:r>
          </a:p>
          <a:p>
            <a:pPr marL="342900" indent="-342900">
              <a:buFont typeface="+mj-lt"/>
              <a:buAutoNum type="arabicPeriod"/>
            </a:pPr>
            <a:r>
              <a:rPr lang="en-GB" dirty="0">
                <a:latin typeface="Avenir Book" panose="02000503020000020003"/>
              </a:rPr>
              <a:t>Most of dementia patients keep a certain level of ability of thinking</a:t>
            </a:r>
          </a:p>
          <a:p>
            <a:pPr marL="342900" indent="-342900">
              <a:buFont typeface="+mj-lt"/>
              <a:buAutoNum type="arabicPeriod"/>
            </a:pPr>
            <a:r>
              <a:rPr lang="en-GB" dirty="0">
                <a:latin typeface="Avenir Book" panose="02000503020000020003"/>
              </a:rPr>
              <a:t>Portion of young dementia patients is negligible</a:t>
            </a:r>
          </a:p>
          <a:p>
            <a:pPr marL="342900" indent="-342900">
              <a:buFont typeface="+mj-lt"/>
              <a:buAutoNum type="arabicPeriod"/>
            </a:pPr>
            <a:r>
              <a:rPr lang="en-US" altLang="zh-TW" dirty="0">
                <a:latin typeface="Avenir Book" panose="02000503020000020003"/>
              </a:rPr>
              <a:t>Number</a:t>
            </a:r>
            <a:r>
              <a:rPr lang="zh-TW" altLang="en-US" dirty="0">
                <a:latin typeface="Avenir Book" panose="02000503020000020003"/>
              </a:rPr>
              <a:t> </a:t>
            </a:r>
            <a:r>
              <a:rPr lang="en-US" altLang="zh-TW" dirty="0">
                <a:latin typeface="Avenir Book" panose="02000503020000020003"/>
              </a:rPr>
              <a:t>of</a:t>
            </a:r>
            <a:r>
              <a:rPr lang="zh-TW" altLang="en-US" dirty="0">
                <a:latin typeface="Avenir Book" panose="02000503020000020003"/>
              </a:rPr>
              <a:t> </a:t>
            </a:r>
            <a:r>
              <a:rPr lang="en-US" altLang="zh-TW" dirty="0">
                <a:latin typeface="Avenir Book" panose="02000503020000020003"/>
              </a:rPr>
              <a:t>dementia</a:t>
            </a:r>
            <a:r>
              <a:rPr lang="zh-TW" altLang="en-US" dirty="0">
                <a:latin typeface="Avenir Book" panose="02000503020000020003"/>
              </a:rPr>
              <a:t> </a:t>
            </a:r>
            <a:r>
              <a:rPr lang="en-US" altLang="zh-TW" dirty="0">
                <a:latin typeface="Avenir Book" panose="02000503020000020003"/>
              </a:rPr>
              <a:t>patient</a:t>
            </a:r>
            <a:r>
              <a:rPr lang="zh-TW" altLang="en-US" dirty="0">
                <a:latin typeface="Avenir Book" panose="02000503020000020003"/>
              </a:rPr>
              <a:t> </a:t>
            </a:r>
            <a:r>
              <a:rPr lang="en-US" altLang="zh-TW" dirty="0">
                <a:latin typeface="Avenir Book" panose="02000503020000020003"/>
              </a:rPr>
              <a:t>is</a:t>
            </a:r>
            <a:r>
              <a:rPr lang="zh-TW" altLang="en-US" dirty="0">
                <a:latin typeface="Avenir Book" panose="02000503020000020003"/>
              </a:rPr>
              <a:t> </a:t>
            </a:r>
            <a:r>
              <a:rPr lang="en-US" altLang="zh-TW" dirty="0">
                <a:latin typeface="Avenir Book" panose="02000503020000020003"/>
              </a:rPr>
              <a:t>predicted</a:t>
            </a:r>
            <a:r>
              <a:rPr lang="zh-TW" altLang="en-US" dirty="0">
                <a:latin typeface="Avenir Book" panose="02000503020000020003"/>
              </a:rPr>
              <a:t> </a:t>
            </a:r>
            <a:r>
              <a:rPr lang="en-US" altLang="zh-TW" dirty="0">
                <a:latin typeface="Avenir Book" panose="02000503020000020003"/>
              </a:rPr>
              <a:t>to</a:t>
            </a:r>
            <a:r>
              <a:rPr lang="zh-TW" altLang="en-US" dirty="0">
                <a:latin typeface="Avenir Book" panose="02000503020000020003"/>
              </a:rPr>
              <a:t> </a:t>
            </a:r>
            <a:r>
              <a:rPr lang="en-US" altLang="zh-TW" dirty="0">
                <a:latin typeface="Avenir Book" panose="02000503020000020003"/>
              </a:rPr>
              <a:t>grow</a:t>
            </a:r>
            <a:r>
              <a:rPr lang="zh-TW" altLang="en-US" dirty="0">
                <a:latin typeface="Avenir Book" panose="02000503020000020003"/>
              </a:rPr>
              <a:t> </a:t>
            </a:r>
            <a:r>
              <a:rPr lang="en-US" altLang="zh-TW" dirty="0">
                <a:latin typeface="Avenir Book" panose="02000503020000020003"/>
              </a:rPr>
              <a:t>due</a:t>
            </a:r>
            <a:r>
              <a:rPr lang="zh-TW" altLang="en-US" dirty="0">
                <a:latin typeface="Avenir Book" panose="02000503020000020003"/>
              </a:rPr>
              <a:t> </a:t>
            </a:r>
            <a:r>
              <a:rPr lang="en-US" altLang="zh-TW" dirty="0">
                <a:latin typeface="Avenir Book" panose="02000503020000020003"/>
              </a:rPr>
              <a:t>to</a:t>
            </a:r>
            <a:r>
              <a:rPr lang="zh-TW" altLang="en-US" dirty="0">
                <a:latin typeface="Avenir Book" panose="02000503020000020003"/>
              </a:rPr>
              <a:t> </a:t>
            </a:r>
            <a:r>
              <a:rPr lang="en-US" altLang="zh-TW" dirty="0">
                <a:latin typeface="Avenir Book" panose="02000503020000020003"/>
              </a:rPr>
              <a:t>the</a:t>
            </a:r>
            <a:r>
              <a:rPr lang="zh-TW" altLang="en-US" dirty="0">
                <a:latin typeface="Avenir Book" panose="02000503020000020003"/>
              </a:rPr>
              <a:t> </a:t>
            </a:r>
            <a:r>
              <a:rPr lang="en-US" altLang="zh-TW" dirty="0">
                <a:latin typeface="Avenir Book" panose="02000503020000020003"/>
              </a:rPr>
              <a:t>ageing</a:t>
            </a:r>
            <a:r>
              <a:rPr lang="zh-TW" altLang="en-US" dirty="0">
                <a:latin typeface="Avenir Book" panose="02000503020000020003"/>
              </a:rPr>
              <a:t> </a:t>
            </a:r>
            <a:r>
              <a:rPr lang="en-US" altLang="zh-TW" dirty="0">
                <a:latin typeface="Avenir Book" panose="02000503020000020003"/>
              </a:rPr>
              <a:t>population</a:t>
            </a:r>
            <a:endParaRPr lang="en-GB" dirty="0">
              <a:latin typeface="Avenir Book" panose="02000503020000020003"/>
            </a:endParaRPr>
          </a:p>
        </p:txBody>
      </p:sp>
      <p:sp>
        <p:nvSpPr>
          <p:cNvPr id="45" name="Circle: Hollow 44">
            <a:extLst>
              <a:ext uri="{FF2B5EF4-FFF2-40B4-BE49-F238E27FC236}">
                <a16:creationId xmlns:a16="http://schemas.microsoft.com/office/drawing/2014/main" id="{D7953B8F-20E2-37BC-E6A6-E2DB6F628F1A}"/>
              </a:ext>
            </a:extLst>
          </p:cNvPr>
          <p:cNvSpPr/>
          <p:nvPr/>
        </p:nvSpPr>
        <p:spPr>
          <a:xfrm>
            <a:off x="307853" y="1064887"/>
            <a:ext cx="1336057" cy="1336057"/>
          </a:xfrm>
          <a:prstGeom prst="donut">
            <a:avLst>
              <a:gd name="adj" fmla="val 13155"/>
            </a:avLst>
          </a:prstGeom>
          <a:solidFill>
            <a:srgbClr val="155F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solidFill>
                <a:schemeClr val="tx1"/>
              </a:solidFill>
            </a:endParaRPr>
          </a:p>
        </p:txBody>
      </p:sp>
      <p:sp>
        <p:nvSpPr>
          <p:cNvPr id="46" name="TextBox 45">
            <a:extLst>
              <a:ext uri="{FF2B5EF4-FFF2-40B4-BE49-F238E27FC236}">
                <a16:creationId xmlns:a16="http://schemas.microsoft.com/office/drawing/2014/main" id="{7C119D5C-F9FE-A827-8707-7EF9EE8D831B}"/>
              </a:ext>
            </a:extLst>
          </p:cNvPr>
          <p:cNvSpPr txBox="1"/>
          <p:nvPr/>
        </p:nvSpPr>
        <p:spPr>
          <a:xfrm>
            <a:off x="1643910" y="1548249"/>
            <a:ext cx="1789471" cy="553998"/>
          </a:xfrm>
          <a:prstGeom prst="rect">
            <a:avLst/>
          </a:prstGeom>
          <a:noFill/>
        </p:spPr>
        <p:txBody>
          <a:bodyPr wrap="square" rtlCol="0">
            <a:spAutoFit/>
          </a:bodyPr>
          <a:lstStyle/>
          <a:p>
            <a:r>
              <a:rPr lang="en-US" dirty="0"/>
              <a:t>GBA Population</a:t>
            </a:r>
          </a:p>
          <a:p>
            <a:r>
              <a:rPr lang="en-US" sz="1200" dirty="0">
                <a:solidFill>
                  <a:schemeClr val="bg1">
                    <a:lumMod val="50000"/>
                  </a:schemeClr>
                </a:solidFill>
              </a:rPr>
              <a:t>see appendix reference A</a:t>
            </a:r>
          </a:p>
        </p:txBody>
      </p:sp>
      <p:sp>
        <p:nvSpPr>
          <p:cNvPr id="47" name="Circle: Hollow 46">
            <a:extLst>
              <a:ext uri="{FF2B5EF4-FFF2-40B4-BE49-F238E27FC236}">
                <a16:creationId xmlns:a16="http://schemas.microsoft.com/office/drawing/2014/main" id="{85E2D109-9A33-4A6B-B874-02921E4921F4}"/>
              </a:ext>
            </a:extLst>
          </p:cNvPr>
          <p:cNvSpPr/>
          <p:nvPr/>
        </p:nvSpPr>
        <p:spPr>
          <a:xfrm>
            <a:off x="307853" y="2825108"/>
            <a:ext cx="1336057" cy="1336057"/>
          </a:xfrm>
          <a:prstGeom prst="donut">
            <a:avLst>
              <a:gd name="adj" fmla="val 13155"/>
            </a:avLst>
          </a:prstGeom>
          <a:solidFill>
            <a:srgbClr val="155F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solidFill>
                <a:schemeClr val="tx1"/>
              </a:solidFill>
            </a:endParaRPr>
          </a:p>
        </p:txBody>
      </p:sp>
      <p:sp>
        <p:nvSpPr>
          <p:cNvPr id="48" name="TextBox 47">
            <a:extLst>
              <a:ext uri="{FF2B5EF4-FFF2-40B4-BE49-F238E27FC236}">
                <a16:creationId xmlns:a16="http://schemas.microsoft.com/office/drawing/2014/main" id="{35E68EBC-B703-1D97-18D4-E005722C49DA}"/>
              </a:ext>
            </a:extLst>
          </p:cNvPr>
          <p:cNvSpPr txBox="1"/>
          <p:nvPr/>
        </p:nvSpPr>
        <p:spPr>
          <a:xfrm>
            <a:off x="1643910" y="3308470"/>
            <a:ext cx="2782953" cy="553998"/>
          </a:xfrm>
          <a:prstGeom prst="rect">
            <a:avLst/>
          </a:prstGeom>
          <a:noFill/>
        </p:spPr>
        <p:txBody>
          <a:bodyPr wrap="square" rtlCol="0">
            <a:spAutoFit/>
          </a:bodyPr>
          <a:lstStyle/>
          <a:p>
            <a:r>
              <a:rPr lang="en-US" dirty="0"/>
              <a:t>Hong Kong Population</a:t>
            </a:r>
          </a:p>
          <a:p>
            <a:r>
              <a:rPr lang="en-US" sz="1200" dirty="0">
                <a:solidFill>
                  <a:schemeClr val="bg1">
                    <a:lumMod val="50000"/>
                  </a:schemeClr>
                </a:solidFill>
              </a:rPr>
              <a:t>see appendix reference E</a:t>
            </a:r>
          </a:p>
        </p:txBody>
      </p:sp>
      <p:sp>
        <p:nvSpPr>
          <p:cNvPr id="49" name="TextBox 48">
            <a:extLst>
              <a:ext uri="{FF2B5EF4-FFF2-40B4-BE49-F238E27FC236}">
                <a16:creationId xmlns:a16="http://schemas.microsoft.com/office/drawing/2014/main" id="{E48D361A-FDEB-AB2C-B2B3-AC92564786AF}"/>
              </a:ext>
            </a:extLst>
          </p:cNvPr>
          <p:cNvSpPr txBox="1"/>
          <p:nvPr/>
        </p:nvSpPr>
        <p:spPr>
          <a:xfrm>
            <a:off x="395695" y="1532861"/>
            <a:ext cx="1160371" cy="400110"/>
          </a:xfrm>
          <a:prstGeom prst="rect">
            <a:avLst/>
          </a:prstGeom>
          <a:noFill/>
        </p:spPr>
        <p:txBody>
          <a:bodyPr wrap="square" rtlCol="0">
            <a:spAutoFit/>
          </a:bodyPr>
          <a:lstStyle/>
          <a:p>
            <a:pPr algn="ctr"/>
            <a:r>
              <a:rPr lang="en-US" sz="2000" dirty="0">
                <a:latin typeface="Avenir Book" panose="02000503020000020003"/>
              </a:rPr>
              <a:t>86.62M</a:t>
            </a:r>
            <a:r>
              <a:rPr lang="en-US" sz="2000" baseline="30000" dirty="0">
                <a:latin typeface="Avenir Book" panose="02000503020000020003"/>
              </a:rPr>
              <a:t>1</a:t>
            </a:r>
            <a:endParaRPr lang="en-HK" sz="2000" dirty="0">
              <a:latin typeface="Avenir Book" panose="02000503020000020003"/>
            </a:endParaRPr>
          </a:p>
        </p:txBody>
      </p:sp>
      <p:sp>
        <p:nvSpPr>
          <p:cNvPr id="50" name="TextBox 49">
            <a:extLst>
              <a:ext uri="{FF2B5EF4-FFF2-40B4-BE49-F238E27FC236}">
                <a16:creationId xmlns:a16="http://schemas.microsoft.com/office/drawing/2014/main" id="{B164B6B6-137F-F0A4-F359-4C8A722785FB}"/>
              </a:ext>
            </a:extLst>
          </p:cNvPr>
          <p:cNvSpPr txBox="1"/>
          <p:nvPr/>
        </p:nvSpPr>
        <p:spPr>
          <a:xfrm>
            <a:off x="416110" y="3291323"/>
            <a:ext cx="1160371" cy="400110"/>
          </a:xfrm>
          <a:prstGeom prst="rect">
            <a:avLst/>
          </a:prstGeom>
          <a:noFill/>
        </p:spPr>
        <p:txBody>
          <a:bodyPr wrap="square" rtlCol="0">
            <a:spAutoFit/>
          </a:bodyPr>
          <a:lstStyle/>
          <a:p>
            <a:pPr algn="ctr"/>
            <a:r>
              <a:rPr lang="en-US" sz="2000" dirty="0">
                <a:latin typeface="Avenir Book" panose="02000503020000020003"/>
              </a:rPr>
              <a:t>7.5M</a:t>
            </a:r>
            <a:r>
              <a:rPr lang="en-US" sz="2000" baseline="30000" dirty="0">
                <a:latin typeface="Avenir Book" panose="02000503020000020003"/>
              </a:rPr>
              <a:t>4</a:t>
            </a:r>
            <a:endParaRPr lang="en-HK" sz="2000" dirty="0">
              <a:latin typeface="Avenir Book" panose="02000503020000020003"/>
            </a:endParaRPr>
          </a:p>
        </p:txBody>
      </p:sp>
    </p:spTree>
    <p:extLst>
      <p:ext uri="{BB962C8B-B14F-4D97-AF65-F5344CB8AC3E}">
        <p14:creationId xmlns:p14="http://schemas.microsoft.com/office/powerpoint/2010/main" val="414838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B85C1EC-8B17-83D6-847A-F67DBA1ABA18}"/>
              </a:ext>
            </a:extLst>
          </p:cNvPr>
          <p:cNvSpPr txBox="1"/>
          <p:nvPr/>
        </p:nvSpPr>
        <p:spPr>
          <a:xfrm>
            <a:off x="824900" y="2156517"/>
            <a:ext cx="9322668" cy="3970318"/>
          </a:xfrm>
          <a:prstGeom prst="rect">
            <a:avLst/>
          </a:prstGeom>
          <a:noFill/>
        </p:spPr>
        <p:txBody>
          <a:bodyPr wrap="square" rtlCol="0">
            <a:spAutoFit/>
          </a:bodyPr>
          <a:lstStyle/>
          <a:p>
            <a:pPr algn="l">
              <a:buFont typeface="Arial" panose="020B0604020202020204" pitchFamily="34" charset="0"/>
              <a:buChar char="•"/>
            </a:pPr>
            <a:r>
              <a:rPr lang="en-US" b="1" i="0" dirty="0">
                <a:solidFill>
                  <a:srgbClr val="FF0000"/>
                </a:solidFill>
                <a:effectLst/>
                <a:latin typeface="Poppins" panose="00000500000000000000" pitchFamily="2" charset="0"/>
              </a:rPr>
              <a:t>Pre-dementia or early-stage dementia.</a:t>
            </a:r>
            <a:r>
              <a:rPr lang="en-US" b="0" i="0" dirty="0">
                <a:solidFill>
                  <a:srgbClr val="FF0000"/>
                </a:solidFill>
                <a:effectLst/>
                <a:latin typeface="Poppins" panose="00000500000000000000" pitchFamily="2" charset="0"/>
              </a:rPr>
              <a:t> In this initial phase, a person can still live independently and may not exhibit obvious memory loss or have any difficulty completing regular tasks. Mild dementia symptoms mimic episodes of age-related forgetfulness.</a:t>
            </a:r>
          </a:p>
          <a:p>
            <a:pPr algn="l">
              <a:buFont typeface="Arial" panose="020B0604020202020204" pitchFamily="34" charset="0"/>
              <a:buChar char="•"/>
            </a:pPr>
            <a:r>
              <a:rPr lang="en-US" b="1" i="0" dirty="0">
                <a:solidFill>
                  <a:srgbClr val="FF0000"/>
                </a:solidFill>
                <a:effectLst/>
                <a:latin typeface="Poppins" panose="00000500000000000000" pitchFamily="2" charset="0"/>
              </a:rPr>
              <a:t>Moderate or middle-stage dementia.</a:t>
            </a:r>
            <a:r>
              <a:rPr lang="en-US" b="0" i="0" dirty="0">
                <a:solidFill>
                  <a:srgbClr val="FF0000"/>
                </a:solidFill>
                <a:effectLst/>
                <a:latin typeface="Poppins" panose="00000500000000000000" pitchFamily="2" charset="0"/>
              </a:rPr>
              <a:t> Moderate dementia symptoms significantly affect a person’s personality and behavior. Someone with middle-stage dementia will generally need full- or part-time caregiver assistance with regular day-to-day activities. Other moderate-stage dementia symptoms include significant cognitive impairment and mood swings.</a:t>
            </a:r>
          </a:p>
          <a:p>
            <a:pPr algn="l">
              <a:buFont typeface="Arial" panose="020B0604020202020204" pitchFamily="34" charset="0"/>
              <a:buChar char="•"/>
            </a:pPr>
            <a:r>
              <a:rPr lang="en-US" b="1" i="0" dirty="0">
                <a:solidFill>
                  <a:srgbClr val="FF0000"/>
                </a:solidFill>
                <a:effectLst/>
                <a:latin typeface="Poppins" panose="00000500000000000000" pitchFamily="2" charset="0"/>
              </a:rPr>
              <a:t>Severe or late-stage dementia.</a:t>
            </a:r>
            <a:r>
              <a:rPr lang="en-US" b="0" i="0" dirty="0">
                <a:solidFill>
                  <a:srgbClr val="FF0000"/>
                </a:solidFill>
                <a:effectLst/>
                <a:latin typeface="Poppins" panose="00000500000000000000" pitchFamily="2" charset="0"/>
              </a:rPr>
              <a:t> The final phase is associated with severe cognitive impairment along with a loss of physical abilities. Late-onset dementia symptoms are pronounced memory loss, incontinence, and an inability to move without help.</a:t>
            </a:r>
          </a:p>
          <a:p>
            <a:endParaRPr lang="en-HK" dirty="0"/>
          </a:p>
        </p:txBody>
      </p:sp>
      <p:sp>
        <p:nvSpPr>
          <p:cNvPr id="2" name="TextBox 1">
            <a:extLst>
              <a:ext uri="{FF2B5EF4-FFF2-40B4-BE49-F238E27FC236}">
                <a16:creationId xmlns:a16="http://schemas.microsoft.com/office/drawing/2014/main" id="{E091E394-0B5F-D219-A1AD-BCD0E469D5E2}"/>
              </a:ext>
            </a:extLst>
          </p:cNvPr>
          <p:cNvSpPr txBox="1"/>
          <p:nvPr/>
        </p:nvSpPr>
        <p:spPr>
          <a:xfrm>
            <a:off x="753856" y="1005142"/>
            <a:ext cx="6931292" cy="400110"/>
          </a:xfrm>
          <a:prstGeom prst="rect">
            <a:avLst/>
          </a:prstGeom>
          <a:noFill/>
        </p:spPr>
        <p:txBody>
          <a:bodyPr wrap="square" rtlCol="0">
            <a:spAutoFit/>
          </a:bodyPr>
          <a:lstStyle/>
          <a:p>
            <a:r>
              <a:rPr lang="en-US" sz="2000" dirty="0">
                <a:solidFill>
                  <a:srgbClr val="FF0000"/>
                </a:solidFill>
              </a:rPr>
              <a:t>Your solution may work for the early-state dementia?</a:t>
            </a:r>
            <a:endParaRPr lang="en-HK" sz="2000" dirty="0">
              <a:solidFill>
                <a:srgbClr val="FF0000"/>
              </a:solidFill>
            </a:endParaRPr>
          </a:p>
        </p:txBody>
      </p:sp>
    </p:spTree>
    <p:extLst>
      <p:ext uri="{BB962C8B-B14F-4D97-AF65-F5344CB8AC3E}">
        <p14:creationId xmlns:p14="http://schemas.microsoft.com/office/powerpoint/2010/main" val="3206099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07AE45-5232-7FEC-8FBC-6335A1053456}"/>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A46C4061-4418-80EE-7573-F35063047B08}"/>
              </a:ext>
            </a:extLst>
          </p:cNvPr>
          <p:cNvSpPr txBox="1">
            <a:spLocks noGrp="1"/>
          </p:cNvSpPr>
          <p:nvPr>
            <p:ph type="title" idx="4294967295"/>
          </p:nvPr>
        </p:nvSpPr>
        <p:spPr>
          <a:xfrm>
            <a:off x="375975" y="333593"/>
            <a:ext cx="4678909"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Market size</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lang="en-GB" altLang="zh-TW" sz="2000" b="1" dirty="0">
                <a:latin typeface="Avenir Book" panose="02000503020000020003" pitchFamily="2" charset="0"/>
                <a:ea typeface="+mn-ea"/>
                <a:cs typeface="Calibri"/>
              </a:rPr>
              <a:t>– TAM SAM SOM</a:t>
            </a:r>
            <a:r>
              <a:rPr lang="en-US" altLang="zh-TW" sz="2000" b="1" dirty="0">
                <a:latin typeface="Avenir Book" panose="02000503020000020003" pitchFamily="2" charset="0"/>
                <a:ea typeface="+mn-ea"/>
                <a:cs typeface="Calibri"/>
              </a:rPr>
              <a:t>*</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8" name="Cylinder 7">
            <a:extLst>
              <a:ext uri="{FF2B5EF4-FFF2-40B4-BE49-F238E27FC236}">
                <a16:creationId xmlns:a16="http://schemas.microsoft.com/office/drawing/2014/main" id="{1D3D8AF7-FA38-041D-445D-C74539BE3A4A}"/>
              </a:ext>
            </a:extLst>
          </p:cNvPr>
          <p:cNvSpPr/>
          <p:nvPr/>
        </p:nvSpPr>
        <p:spPr>
          <a:xfrm>
            <a:off x="6268673" y="1331160"/>
            <a:ext cx="5317313" cy="1674175"/>
          </a:xfrm>
          <a:prstGeom prst="can">
            <a:avLst/>
          </a:prstGeom>
          <a:solidFill>
            <a:schemeClr val="accent1"/>
          </a:solidFill>
          <a:ln w="2857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latin typeface="Avenir Book" panose="02000503020000020003" pitchFamily="2" charset="0"/>
                <a:ea typeface="Calibri"/>
                <a:cs typeface="Calibri"/>
              </a:rPr>
              <a:t>TAM</a:t>
            </a:r>
          </a:p>
          <a:p>
            <a:pPr algn="ctr"/>
            <a:r>
              <a:rPr lang="en-GB" dirty="0">
                <a:solidFill>
                  <a:schemeClr val="bg1"/>
                </a:solidFill>
                <a:latin typeface="Avenir Book" panose="02000503020000020003" pitchFamily="2" charset="0"/>
                <a:ea typeface="Calibri"/>
                <a:cs typeface="Calibri"/>
              </a:rPr>
              <a:t>$305M</a:t>
            </a:r>
          </a:p>
        </p:txBody>
      </p:sp>
      <p:sp>
        <p:nvSpPr>
          <p:cNvPr id="9" name="Cylinder 8">
            <a:extLst>
              <a:ext uri="{FF2B5EF4-FFF2-40B4-BE49-F238E27FC236}">
                <a16:creationId xmlns:a16="http://schemas.microsoft.com/office/drawing/2014/main" id="{DE6482FB-2489-FF84-201F-B4D6F108255F}"/>
              </a:ext>
            </a:extLst>
          </p:cNvPr>
          <p:cNvSpPr/>
          <p:nvPr/>
        </p:nvSpPr>
        <p:spPr>
          <a:xfrm>
            <a:off x="6658016" y="3272312"/>
            <a:ext cx="4538627" cy="1429446"/>
          </a:xfrm>
          <a:prstGeom prst="can">
            <a:avLst/>
          </a:prstGeom>
          <a:solidFill>
            <a:schemeClr val="accent1">
              <a:lumMod val="60000"/>
              <a:lumOff val="40000"/>
            </a:schemeClr>
          </a:solidFill>
          <a:ln w="2857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bg1"/>
                </a:solidFill>
                <a:latin typeface="Avenir Book" panose="02000503020000020003" pitchFamily="2" charset="0"/>
                <a:ea typeface="Calibri"/>
                <a:cs typeface="Calibri"/>
              </a:rPr>
              <a:t>SAM</a:t>
            </a:r>
          </a:p>
          <a:p>
            <a:pPr algn="ctr"/>
            <a:r>
              <a:rPr lang="en-GB" dirty="0">
                <a:solidFill>
                  <a:schemeClr val="bg1"/>
                </a:solidFill>
                <a:latin typeface="Avenir Book" panose="02000503020000020003" pitchFamily="2" charset="0"/>
                <a:ea typeface="Calibri"/>
                <a:cs typeface="Calibri"/>
              </a:rPr>
              <a:t>$21M</a:t>
            </a:r>
          </a:p>
        </p:txBody>
      </p:sp>
      <p:sp>
        <p:nvSpPr>
          <p:cNvPr id="10" name="Cylinder 9">
            <a:extLst>
              <a:ext uri="{FF2B5EF4-FFF2-40B4-BE49-F238E27FC236}">
                <a16:creationId xmlns:a16="http://schemas.microsoft.com/office/drawing/2014/main" id="{7C4B90AD-81A5-383B-00C2-4B5F5BBB8B3A}"/>
              </a:ext>
            </a:extLst>
          </p:cNvPr>
          <p:cNvSpPr/>
          <p:nvPr/>
        </p:nvSpPr>
        <p:spPr>
          <a:xfrm>
            <a:off x="7058483" y="4957610"/>
            <a:ext cx="3737693" cy="1179155"/>
          </a:xfrm>
          <a:prstGeom prst="can">
            <a:avLst/>
          </a:prstGeom>
          <a:solidFill>
            <a:schemeClr val="accent1">
              <a:lumMod val="40000"/>
              <a:lumOff val="60000"/>
            </a:schemeClr>
          </a:solidFill>
          <a:ln w="2857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solidFill>
                  <a:schemeClr val="bg1"/>
                </a:solidFill>
                <a:latin typeface="Avenir Book" panose="02000503020000020003" pitchFamily="2" charset="0"/>
                <a:ea typeface="Calibri"/>
                <a:cs typeface="Calibri"/>
              </a:rPr>
              <a:t>SOM</a:t>
            </a:r>
          </a:p>
          <a:p>
            <a:pPr algn="ctr"/>
            <a:r>
              <a:rPr lang="en-GB" dirty="0">
                <a:solidFill>
                  <a:schemeClr val="bg1"/>
                </a:solidFill>
                <a:latin typeface="Avenir Book" panose="02000503020000020003" pitchFamily="2" charset="0"/>
                <a:ea typeface="Calibri"/>
                <a:cs typeface="Calibri"/>
              </a:rPr>
              <a:t>$2.1M</a:t>
            </a:r>
          </a:p>
        </p:txBody>
      </p:sp>
      <p:sp>
        <p:nvSpPr>
          <p:cNvPr id="6" name="TextBox 5">
            <a:extLst>
              <a:ext uri="{FF2B5EF4-FFF2-40B4-BE49-F238E27FC236}">
                <a16:creationId xmlns:a16="http://schemas.microsoft.com/office/drawing/2014/main" id="{4F7FE245-5B41-C012-B49F-75E37466C9D7}"/>
              </a:ext>
            </a:extLst>
          </p:cNvPr>
          <p:cNvSpPr txBox="1"/>
          <p:nvPr/>
        </p:nvSpPr>
        <p:spPr>
          <a:xfrm>
            <a:off x="784655" y="1251009"/>
            <a:ext cx="5311343" cy="1477328"/>
          </a:xfrm>
          <a:prstGeom prst="rect">
            <a:avLst/>
          </a:prstGeom>
          <a:noFill/>
        </p:spPr>
        <p:txBody>
          <a:bodyPr wrap="square" rtlCol="0">
            <a:spAutoFit/>
          </a:bodyPr>
          <a:lstStyle/>
          <a:p>
            <a:r>
              <a:rPr lang="en-HK" dirty="0">
                <a:solidFill>
                  <a:schemeClr val="accent1">
                    <a:lumMod val="50000"/>
                  </a:schemeClr>
                </a:solidFill>
                <a:latin typeface="Avenir Book" panose="02000503020000020003"/>
              </a:rPr>
              <a:t>TAM (GBA)</a:t>
            </a:r>
          </a:p>
          <a:p>
            <a:r>
              <a:rPr lang="en-HK" dirty="0">
                <a:solidFill>
                  <a:schemeClr val="accent1">
                    <a:lumMod val="50000"/>
                  </a:schemeClr>
                </a:solidFill>
                <a:latin typeface="Avenir Book" panose="02000503020000020003"/>
              </a:rPr>
              <a:t>= GBA population x GBA elderly(age&gt;=65) fraction x </a:t>
            </a:r>
            <a:r>
              <a:rPr lang="en-GB" dirty="0">
                <a:solidFill>
                  <a:schemeClr val="accent1">
                    <a:lumMod val="50000"/>
                  </a:schemeClr>
                </a:solidFill>
                <a:latin typeface="Avenir Book" panose="02000503020000020003"/>
              </a:rPr>
              <a:t>GBA </a:t>
            </a:r>
            <a:r>
              <a:rPr lang="en-HK" dirty="0">
                <a:solidFill>
                  <a:schemeClr val="accent1">
                    <a:lumMod val="50000"/>
                  </a:schemeClr>
                </a:solidFill>
                <a:latin typeface="Avenir Book" panose="02000503020000020003"/>
              </a:rPr>
              <a:t>dementia </a:t>
            </a:r>
            <a:r>
              <a:rPr lang="en-GB" dirty="0">
                <a:solidFill>
                  <a:schemeClr val="accent1">
                    <a:lumMod val="50000"/>
                  </a:schemeClr>
                </a:solidFill>
                <a:latin typeface="Avenir Book" panose="02000503020000020003"/>
              </a:rPr>
              <a:t>and MCI </a:t>
            </a:r>
            <a:r>
              <a:rPr lang="en-HK" dirty="0">
                <a:solidFill>
                  <a:schemeClr val="accent1">
                    <a:lumMod val="50000"/>
                  </a:schemeClr>
                </a:solidFill>
                <a:latin typeface="Avenir Book" panose="02000503020000020003"/>
              </a:rPr>
              <a:t>fraction x price</a:t>
            </a:r>
          </a:p>
          <a:p>
            <a:r>
              <a:rPr lang="en-HK" dirty="0">
                <a:solidFill>
                  <a:schemeClr val="accent1">
                    <a:lumMod val="50000"/>
                  </a:schemeClr>
                </a:solidFill>
                <a:latin typeface="Avenir Book" panose="02000503020000020003"/>
              </a:rPr>
              <a:t>= 86.62M x 8.64% x 20.39% x</a:t>
            </a:r>
            <a:r>
              <a:rPr lang="en-GB" dirty="0">
                <a:solidFill>
                  <a:schemeClr val="accent1">
                    <a:lumMod val="50000"/>
                  </a:schemeClr>
                </a:solidFill>
                <a:latin typeface="Avenir Book" panose="02000503020000020003"/>
              </a:rPr>
              <a:t> $200</a:t>
            </a:r>
            <a:endParaRPr lang="en-HK" dirty="0">
              <a:solidFill>
                <a:schemeClr val="accent1">
                  <a:lumMod val="50000"/>
                </a:schemeClr>
              </a:solidFill>
              <a:highlight>
                <a:srgbClr val="FFFF00"/>
              </a:highlight>
              <a:latin typeface="Avenir Book" panose="02000503020000020003"/>
            </a:endParaRPr>
          </a:p>
          <a:p>
            <a:r>
              <a:rPr lang="en-HK" dirty="0">
                <a:solidFill>
                  <a:schemeClr val="accent1">
                    <a:lumMod val="50000"/>
                  </a:schemeClr>
                </a:solidFill>
                <a:latin typeface="Avenir Book" panose="02000503020000020003"/>
              </a:rPr>
              <a:t>= </a:t>
            </a:r>
            <a:r>
              <a:rPr lang="en-GB" dirty="0">
                <a:solidFill>
                  <a:schemeClr val="accent1">
                    <a:lumMod val="50000"/>
                  </a:schemeClr>
                </a:solidFill>
                <a:latin typeface="Avenir Book" panose="02000503020000020003"/>
              </a:rPr>
              <a:t>305</a:t>
            </a:r>
            <a:r>
              <a:rPr lang="en-HK" dirty="0">
                <a:solidFill>
                  <a:schemeClr val="accent1">
                    <a:lumMod val="50000"/>
                  </a:schemeClr>
                </a:solidFill>
                <a:latin typeface="Avenir Book" panose="02000503020000020003"/>
              </a:rPr>
              <a:t>M</a:t>
            </a:r>
          </a:p>
        </p:txBody>
      </p:sp>
      <p:sp>
        <p:nvSpPr>
          <p:cNvPr id="11" name="TextBox 10">
            <a:extLst>
              <a:ext uri="{FF2B5EF4-FFF2-40B4-BE49-F238E27FC236}">
                <a16:creationId xmlns:a16="http://schemas.microsoft.com/office/drawing/2014/main" id="{86C6CB61-B144-3B47-99DA-9BF156BBCB90}"/>
              </a:ext>
            </a:extLst>
          </p:cNvPr>
          <p:cNvSpPr txBox="1"/>
          <p:nvPr/>
        </p:nvSpPr>
        <p:spPr>
          <a:xfrm>
            <a:off x="784654" y="3072716"/>
            <a:ext cx="5311343" cy="1477328"/>
          </a:xfrm>
          <a:prstGeom prst="rect">
            <a:avLst/>
          </a:prstGeom>
          <a:noFill/>
        </p:spPr>
        <p:txBody>
          <a:bodyPr wrap="square" rtlCol="0">
            <a:spAutoFit/>
          </a:bodyPr>
          <a:lstStyle/>
          <a:p>
            <a:r>
              <a:rPr lang="en-HK" dirty="0">
                <a:solidFill>
                  <a:schemeClr val="accent1">
                    <a:lumMod val="50000"/>
                  </a:schemeClr>
                </a:solidFill>
                <a:latin typeface="Avenir Book" panose="02000503020000020003"/>
              </a:rPr>
              <a:t>SAM (Hong Kong)</a:t>
            </a:r>
          </a:p>
          <a:p>
            <a:r>
              <a:rPr lang="en-HK" dirty="0">
                <a:solidFill>
                  <a:schemeClr val="accent1">
                    <a:lumMod val="50000"/>
                  </a:schemeClr>
                </a:solidFill>
                <a:latin typeface="Avenir Book" panose="02000503020000020003"/>
              </a:rPr>
              <a:t>= HK population x HK elderly(age&gt;=65) fraction x HK elderly dementia fraction x price</a:t>
            </a:r>
          </a:p>
          <a:p>
            <a:r>
              <a:rPr lang="en-HK" dirty="0">
                <a:solidFill>
                  <a:schemeClr val="accent1">
                    <a:lumMod val="50000"/>
                  </a:schemeClr>
                </a:solidFill>
                <a:latin typeface="Avenir Book" panose="02000503020000020003"/>
              </a:rPr>
              <a:t>= 7.5M x 20.47% x 6.75% x</a:t>
            </a:r>
            <a:r>
              <a:rPr lang="en-GB" dirty="0">
                <a:solidFill>
                  <a:schemeClr val="accent1">
                    <a:lumMod val="50000"/>
                  </a:schemeClr>
                </a:solidFill>
                <a:latin typeface="Avenir Book" panose="02000503020000020003"/>
              </a:rPr>
              <a:t> $200</a:t>
            </a:r>
            <a:endParaRPr lang="en-HK" dirty="0">
              <a:solidFill>
                <a:schemeClr val="accent1">
                  <a:lumMod val="50000"/>
                </a:schemeClr>
              </a:solidFill>
              <a:highlight>
                <a:srgbClr val="FFFF00"/>
              </a:highlight>
              <a:latin typeface="Avenir Book" panose="02000503020000020003"/>
            </a:endParaRPr>
          </a:p>
          <a:p>
            <a:r>
              <a:rPr lang="en-HK" dirty="0">
                <a:solidFill>
                  <a:schemeClr val="accent1">
                    <a:lumMod val="50000"/>
                  </a:schemeClr>
                </a:solidFill>
                <a:latin typeface="Avenir Book" panose="02000503020000020003"/>
              </a:rPr>
              <a:t>= </a:t>
            </a:r>
            <a:r>
              <a:rPr lang="en-GB" dirty="0">
                <a:solidFill>
                  <a:schemeClr val="accent1">
                    <a:lumMod val="50000"/>
                  </a:schemeClr>
                </a:solidFill>
                <a:latin typeface="Avenir Book" panose="02000503020000020003"/>
              </a:rPr>
              <a:t>21M</a:t>
            </a:r>
            <a:endParaRPr lang="en-HK" dirty="0">
              <a:solidFill>
                <a:schemeClr val="accent1">
                  <a:lumMod val="50000"/>
                </a:schemeClr>
              </a:solidFill>
              <a:latin typeface="Avenir Book" panose="02000503020000020003"/>
            </a:endParaRPr>
          </a:p>
        </p:txBody>
      </p:sp>
      <p:sp>
        <p:nvSpPr>
          <p:cNvPr id="12" name="TextBox 11">
            <a:extLst>
              <a:ext uri="{FF2B5EF4-FFF2-40B4-BE49-F238E27FC236}">
                <a16:creationId xmlns:a16="http://schemas.microsoft.com/office/drawing/2014/main" id="{38E144F7-A8E1-CB80-C94E-10C10E0E3FBE}"/>
              </a:ext>
            </a:extLst>
          </p:cNvPr>
          <p:cNvSpPr txBox="1"/>
          <p:nvPr/>
        </p:nvSpPr>
        <p:spPr>
          <a:xfrm>
            <a:off x="784653" y="4894423"/>
            <a:ext cx="5311343" cy="1200329"/>
          </a:xfrm>
          <a:prstGeom prst="rect">
            <a:avLst/>
          </a:prstGeom>
          <a:noFill/>
        </p:spPr>
        <p:txBody>
          <a:bodyPr wrap="square" rtlCol="0">
            <a:spAutoFit/>
          </a:bodyPr>
          <a:lstStyle/>
          <a:p>
            <a:r>
              <a:rPr lang="en-HK" dirty="0">
                <a:solidFill>
                  <a:schemeClr val="accent1">
                    <a:lumMod val="50000"/>
                  </a:schemeClr>
                </a:solidFill>
                <a:latin typeface="Avenir Book" panose="02000503020000020003"/>
              </a:rPr>
              <a:t>SOM</a:t>
            </a:r>
          </a:p>
          <a:p>
            <a:r>
              <a:rPr lang="en-HK" dirty="0">
                <a:solidFill>
                  <a:schemeClr val="accent1">
                    <a:lumMod val="50000"/>
                  </a:schemeClr>
                </a:solidFill>
                <a:latin typeface="Avenir Book" panose="02000503020000020003"/>
              </a:rPr>
              <a:t>= SAM x obtainable fraction</a:t>
            </a:r>
            <a:endParaRPr lang="en-GB" dirty="0">
              <a:solidFill>
                <a:schemeClr val="accent1">
                  <a:lumMod val="50000"/>
                </a:schemeClr>
              </a:solidFill>
              <a:latin typeface="Avenir Book" panose="02000503020000020003"/>
            </a:endParaRPr>
          </a:p>
          <a:p>
            <a:r>
              <a:rPr lang="en-GB" dirty="0">
                <a:solidFill>
                  <a:schemeClr val="accent1">
                    <a:lumMod val="50000"/>
                  </a:schemeClr>
                </a:solidFill>
                <a:latin typeface="Avenir Book" panose="02000503020000020003"/>
              </a:rPr>
              <a:t>= 21M </a:t>
            </a:r>
            <a:r>
              <a:rPr lang="en-HK" dirty="0">
                <a:solidFill>
                  <a:schemeClr val="accent1">
                    <a:lumMod val="50000"/>
                  </a:schemeClr>
                </a:solidFill>
                <a:latin typeface="Avenir Book" panose="02000503020000020003"/>
              </a:rPr>
              <a:t>x 10%</a:t>
            </a:r>
          </a:p>
          <a:p>
            <a:r>
              <a:rPr lang="en-HK" dirty="0">
                <a:solidFill>
                  <a:schemeClr val="accent1">
                    <a:lumMod val="50000"/>
                  </a:schemeClr>
                </a:solidFill>
                <a:latin typeface="Avenir Book" panose="02000503020000020003"/>
              </a:rPr>
              <a:t>= </a:t>
            </a:r>
            <a:r>
              <a:rPr lang="en-GB" dirty="0">
                <a:solidFill>
                  <a:schemeClr val="accent1">
                    <a:lumMod val="50000"/>
                  </a:schemeClr>
                </a:solidFill>
                <a:latin typeface="Avenir Book" panose="02000503020000020003"/>
              </a:rPr>
              <a:t>2.1M</a:t>
            </a:r>
            <a:endParaRPr lang="en-HK" dirty="0">
              <a:solidFill>
                <a:schemeClr val="accent1">
                  <a:lumMod val="50000"/>
                </a:schemeClr>
              </a:solidFill>
              <a:latin typeface="Avenir Book" panose="02000503020000020003"/>
            </a:endParaRPr>
          </a:p>
        </p:txBody>
      </p:sp>
      <p:sp>
        <p:nvSpPr>
          <p:cNvPr id="3" name="Footer Placeholder 11">
            <a:extLst>
              <a:ext uri="{FF2B5EF4-FFF2-40B4-BE49-F238E27FC236}">
                <a16:creationId xmlns:a16="http://schemas.microsoft.com/office/drawing/2014/main" id="{9C528C66-8611-7607-6861-D0D544264E72}"/>
              </a:ext>
            </a:extLst>
          </p:cNvPr>
          <p:cNvSpPr txBox="1">
            <a:spLocks/>
          </p:cNvSpPr>
          <p:nvPr/>
        </p:nvSpPr>
        <p:spPr>
          <a:xfrm>
            <a:off x="784653" y="6306860"/>
            <a:ext cx="6048765" cy="4001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latin typeface="Avenir Book" panose="02000503020000020003" pitchFamily="2" charset="0"/>
              </a:rPr>
              <a:t>* all figures are completely based on the previous slide</a:t>
            </a:r>
          </a:p>
        </p:txBody>
      </p:sp>
      <p:sp>
        <p:nvSpPr>
          <p:cNvPr id="2" name="TextBox 1">
            <a:extLst>
              <a:ext uri="{FF2B5EF4-FFF2-40B4-BE49-F238E27FC236}">
                <a16:creationId xmlns:a16="http://schemas.microsoft.com/office/drawing/2014/main" id="{F7FA5ACD-AD30-80C4-D503-BADCD38DD1D7}"/>
              </a:ext>
            </a:extLst>
          </p:cNvPr>
          <p:cNvSpPr txBox="1"/>
          <p:nvPr/>
        </p:nvSpPr>
        <p:spPr>
          <a:xfrm>
            <a:off x="1912562" y="4495218"/>
            <a:ext cx="3783243" cy="369332"/>
          </a:xfrm>
          <a:prstGeom prst="rect">
            <a:avLst/>
          </a:prstGeom>
          <a:noFill/>
        </p:spPr>
        <p:txBody>
          <a:bodyPr wrap="square" rtlCol="0">
            <a:spAutoFit/>
          </a:bodyPr>
          <a:lstStyle/>
          <a:p>
            <a:r>
              <a:rPr lang="en-US" dirty="0"/>
              <a:t>Your solution possible only work for p</a:t>
            </a:r>
            <a:endParaRPr lang="en-HK" dirty="0"/>
          </a:p>
        </p:txBody>
      </p:sp>
      <p:sp>
        <p:nvSpPr>
          <p:cNvPr id="4" name="TextBox 3">
            <a:extLst>
              <a:ext uri="{FF2B5EF4-FFF2-40B4-BE49-F238E27FC236}">
                <a16:creationId xmlns:a16="http://schemas.microsoft.com/office/drawing/2014/main" id="{2EEE104A-F6BE-0294-2AB3-1A29C96AA64B}"/>
              </a:ext>
            </a:extLst>
          </p:cNvPr>
          <p:cNvSpPr txBox="1"/>
          <p:nvPr/>
        </p:nvSpPr>
        <p:spPr>
          <a:xfrm>
            <a:off x="1912561" y="2537442"/>
            <a:ext cx="3783243" cy="646331"/>
          </a:xfrm>
          <a:prstGeom prst="rect">
            <a:avLst/>
          </a:prstGeom>
          <a:noFill/>
        </p:spPr>
        <p:txBody>
          <a:bodyPr wrap="square" rtlCol="0">
            <a:spAutoFit/>
          </a:bodyPr>
          <a:lstStyle/>
          <a:p>
            <a:r>
              <a:rPr lang="en-US" dirty="0">
                <a:solidFill>
                  <a:srgbClr val="FF0000"/>
                </a:solidFill>
              </a:rPr>
              <a:t>20.27% may be too high if your customers are at the early stage</a:t>
            </a:r>
            <a:endParaRPr lang="en-HK" dirty="0">
              <a:solidFill>
                <a:srgbClr val="FF0000"/>
              </a:solidFill>
            </a:endParaRPr>
          </a:p>
        </p:txBody>
      </p:sp>
      <p:sp>
        <p:nvSpPr>
          <p:cNvPr id="13" name="TextBox 12">
            <a:extLst>
              <a:ext uri="{FF2B5EF4-FFF2-40B4-BE49-F238E27FC236}">
                <a16:creationId xmlns:a16="http://schemas.microsoft.com/office/drawing/2014/main" id="{11B66D13-D2AB-95C8-CA08-374FD1DEC856}"/>
              </a:ext>
            </a:extLst>
          </p:cNvPr>
          <p:cNvSpPr txBox="1"/>
          <p:nvPr/>
        </p:nvSpPr>
        <p:spPr>
          <a:xfrm>
            <a:off x="7873612" y="333593"/>
            <a:ext cx="837619" cy="369332"/>
          </a:xfrm>
          <a:prstGeom prst="rect">
            <a:avLst/>
          </a:prstGeom>
          <a:noFill/>
        </p:spPr>
        <p:txBody>
          <a:bodyPr wrap="square" rtlCol="0">
            <a:spAutoFit/>
          </a:bodyPr>
          <a:lstStyle/>
          <a:p>
            <a:r>
              <a:rPr lang="en-US" dirty="0">
                <a:solidFill>
                  <a:srgbClr val="FF0000"/>
                </a:solidFill>
              </a:rPr>
              <a:t>15/20</a:t>
            </a:r>
            <a:endParaRPr lang="en-HK" dirty="0">
              <a:solidFill>
                <a:srgbClr val="FF0000"/>
              </a:solidFill>
            </a:endParaRPr>
          </a:p>
        </p:txBody>
      </p:sp>
    </p:spTree>
    <p:extLst>
      <p:ext uri="{BB962C8B-B14F-4D97-AF65-F5344CB8AC3E}">
        <p14:creationId xmlns:p14="http://schemas.microsoft.com/office/powerpoint/2010/main" val="3372566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DAAD-E491-03D2-68E3-9E705A9E7C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B68E22-EC00-2191-0CD3-8A0BAAE9ACA2}"/>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312474A1-9105-C1AB-38A8-D21E5EFCC0A7}"/>
              </a:ext>
            </a:extLst>
          </p:cNvPr>
          <p:cNvSpPr txBox="1">
            <a:spLocks noGrp="1"/>
          </p:cNvSpPr>
          <p:nvPr>
            <p:ph type="title" idx="4294967295"/>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dirty="0">
                <a:latin typeface="Avenir Book" panose="02000503020000020003" pitchFamily="2" charset="0"/>
                <a:ea typeface="+mn-ea"/>
                <a:cs typeface="Calibri"/>
              </a:rPr>
              <a:t>Market</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potential – Increasing elderly fraction and amount with dementia</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33" name="TextBox 32">
            <a:extLst>
              <a:ext uri="{FF2B5EF4-FFF2-40B4-BE49-F238E27FC236}">
                <a16:creationId xmlns:a16="http://schemas.microsoft.com/office/drawing/2014/main" id="{F5A0FF54-DC53-B810-B4CA-87919853E8E6}"/>
              </a:ext>
            </a:extLst>
          </p:cNvPr>
          <p:cNvSpPr txBox="1"/>
          <p:nvPr/>
        </p:nvSpPr>
        <p:spPr>
          <a:xfrm>
            <a:off x="5295933" y="1199334"/>
            <a:ext cx="6305921" cy="646331"/>
          </a:xfrm>
          <a:prstGeom prst="rect">
            <a:avLst/>
          </a:prstGeom>
          <a:noFill/>
        </p:spPr>
        <p:txBody>
          <a:bodyPr wrap="square" rtlCol="0">
            <a:spAutoFit/>
          </a:bodyPr>
          <a:lstStyle/>
          <a:p>
            <a:pPr algn="ctr"/>
            <a:r>
              <a:rPr lang="en-US" b="1" i="0" dirty="0">
                <a:solidFill>
                  <a:schemeClr val="accent1">
                    <a:lumMod val="50000"/>
                  </a:schemeClr>
                </a:solidFill>
                <a:effectLst/>
                <a:latin typeface="Avenir Book" panose="02000503020000020003" pitchFamily="2" charset="0"/>
              </a:rPr>
              <a:t>Share of population aged 60 and older in China from 1950 to 2020 with forecasts until 2050</a:t>
            </a:r>
            <a:endParaRPr lang="en-HK" dirty="0">
              <a:solidFill>
                <a:schemeClr val="accent1">
                  <a:lumMod val="50000"/>
                </a:schemeClr>
              </a:solidFill>
              <a:latin typeface="Avenir Book" panose="02000503020000020003" pitchFamily="2" charset="0"/>
            </a:endParaRPr>
          </a:p>
        </p:txBody>
      </p:sp>
      <p:pic>
        <p:nvPicPr>
          <p:cNvPr id="35" name="Picture 34">
            <a:extLst>
              <a:ext uri="{FF2B5EF4-FFF2-40B4-BE49-F238E27FC236}">
                <a16:creationId xmlns:a16="http://schemas.microsoft.com/office/drawing/2014/main" id="{B52F0F38-6C3E-67AF-C115-6DC3B04807CF}"/>
              </a:ext>
            </a:extLst>
          </p:cNvPr>
          <p:cNvPicPr>
            <a:picLocks noChangeAspect="1"/>
          </p:cNvPicPr>
          <p:nvPr/>
        </p:nvPicPr>
        <p:blipFill>
          <a:blip r:embed="rId2"/>
          <a:stretch>
            <a:fillRect/>
          </a:stretch>
        </p:blipFill>
        <p:spPr>
          <a:xfrm>
            <a:off x="9891558" y="5483168"/>
            <a:ext cx="1867292" cy="350995"/>
          </a:xfrm>
          <a:prstGeom prst="rect">
            <a:avLst/>
          </a:prstGeom>
        </p:spPr>
      </p:pic>
      <p:sp>
        <p:nvSpPr>
          <p:cNvPr id="36" name="TextBox 35">
            <a:extLst>
              <a:ext uri="{FF2B5EF4-FFF2-40B4-BE49-F238E27FC236}">
                <a16:creationId xmlns:a16="http://schemas.microsoft.com/office/drawing/2014/main" id="{9D141802-F68D-63CD-1A2D-0EF58DBCEA7E}"/>
              </a:ext>
            </a:extLst>
          </p:cNvPr>
          <p:cNvSpPr txBox="1"/>
          <p:nvPr/>
        </p:nvSpPr>
        <p:spPr>
          <a:xfrm>
            <a:off x="513627" y="1224234"/>
            <a:ext cx="4380524" cy="5539978"/>
          </a:xfrm>
          <a:prstGeom prst="rect">
            <a:avLst/>
          </a:prstGeom>
          <a:noFill/>
        </p:spPr>
        <p:txBody>
          <a:bodyPr wrap="square" rtlCol="0">
            <a:spAutoFit/>
          </a:bodyPr>
          <a:lstStyle/>
          <a:p>
            <a:r>
              <a:rPr lang="en-US" dirty="0">
                <a:solidFill>
                  <a:schemeClr val="accent1">
                    <a:lumMod val="50000"/>
                  </a:schemeClr>
                </a:solidFill>
                <a:latin typeface="Avenir Book" panose="02000503020000020003" pitchFamily="2" charset="0"/>
              </a:rPr>
              <a:t>According to the graph, from 2020 to 2080, increase by 20.26 percentiles, increase to 218% of 2020 level</a:t>
            </a:r>
          </a:p>
          <a:p>
            <a:endParaRPr lang="en-US" dirty="0">
              <a:solidFill>
                <a:schemeClr val="accent1">
                  <a:lumMod val="50000"/>
                </a:schemeClr>
              </a:solidFill>
              <a:latin typeface="Avenir Book" panose="02000503020000020003" pitchFamily="2" charset="0"/>
            </a:endParaRPr>
          </a:p>
          <a:p>
            <a:r>
              <a:rPr lang="en-US" dirty="0">
                <a:solidFill>
                  <a:schemeClr val="accent1">
                    <a:lumMod val="50000"/>
                  </a:schemeClr>
                </a:solidFill>
                <a:latin typeface="Avenir Book" panose="02000503020000020003" pitchFamily="2" charset="0"/>
              </a:rPr>
              <a:t>While China is estimated to have 1.31billion of population in 2050, comparing to 1.42 billion in 2020, it shrinks by 7.75%</a:t>
            </a:r>
          </a:p>
          <a:p>
            <a:r>
              <a:rPr lang="en-US" sz="1200" dirty="0">
                <a:solidFill>
                  <a:schemeClr val="bg1">
                    <a:lumMod val="50000"/>
                  </a:schemeClr>
                </a:solidFill>
                <a:latin typeface="Avenir Book" panose="02000503020000020003" pitchFamily="2" charset="0"/>
              </a:rPr>
              <a:t>See appendix reference I</a:t>
            </a:r>
          </a:p>
          <a:p>
            <a:endParaRPr lang="en-US" dirty="0">
              <a:solidFill>
                <a:schemeClr val="accent1">
                  <a:lumMod val="50000"/>
                </a:schemeClr>
              </a:solidFill>
              <a:latin typeface="Avenir Book" panose="02000503020000020003" pitchFamily="2" charset="0"/>
            </a:endParaRPr>
          </a:p>
          <a:p>
            <a:r>
              <a:rPr lang="en-US" dirty="0">
                <a:solidFill>
                  <a:schemeClr val="accent1">
                    <a:lumMod val="50000"/>
                  </a:schemeClr>
                </a:solidFill>
                <a:latin typeface="Avenir Book" panose="02000503020000020003" pitchFamily="2" charset="0"/>
              </a:rPr>
              <a:t>Overall, the elderly market size is estimated to increase to be 201% of 2020 level </a:t>
            </a:r>
          </a:p>
          <a:p>
            <a:r>
              <a:rPr lang="en-US" dirty="0">
                <a:solidFill>
                  <a:schemeClr val="accent1">
                    <a:lumMod val="50000"/>
                  </a:schemeClr>
                </a:solidFill>
                <a:latin typeface="Avenir Book" panose="02000503020000020003" pitchFamily="2" charset="0"/>
              </a:rPr>
              <a:t>(1 x (1-7.75%) x 218%)</a:t>
            </a:r>
          </a:p>
          <a:p>
            <a:endParaRPr lang="en-US" dirty="0">
              <a:solidFill>
                <a:schemeClr val="accent1">
                  <a:lumMod val="50000"/>
                </a:schemeClr>
              </a:solidFill>
              <a:latin typeface="Avenir Book" panose="02000503020000020003" pitchFamily="2" charset="0"/>
            </a:endParaRPr>
          </a:p>
          <a:p>
            <a:r>
              <a:rPr lang="en-US" dirty="0">
                <a:solidFill>
                  <a:schemeClr val="accent1">
                    <a:lumMod val="50000"/>
                  </a:schemeClr>
                </a:solidFill>
                <a:latin typeface="Avenir Book" panose="02000503020000020003" pitchFamily="2" charset="0"/>
              </a:rPr>
              <a:t>In the other words, in 30 years, the market size would increase by 100%, and reaches 610M of TAM</a:t>
            </a:r>
          </a:p>
          <a:p>
            <a:r>
              <a:rPr lang="en-US" sz="1200" dirty="0">
                <a:solidFill>
                  <a:schemeClr val="bg1">
                    <a:lumMod val="50000"/>
                  </a:schemeClr>
                </a:solidFill>
                <a:latin typeface="Avenir Book" panose="02000503020000020003"/>
              </a:rPr>
              <a:t>Assumption: The fraction change in above-60-elderly is similar as the fraction change in above-65-elderly, which is our market size target</a:t>
            </a:r>
            <a:endParaRPr lang="en-HK" sz="1200" dirty="0">
              <a:solidFill>
                <a:schemeClr val="bg1">
                  <a:lumMod val="50000"/>
                </a:schemeClr>
              </a:solidFill>
              <a:latin typeface="Avenir Book" panose="02000503020000020003"/>
            </a:endParaRPr>
          </a:p>
        </p:txBody>
      </p:sp>
      <p:pic>
        <p:nvPicPr>
          <p:cNvPr id="9" name="Picture 8">
            <a:extLst>
              <a:ext uri="{FF2B5EF4-FFF2-40B4-BE49-F238E27FC236}">
                <a16:creationId xmlns:a16="http://schemas.microsoft.com/office/drawing/2014/main" id="{42895465-A61C-5C3E-AC72-3A95BD33A533}"/>
              </a:ext>
            </a:extLst>
          </p:cNvPr>
          <p:cNvPicPr>
            <a:picLocks noChangeAspect="1"/>
          </p:cNvPicPr>
          <p:nvPr/>
        </p:nvPicPr>
        <p:blipFill>
          <a:blip r:embed="rId3"/>
          <a:stretch>
            <a:fillRect/>
          </a:stretch>
        </p:blipFill>
        <p:spPr>
          <a:xfrm>
            <a:off x="5138937" y="1845665"/>
            <a:ext cx="6619914" cy="3558452"/>
          </a:xfrm>
          <a:prstGeom prst="rect">
            <a:avLst/>
          </a:prstGeom>
        </p:spPr>
      </p:pic>
      <p:sp>
        <p:nvSpPr>
          <p:cNvPr id="2" name="Footer Placeholder 11">
            <a:extLst>
              <a:ext uri="{FF2B5EF4-FFF2-40B4-BE49-F238E27FC236}">
                <a16:creationId xmlns:a16="http://schemas.microsoft.com/office/drawing/2014/main" id="{AACA01EE-59A6-B2D4-FB15-A7E3CB160C2B}"/>
              </a:ext>
            </a:extLst>
          </p:cNvPr>
          <p:cNvSpPr>
            <a:spLocks noGrp="1"/>
          </p:cNvSpPr>
          <p:nvPr>
            <p:ph type="ftr" sz="quarter" idx="11"/>
          </p:nvPr>
        </p:nvSpPr>
        <p:spPr>
          <a:xfrm>
            <a:off x="7509912" y="1694674"/>
            <a:ext cx="1877961" cy="381034"/>
          </a:xfrm>
        </p:spPr>
        <p:txBody>
          <a:bodyPr/>
          <a:lstStyle/>
          <a:p>
            <a:r>
              <a:rPr lang="en-US" dirty="0"/>
              <a:t>see appendix reference H</a:t>
            </a:r>
          </a:p>
        </p:txBody>
      </p:sp>
    </p:spTree>
    <p:extLst>
      <p:ext uri="{BB962C8B-B14F-4D97-AF65-F5344CB8AC3E}">
        <p14:creationId xmlns:p14="http://schemas.microsoft.com/office/powerpoint/2010/main" val="1972199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448E16D0-EC49-766C-2239-89AE31852337}"/>
              </a:ext>
            </a:extLst>
          </p:cNvPr>
          <p:cNvGrpSpPr/>
          <p:nvPr/>
        </p:nvGrpSpPr>
        <p:grpSpPr>
          <a:xfrm>
            <a:off x="284018" y="893469"/>
            <a:ext cx="11623962" cy="5715151"/>
            <a:chOff x="284018" y="571348"/>
            <a:chExt cx="11623962" cy="5715151"/>
          </a:xfrm>
        </p:grpSpPr>
        <p:sp>
          <p:nvSpPr>
            <p:cNvPr id="48" name="Freeform 47">
              <a:extLst>
                <a:ext uri="{FF2B5EF4-FFF2-40B4-BE49-F238E27FC236}">
                  <a16:creationId xmlns:a16="http://schemas.microsoft.com/office/drawing/2014/main" id="{A0A8D846-309B-43C8-C387-B55B8C9A43B5}"/>
                </a:ext>
              </a:extLst>
            </p:cNvPr>
            <p:cNvSpPr/>
            <p:nvPr/>
          </p:nvSpPr>
          <p:spPr>
            <a:xfrm>
              <a:off x="4687606" y="2020606"/>
              <a:ext cx="1388937" cy="1388937"/>
            </a:xfrm>
            <a:custGeom>
              <a:avLst/>
              <a:gdLst>
                <a:gd name="connsiteX0" fmla="*/ 1388937 w 1388937"/>
                <a:gd name="connsiteY0" fmla="*/ 0 h 1388937"/>
                <a:gd name="connsiteX1" fmla="*/ 1388937 w 1388937"/>
                <a:gd name="connsiteY1" fmla="*/ 408549 h 1388937"/>
                <a:gd name="connsiteX2" fmla="*/ 1388936 w 1388937"/>
                <a:gd name="connsiteY2" fmla="*/ 408549 h 1388937"/>
                <a:gd name="connsiteX3" fmla="*/ 1388936 w 1388937"/>
                <a:gd name="connsiteY3" fmla="*/ 400798 h 1388937"/>
                <a:gd name="connsiteX4" fmla="*/ 1287906 w 1388937"/>
                <a:gd name="connsiteY4" fmla="*/ 405900 h 1388937"/>
                <a:gd name="connsiteX5" fmla="*/ 400798 w 1388937"/>
                <a:gd name="connsiteY5" fmla="*/ 1388937 h 1388937"/>
                <a:gd name="connsiteX6" fmla="*/ 0 w 1388937"/>
                <a:gd name="connsiteY6" fmla="*/ 1388937 h 1388937"/>
                <a:gd name="connsiteX7" fmla="*/ 7171 w 1388937"/>
                <a:gd name="connsiteY7" fmla="*/ 1246927 h 1388937"/>
                <a:gd name="connsiteX8" fmla="*/ 1246927 w 1388937"/>
                <a:gd name="connsiteY8" fmla="*/ 7171 h 1388937"/>
                <a:gd name="connsiteX9" fmla="*/ 1388937 w 1388937"/>
                <a:gd name="connsiteY9"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8937" h="1388937">
                  <a:moveTo>
                    <a:pt x="1388937" y="0"/>
                  </a:moveTo>
                  <a:lnTo>
                    <a:pt x="1388937" y="408549"/>
                  </a:lnTo>
                  <a:lnTo>
                    <a:pt x="1388936" y="408549"/>
                  </a:lnTo>
                  <a:lnTo>
                    <a:pt x="1388936" y="400798"/>
                  </a:lnTo>
                  <a:lnTo>
                    <a:pt x="1287906" y="405900"/>
                  </a:lnTo>
                  <a:cubicBezTo>
                    <a:pt x="789631" y="456502"/>
                    <a:pt x="400798" y="877312"/>
                    <a:pt x="400798" y="1388937"/>
                  </a:cubicBezTo>
                  <a:lnTo>
                    <a:pt x="0" y="1388937"/>
                  </a:lnTo>
                  <a:lnTo>
                    <a:pt x="7171" y="1246927"/>
                  </a:lnTo>
                  <a:cubicBezTo>
                    <a:pt x="73557" y="593239"/>
                    <a:pt x="593239" y="73557"/>
                    <a:pt x="1246927" y="7171"/>
                  </a:cubicBezTo>
                  <a:lnTo>
                    <a:pt x="1388937" y="0"/>
                  </a:lnTo>
                  <a:close/>
                </a:path>
              </a:pathLst>
            </a:cu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45" name="Freeform 44">
              <a:extLst>
                <a:ext uri="{FF2B5EF4-FFF2-40B4-BE49-F238E27FC236}">
                  <a16:creationId xmlns:a16="http://schemas.microsoft.com/office/drawing/2014/main" id="{7E26E4A6-2CB2-7439-03F2-7065DEED7E12}"/>
                </a:ext>
              </a:extLst>
            </p:cNvPr>
            <p:cNvSpPr/>
            <p:nvPr/>
          </p:nvSpPr>
          <p:spPr>
            <a:xfrm>
              <a:off x="6115456" y="3448456"/>
              <a:ext cx="1388939" cy="1388938"/>
            </a:xfrm>
            <a:custGeom>
              <a:avLst/>
              <a:gdLst>
                <a:gd name="connsiteX0" fmla="*/ 988138 w 1388939"/>
                <a:gd name="connsiteY0" fmla="*/ 0 h 1388938"/>
                <a:gd name="connsiteX1" fmla="*/ 1388939 w 1388939"/>
                <a:gd name="connsiteY1" fmla="*/ 0 h 1388938"/>
                <a:gd name="connsiteX2" fmla="*/ 1 w 1388939"/>
                <a:gd name="connsiteY2" fmla="*/ 1388938 h 1388938"/>
                <a:gd name="connsiteX3" fmla="*/ 0 w 1388939"/>
                <a:gd name="connsiteY3" fmla="*/ 1388938 h 1388938"/>
                <a:gd name="connsiteX4" fmla="*/ 0 w 1388939"/>
                <a:gd name="connsiteY4" fmla="*/ 988138 h 1388938"/>
                <a:gd name="connsiteX5" fmla="*/ 101030 w 1388939"/>
                <a:gd name="connsiteY5" fmla="*/ 983036 h 1388938"/>
                <a:gd name="connsiteX6" fmla="*/ 983650 w 1388939"/>
                <a:gd name="connsiteY6" fmla="*/ 94796 h 1388938"/>
                <a:gd name="connsiteX7" fmla="*/ 988138 w 1388939"/>
                <a:gd name="connsiteY7" fmla="*/ 0 h 138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939" h="1388938">
                  <a:moveTo>
                    <a:pt x="988138" y="0"/>
                  </a:moveTo>
                  <a:lnTo>
                    <a:pt x="1388939" y="0"/>
                  </a:lnTo>
                  <a:cubicBezTo>
                    <a:pt x="1388939" y="767089"/>
                    <a:pt x="767090" y="1388938"/>
                    <a:pt x="1" y="1388938"/>
                  </a:cubicBezTo>
                  <a:lnTo>
                    <a:pt x="0" y="1388938"/>
                  </a:lnTo>
                  <a:lnTo>
                    <a:pt x="0" y="988138"/>
                  </a:lnTo>
                  <a:lnTo>
                    <a:pt x="101030" y="983036"/>
                  </a:lnTo>
                  <a:cubicBezTo>
                    <a:pt x="568164" y="935597"/>
                    <a:pt x="939107" y="562780"/>
                    <a:pt x="983650" y="94796"/>
                  </a:cubicBezTo>
                  <a:lnTo>
                    <a:pt x="988138" y="0"/>
                  </a:ln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40" name="Freeform 39">
              <a:extLst>
                <a:ext uri="{FF2B5EF4-FFF2-40B4-BE49-F238E27FC236}">
                  <a16:creationId xmlns:a16="http://schemas.microsoft.com/office/drawing/2014/main" id="{C21A835A-1A28-0F4E-7E90-3EFD07C5C156}"/>
                </a:ext>
              </a:extLst>
            </p:cNvPr>
            <p:cNvSpPr/>
            <p:nvPr/>
          </p:nvSpPr>
          <p:spPr>
            <a:xfrm>
              <a:off x="4688179" y="3448456"/>
              <a:ext cx="1388365" cy="1377603"/>
            </a:xfrm>
            <a:custGeom>
              <a:avLst/>
              <a:gdLst>
                <a:gd name="connsiteX0" fmla="*/ 0 w 1388365"/>
                <a:gd name="connsiteY0" fmla="*/ 0 h 1377603"/>
                <a:gd name="connsiteX1" fmla="*/ 400225 w 1388365"/>
                <a:gd name="connsiteY1" fmla="*/ 0 h 1377603"/>
                <a:gd name="connsiteX2" fmla="*/ 405327 w 1388365"/>
                <a:gd name="connsiteY2" fmla="*/ 101030 h 1377603"/>
                <a:gd name="connsiteX3" fmla="*/ 1388364 w 1388365"/>
                <a:gd name="connsiteY3" fmla="*/ 988138 h 1377603"/>
                <a:gd name="connsiteX4" fmla="*/ 1388365 w 1388365"/>
                <a:gd name="connsiteY4" fmla="*/ 988138 h 1377603"/>
                <a:gd name="connsiteX5" fmla="*/ 1388365 w 1388365"/>
                <a:gd name="connsiteY5" fmla="*/ 1377603 h 1377603"/>
                <a:gd name="connsiteX6" fmla="*/ 6598 w 1388365"/>
                <a:gd name="connsiteY6" fmla="*/ 130676 h 1377603"/>
                <a:gd name="connsiteX7" fmla="*/ 0 w 1388365"/>
                <a:gd name="connsiteY7" fmla="*/ 0 h 137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365" h="1377603">
                  <a:moveTo>
                    <a:pt x="0" y="0"/>
                  </a:moveTo>
                  <a:lnTo>
                    <a:pt x="400225" y="0"/>
                  </a:lnTo>
                  <a:lnTo>
                    <a:pt x="405327" y="101030"/>
                  </a:lnTo>
                  <a:cubicBezTo>
                    <a:pt x="455930" y="599306"/>
                    <a:pt x="876739" y="988138"/>
                    <a:pt x="1388364" y="988138"/>
                  </a:cubicBezTo>
                  <a:lnTo>
                    <a:pt x="1388365" y="988138"/>
                  </a:lnTo>
                  <a:lnTo>
                    <a:pt x="1388365" y="1377603"/>
                  </a:lnTo>
                  <a:cubicBezTo>
                    <a:pt x="669219" y="1377603"/>
                    <a:pt x="77726" y="831056"/>
                    <a:pt x="6598" y="130676"/>
                  </a:cubicBezTo>
                  <a:lnTo>
                    <a:pt x="0" y="0"/>
                  </a:lnTo>
                  <a:close/>
                </a:path>
              </a:pathLst>
            </a:cu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33" name="Freeform 32">
              <a:extLst>
                <a:ext uri="{FF2B5EF4-FFF2-40B4-BE49-F238E27FC236}">
                  <a16:creationId xmlns:a16="http://schemas.microsoft.com/office/drawing/2014/main" id="{1387C1B7-E226-C4B3-E95B-AD74A6600E9B}"/>
                </a:ext>
              </a:extLst>
            </p:cNvPr>
            <p:cNvSpPr/>
            <p:nvPr/>
          </p:nvSpPr>
          <p:spPr>
            <a:xfrm>
              <a:off x="6115455" y="2020606"/>
              <a:ext cx="1388939" cy="1388937"/>
            </a:xfrm>
            <a:custGeom>
              <a:avLst/>
              <a:gdLst>
                <a:gd name="connsiteX0" fmla="*/ 0 w 1388939"/>
                <a:gd name="connsiteY0" fmla="*/ 0 h 1388937"/>
                <a:gd name="connsiteX1" fmla="*/ 1 w 1388939"/>
                <a:gd name="connsiteY1" fmla="*/ 0 h 1388937"/>
                <a:gd name="connsiteX2" fmla="*/ 1381768 w 1388939"/>
                <a:gd name="connsiteY2" fmla="*/ 1246927 h 1388937"/>
                <a:gd name="connsiteX3" fmla="*/ 1388939 w 1388939"/>
                <a:gd name="connsiteY3" fmla="*/ 1388937 h 1388937"/>
                <a:gd name="connsiteX4" fmla="*/ 988140 w 1388939"/>
                <a:gd name="connsiteY4" fmla="*/ 1388937 h 1388937"/>
                <a:gd name="connsiteX5" fmla="*/ 983038 w 1388939"/>
                <a:gd name="connsiteY5" fmla="*/ 1287907 h 1388937"/>
                <a:gd name="connsiteX6" fmla="*/ 1 w 1388939"/>
                <a:gd name="connsiteY6" fmla="*/ 400799 h 1388937"/>
                <a:gd name="connsiteX7" fmla="*/ 0 w 1388939"/>
                <a:gd name="connsiteY7" fmla="*/ 400799 h 1388937"/>
                <a:gd name="connsiteX8" fmla="*/ 0 w 1388939"/>
                <a:gd name="connsiteY8"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939" h="1388937">
                  <a:moveTo>
                    <a:pt x="0" y="0"/>
                  </a:moveTo>
                  <a:lnTo>
                    <a:pt x="1" y="0"/>
                  </a:lnTo>
                  <a:cubicBezTo>
                    <a:pt x="719147" y="0"/>
                    <a:pt x="1310641" y="546547"/>
                    <a:pt x="1381768" y="1246927"/>
                  </a:cubicBezTo>
                  <a:lnTo>
                    <a:pt x="1388939" y="1388937"/>
                  </a:lnTo>
                  <a:lnTo>
                    <a:pt x="988140" y="1388937"/>
                  </a:lnTo>
                  <a:lnTo>
                    <a:pt x="983038" y="1287907"/>
                  </a:lnTo>
                  <a:cubicBezTo>
                    <a:pt x="932436" y="789632"/>
                    <a:pt x="511627" y="400799"/>
                    <a:pt x="1" y="400799"/>
                  </a:cubicBezTo>
                  <a:lnTo>
                    <a:pt x="0" y="400799"/>
                  </a:lnTo>
                  <a:lnTo>
                    <a:pt x="0" y="0"/>
                  </a:lnTo>
                  <a:close/>
                </a:path>
              </a:pathLst>
            </a:cu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49" name="Snip Single Corner of Rectangle 48">
              <a:extLst>
                <a:ext uri="{FF2B5EF4-FFF2-40B4-BE49-F238E27FC236}">
                  <a16:creationId xmlns:a16="http://schemas.microsoft.com/office/drawing/2014/main" id="{D24F1E26-A4BB-49CA-8D8E-A280CC338409}"/>
                </a:ext>
              </a:extLst>
            </p:cNvPr>
            <p:cNvSpPr/>
            <p:nvPr/>
          </p:nvSpPr>
          <p:spPr>
            <a:xfrm>
              <a:off x="284018" y="571348"/>
              <a:ext cx="5782134" cy="2827652"/>
            </a:xfrm>
            <a:prstGeom prst="snip1Rect">
              <a:avLst/>
            </a:prstGeom>
            <a:noFill/>
            <a:ln w="2857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0" name="Snip Single Corner of Rectangle 49">
              <a:extLst>
                <a:ext uri="{FF2B5EF4-FFF2-40B4-BE49-F238E27FC236}">
                  <a16:creationId xmlns:a16="http://schemas.microsoft.com/office/drawing/2014/main" id="{873FEBFE-1D8C-8848-B954-9B373B3C9CC0}"/>
                </a:ext>
              </a:extLst>
            </p:cNvPr>
            <p:cNvSpPr/>
            <p:nvPr/>
          </p:nvSpPr>
          <p:spPr>
            <a:xfrm flipH="1">
              <a:off x="6125846" y="571500"/>
              <a:ext cx="5782134" cy="2827652"/>
            </a:xfrm>
            <a:prstGeom prst="snip1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1" name="Snip Single Corner of Rectangle 50">
              <a:extLst>
                <a:ext uri="{FF2B5EF4-FFF2-40B4-BE49-F238E27FC236}">
                  <a16:creationId xmlns:a16="http://schemas.microsoft.com/office/drawing/2014/main" id="{31731352-F7E1-D3C2-17E8-DC4979A77EFC}"/>
                </a:ext>
              </a:extLst>
            </p:cNvPr>
            <p:cNvSpPr/>
            <p:nvPr/>
          </p:nvSpPr>
          <p:spPr>
            <a:xfrm flipV="1">
              <a:off x="284018" y="3458847"/>
              <a:ext cx="5782134" cy="2827652"/>
            </a:xfrm>
            <a:prstGeom prst="snip1Rect">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2" name="Snip Single Corner of Rectangle 51">
              <a:extLst>
                <a:ext uri="{FF2B5EF4-FFF2-40B4-BE49-F238E27FC236}">
                  <a16:creationId xmlns:a16="http://schemas.microsoft.com/office/drawing/2014/main" id="{EB96CA72-46BF-4D53-AF38-E499B4BCBBC5}"/>
                </a:ext>
              </a:extLst>
            </p:cNvPr>
            <p:cNvSpPr/>
            <p:nvPr/>
          </p:nvSpPr>
          <p:spPr>
            <a:xfrm flipH="1" flipV="1">
              <a:off x="6125846" y="3458847"/>
              <a:ext cx="5782134" cy="2827652"/>
            </a:xfrm>
            <a:prstGeom prst="snip1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4" name="Oval 53">
              <a:extLst>
                <a:ext uri="{FF2B5EF4-FFF2-40B4-BE49-F238E27FC236}">
                  <a16:creationId xmlns:a16="http://schemas.microsoft.com/office/drawing/2014/main" id="{1AFFEAD6-BDE6-543A-C0F8-6C323213AB28}"/>
                </a:ext>
              </a:extLst>
            </p:cNvPr>
            <p:cNvSpPr/>
            <p:nvPr/>
          </p:nvSpPr>
          <p:spPr>
            <a:xfrm>
              <a:off x="5046517" y="2389909"/>
              <a:ext cx="2078182" cy="20781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grpSp>
          <p:nvGrpSpPr>
            <p:cNvPr id="53" name="Group 52">
              <a:extLst>
                <a:ext uri="{FF2B5EF4-FFF2-40B4-BE49-F238E27FC236}">
                  <a16:creationId xmlns:a16="http://schemas.microsoft.com/office/drawing/2014/main" id="{7153B676-682C-8DAE-00C2-645E2EABB533}"/>
                </a:ext>
              </a:extLst>
            </p:cNvPr>
            <p:cNvGrpSpPr/>
            <p:nvPr/>
          </p:nvGrpSpPr>
          <p:grpSpPr>
            <a:xfrm>
              <a:off x="5289479" y="2622479"/>
              <a:ext cx="1613042" cy="1613042"/>
              <a:chOff x="5289479" y="2622479"/>
              <a:chExt cx="1613042" cy="1613042"/>
            </a:xfrm>
          </p:grpSpPr>
          <p:sp>
            <p:nvSpPr>
              <p:cNvPr id="3" name="Oval 2">
                <a:extLst>
                  <a:ext uri="{FF2B5EF4-FFF2-40B4-BE49-F238E27FC236}">
                    <a16:creationId xmlns:a16="http://schemas.microsoft.com/office/drawing/2014/main" id="{FD0768B3-4649-4373-59BA-B81174389ACD}"/>
                  </a:ext>
                </a:extLst>
              </p:cNvPr>
              <p:cNvSpPr/>
              <p:nvPr/>
            </p:nvSpPr>
            <p:spPr>
              <a:xfrm>
                <a:off x="5289479" y="2622479"/>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pic>
            <p:nvPicPr>
              <p:cNvPr id="23" name="Picture 22" descr="A person and person smiling&#10;&#10;Description automatically generated">
                <a:extLst>
                  <a:ext uri="{FF2B5EF4-FFF2-40B4-BE49-F238E27FC236}">
                    <a16:creationId xmlns:a16="http://schemas.microsoft.com/office/drawing/2014/main" id="{9D7F1865-4B48-96FC-C87B-FA3D354F7325}"/>
                  </a:ext>
                </a:extLst>
              </p:cNvPr>
              <p:cNvPicPr>
                <a:picLocks noChangeAspect="1"/>
              </p:cNvPicPr>
              <p:nvPr/>
            </p:nvPicPr>
            <p:blipFill>
              <a:blip r:embed="rId2"/>
              <a:stretch>
                <a:fillRect/>
              </a:stretch>
            </p:blipFill>
            <p:spPr>
              <a:xfrm>
                <a:off x="5572390" y="2905392"/>
                <a:ext cx="1047216" cy="1047216"/>
              </a:xfrm>
              <a:prstGeom prst="rect">
                <a:avLst/>
              </a:prstGeom>
            </p:spPr>
          </p:pic>
        </p:grpSp>
      </p:grpSp>
      <p:sp>
        <p:nvSpPr>
          <p:cNvPr id="2" name="Rectangle 1">
            <a:extLst>
              <a:ext uri="{FF2B5EF4-FFF2-40B4-BE49-F238E27FC236}">
                <a16:creationId xmlns:a16="http://schemas.microsoft.com/office/drawing/2014/main" id="{C9C7EABB-73F4-F7B3-C017-71482CBCAA50}"/>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Avenir Book" panose="02000503020000020003"/>
            </a:endParaRPr>
          </a:p>
        </p:txBody>
      </p:sp>
      <p:sp>
        <p:nvSpPr>
          <p:cNvPr id="4" name="Title 6">
            <a:extLst>
              <a:ext uri="{FF2B5EF4-FFF2-40B4-BE49-F238E27FC236}">
                <a16:creationId xmlns:a16="http://schemas.microsoft.com/office/drawing/2014/main" id="{51B405AE-7A06-DB7F-0362-771DE5FC0E8C}"/>
              </a:ext>
            </a:extLst>
          </p:cNvPr>
          <p:cNvSpPr txBox="1">
            <a:spLocks/>
          </p:cNvSpPr>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HK" altLang="zh-TW" sz="2000" b="1" dirty="0">
                <a:latin typeface="Avenir Book" panose="02000503020000020003" pitchFamily="2" charset="0"/>
                <a:ea typeface="+mn-ea"/>
                <a:cs typeface="Calibri"/>
              </a:rPr>
              <a:t>Empathy Map</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dementia</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patients</a:t>
            </a:r>
            <a:endParaRPr lang="en-US" sz="1800" dirty="0">
              <a:latin typeface="Avenir Book" panose="02000503020000020003" pitchFamily="2" charset="0"/>
              <a:ea typeface="+mn-ea"/>
              <a:cs typeface="+mn-cs"/>
            </a:endParaRPr>
          </a:p>
        </p:txBody>
      </p:sp>
      <p:grpSp>
        <p:nvGrpSpPr>
          <p:cNvPr id="61" name="Group 60">
            <a:extLst>
              <a:ext uri="{FF2B5EF4-FFF2-40B4-BE49-F238E27FC236}">
                <a16:creationId xmlns:a16="http://schemas.microsoft.com/office/drawing/2014/main" id="{7393009D-028E-CEE4-194B-420CBE9E6142}"/>
              </a:ext>
            </a:extLst>
          </p:cNvPr>
          <p:cNvGrpSpPr/>
          <p:nvPr/>
        </p:nvGrpSpPr>
        <p:grpSpPr>
          <a:xfrm>
            <a:off x="4918217" y="2632160"/>
            <a:ext cx="2347734" cy="2331014"/>
            <a:chOff x="4918217" y="2632160"/>
            <a:chExt cx="2347734" cy="2331014"/>
          </a:xfrm>
        </p:grpSpPr>
        <p:sp>
          <p:nvSpPr>
            <p:cNvPr id="57" name="TextBox 56">
              <a:extLst>
                <a:ext uri="{FF2B5EF4-FFF2-40B4-BE49-F238E27FC236}">
                  <a16:creationId xmlns:a16="http://schemas.microsoft.com/office/drawing/2014/main" id="{4B1F23A2-8286-CFD0-100E-CC6D002C87E3}"/>
                </a:ext>
              </a:extLst>
            </p:cNvPr>
            <p:cNvSpPr txBox="1"/>
            <p:nvPr/>
          </p:nvSpPr>
          <p:spPr>
            <a:xfrm rot="18947048">
              <a:off x="4980352" y="2632160"/>
              <a:ext cx="2219445" cy="2219486"/>
            </a:xfrm>
            <a:prstGeom prst="rect">
              <a:avLst/>
            </a:prstGeom>
            <a:noFill/>
          </p:spPr>
          <p:txBody>
            <a:bodyPr wrap="square" rtlCol="0">
              <a:prstTxWarp prst="textArchUp">
                <a:avLst>
                  <a:gd name="adj" fmla="val 10612246"/>
                </a:avLst>
              </a:prstTxWarp>
              <a:spAutoFit/>
            </a:bodyPr>
            <a:lstStyle/>
            <a:p>
              <a:pPr algn="ctr"/>
              <a:r>
                <a:rPr lang="en-US" b="1" dirty="0">
                  <a:solidFill>
                    <a:schemeClr val="bg1"/>
                  </a:solidFill>
                  <a:latin typeface="Avenir Book" panose="02000503020000020003" pitchFamily="2" charset="0"/>
                </a:rPr>
                <a:t>SAYS</a:t>
              </a:r>
            </a:p>
          </p:txBody>
        </p:sp>
        <p:sp>
          <p:nvSpPr>
            <p:cNvPr id="58" name="TextBox 57">
              <a:extLst>
                <a:ext uri="{FF2B5EF4-FFF2-40B4-BE49-F238E27FC236}">
                  <a16:creationId xmlns:a16="http://schemas.microsoft.com/office/drawing/2014/main" id="{D4C65915-39F0-F375-F0C3-814832FE7C2A}"/>
                </a:ext>
              </a:extLst>
            </p:cNvPr>
            <p:cNvSpPr txBox="1"/>
            <p:nvPr/>
          </p:nvSpPr>
          <p:spPr>
            <a:xfrm rot="2693132">
              <a:off x="4975886" y="2641226"/>
              <a:ext cx="2219445" cy="2219486"/>
            </a:xfrm>
            <a:prstGeom prst="rect">
              <a:avLst/>
            </a:prstGeom>
            <a:noFill/>
          </p:spPr>
          <p:txBody>
            <a:bodyPr wrap="square" rtlCol="0">
              <a:prstTxWarp prst="textArchUp">
                <a:avLst>
                  <a:gd name="adj" fmla="val 10612246"/>
                </a:avLst>
              </a:prstTxWarp>
              <a:spAutoFit/>
            </a:bodyPr>
            <a:lstStyle/>
            <a:p>
              <a:pPr algn="ctr"/>
              <a:r>
                <a:rPr lang="en-US" altLang="zh-TW" b="1" dirty="0">
                  <a:solidFill>
                    <a:schemeClr val="bg1"/>
                  </a:solidFill>
                  <a:latin typeface="Avenir Book" panose="02000503020000020003" pitchFamily="2" charset="0"/>
                </a:rPr>
                <a:t>THINKS</a:t>
              </a:r>
              <a:endParaRPr lang="en-US" b="1" dirty="0">
                <a:solidFill>
                  <a:schemeClr val="bg1"/>
                </a:solidFill>
                <a:latin typeface="Avenir Book" panose="02000503020000020003" pitchFamily="2" charset="0"/>
              </a:endParaRPr>
            </a:p>
          </p:txBody>
        </p:sp>
        <p:sp>
          <p:nvSpPr>
            <p:cNvPr id="59" name="TextBox 58">
              <a:extLst>
                <a:ext uri="{FF2B5EF4-FFF2-40B4-BE49-F238E27FC236}">
                  <a16:creationId xmlns:a16="http://schemas.microsoft.com/office/drawing/2014/main" id="{AF1824A0-57E1-A482-0058-31207791DBCF}"/>
                </a:ext>
              </a:extLst>
            </p:cNvPr>
            <p:cNvSpPr txBox="1"/>
            <p:nvPr/>
          </p:nvSpPr>
          <p:spPr>
            <a:xfrm rot="18908179">
              <a:off x="5046506" y="2712783"/>
              <a:ext cx="2219445" cy="2219486"/>
            </a:xfrm>
            <a:prstGeom prst="rect">
              <a:avLst/>
            </a:prstGeom>
            <a:noFill/>
          </p:spPr>
          <p:txBody>
            <a:bodyPr wrap="square" rtlCol="0">
              <a:prstTxWarp prst="textArchDown">
                <a:avLst/>
              </a:prstTxWarp>
              <a:spAutoFit/>
            </a:bodyPr>
            <a:lstStyle/>
            <a:p>
              <a:pPr algn="ctr"/>
              <a:r>
                <a:rPr lang="en-US" altLang="zh-TW" b="1" dirty="0">
                  <a:solidFill>
                    <a:schemeClr val="bg1"/>
                  </a:solidFill>
                  <a:latin typeface="Avenir Book" panose="02000503020000020003" pitchFamily="2" charset="0"/>
                </a:rPr>
                <a:t>FEELS</a:t>
              </a:r>
              <a:endParaRPr lang="en-US" b="1" dirty="0">
                <a:solidFill>
                  <a:schemeClr val="bg1"/>
                </a:solidFill>
                <a:latin typeface="Avenir Book" panose="02000503020000020003" pitchFamily="2" charset="0"/>
              </a:endParaRPr>
            </a:p>
          </p:txBody>
        </p:sp>
        <p:sp>
          <p:nvSpPr>
            <p:cNvPr id="60" name="TextBox 59">
              <a:extLst>
                <a:ext uri="{FF2B5EF4-FFF2-40B4-BE49-F238E27FC236}">
                  <a16:creationId xmlns:a16="http://schemas.microsoft.com/office/drawing/2014/main" id="{FF68DF63-84F5-41B0-D1C8-BF9790B9F1BD}"/>
                </a:ext>
              </a:extLst>
            </p:cNvPr>
            <p:cNvSpPr txBox="1"/>
            <p:nvPr/>
          </p:nvSpPr>
          <p:spPr>
            <a:xfrm rot="2705445">
              <a:off x="4918237" y="2743709"/>
              <a:ext cx="2219445" cy="2219486"/>
            </a:xfrm>
            <a:prstGeom prst="rect">
              <a:avLst/>
            </a:prstGeom>
            <a:noFill/>
          </p:spPr>
          <p:txBody>
            <a:bodyPr wrap="square" rtlCol="0">
              <a:prstTxWarp prst="textArchDown">
                <a:avLst/>
              </a:prstTxWarp>
              <a:spAutoFit/>
            </a:bodyPr>
            <a:lstStyle/>
            <a:p>
              <a:pPr algn="ctr"/>
              <a:r>
                <a:rPr lang="en-US" altLang="zh-TW" b="1" dirty="0">
                  <a:solidFill>
                    <a:schemeClr val="bg1"/>
                  </a:solidFill>
                  <a:latin typeface="Avenir Book" panose="02000503020000020003" pitchFamily="2" charset="0"/>
                </a:rPr>
                <a:t>DOES</a:t>
              </a:r>
              <a:endParaRPr lang="en-US" b="1" dirty="0">
                <a:solidFill>
                  <a:schemeClr val="bg1"/>
                </a:solidFill>
                <a:latin typeface="Avenir Book" panose="02000503020000020003" pitchFamily="2" charset="0"/>
              </a:endParaRPr>
            </a:p>
          </p:txBody>
        </p:sp>
      </p:grpSp>
      <p:sp>
        <p:nvSpPr>
          <p:cNvPr id="8" name="Rounded Rectangle 7">
            <a:extLst>
              <a:ext uri="{FF2B5EF4-FFF2-40B4-BE49-F238E27FC236}">
                <a16:creationId xmlns:a16="http://schemas.microsoft.com/office/drawing/2014/main" id="{503D9C81-B5D7-1363-88DF-78C0B314B43B}"/>
              </a:ext>
            </a:extLst>
          </p:cNvPr>
          <p:cNvSpPr/>
          <p:nvPr/>
        </p:nvSpPr>
        <p:spPr>
          <a:xfrm>
            <a:off x="691315" y="1444458"/>
            <a:ext cx="2013967" cy="1984542"/>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ea typeface="+mn-lt"/>
                <a:cs typeface="+mn-lt"/>
              </a:rPr>
              <a:t>The "certainty" in my life is diminishing, and I need to keep checking in. </a:t>
            </a:r>
            <a:r>
              <a:rPr lang="en-US" baseline="30000" dirty="0">
                <a:solidFill>
                  <a:schemeClr val="accent1">
                    <a:lumMod val="50000"/>
                  </a:schemeClr>
                </a:solidFill>
                <a:latin typeface="Avenir Book" panose="02000503020000020003" pitchFamily="2" charset="0"/>
                <a:ea typeface="+mn-lt"/>
                <a:cs typeface="+mn-lt"/>
              </a:rPr>
              <a:t>1,2</a:t>
            </a:r>
            <a:endParaRPr lang="en-US" dirty="0">
              <a:solidFill>
                <a:schemeClr val="accent1">
                  <a:lumMod val="50000"/>
                </a:schemeClr>
              </a:solidFill>
              <a:latin typeface="Avenir Book" panose="02000503020000020003" pitchFamily="2" charset="0"/>
            </a:endParaRPr>
          </a:p>
        </p:txBody>
      </p:sp>
      <p:sp>
        <p:nvSpPr>
          <p:cNvPr id="9" name="Rounded Rectangle 8">
            <a:extLst>
              <a:ext uri="{FF2B5EF4-FFF2-40B4-BE49-F238E27FC236}">
                <a16:creationId xmlns:a16="http://schemas.microsoft.com/office/drawing/2014/main" id="{47A8E7C7-3C1C-A4B1-406A-D0FDA14C2E9E}"/>
              </a:ext>
            </a:extLst>
          </p:cNvPr>
          <p:cNvSpPr/>
          <p:nvPr/>
        </p:nvSpPr>
        <p:spPr>
          <a:xfrm>
            <a:off x="2904284" y="1072706"/>
            <a:ext cx="2013966" cy="1853302"/>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ea typeface="+mn-lt"/>
                <a:cs typeface="+mn-lt"/>
              </a:rPr>
              <a:t>I felt like I couldn't do anything. Gradually, I shut myself up in my own world.  </a:t>
            </a:r>
            <a:r>
              <a:rPr lang="en-US" baseline="30000" dirty="0">
                <a:solidFill>
                  <a:schemeClr val="accent1">
                    <a:lumMod val="50000"/>
                  </a:schemeClr>
                </a:solidFill>
                <a:latin typeface="Avenir Book" panose="02000503020000020003" pitchFamily="2" charset="0"/>
                <a:ea typeface="+mn-lt"/>
                <a:cs typeface="+mn-lt"/>
              </a:rPr>
              <a:t>1,2</a:t>
            </a:r>
            <a:endParaRPr lang="en-US" dirty="0">
              <a:solidFill>
                <a:schemeClr val="accent1">
                  <a:lumMod val="50000"/>
                </a:schemeClr>
              </a:solidFill>
              <a:latin typeface="Avenir Book" panose="02000503020000020003" pitchFamily="2" charset="0"/>
              <a:cs typeface="Calibri"/>
            </a:endParaRPr>
          </a:p>
        </p:txBody>
      </p:sp>
      <p:sp>
        <p:nvSpPr>
          <p:cNvPr id="10" name="Rounded Rectangle 9">
            <a:extLst>
              <a:ext uri="{FF2B5EF4-FFF2-40B4-BE49-F238E27FC236}">
                <a16:creationId xmlns:a16="http://schemas.microsoft.com/office/drawing/2014/main" id="{E8182BCE-292B-9BF3-CBD3-8B8850357CF3}"/>
              </a:ext>
            </a:extLst>
          </p:cNvPr>
          <p:cNvSpPr/>
          <p:nvPr/>
        </p:nvSpPr>
        <p:spPr>
          <a:xfrm>
            <a:off x="6902521" y="1210318"/>
            <a:ext cx="1512416" cy="824499"/>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What am I doing now?</a:t>
            </a:r>
            <a:endParaRPr lang="en-US" dirty="0">
              <a:solidFill>
                <a:schemeClr val="accent1">
                  <a:lumMod val="50000"/>
                </a:schemeClr>
              </a:solidFill>
              <a:latin typeface="Avenir Book" panose="02000503020000020003" pitchFamily="2" charset="0"/>
            </a:endParaRPr>
          </a:p>
        </p:txBody>
      </p:sp>
      <p:sp>
        <p:nvSpPr>
          <p:cNvPr id="11" name="Rounded Rectangle 10">
            <a:extLst>
              <a:ext uri="{FF2B5EF4-FFF2-40B4-BE49-F238E27FC236}">
                <a16:creationId xmlns:a16="http://schemas.microsoft.com/office/drawing/2014/main" id="{BB5980A3-29CF-32F1-9D46-AD6308F1FA9B}"/>
              </a:ext>
            </a:extLst>
          </p:cNvPr>
          <p:cNvSpPr/>
          <p:nvPr/>
        </p:nvSpPr>
        <p:spPr>
          <a:xfrm>
            <a:off x="8686418" y="1362421"/>
            <a:ext cx="2067219" cy="824499"/>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What am I supposed to do?</a:t>
            </a:r>
            <a:endParaRPr lang="en-US" dirty="0">
              <a:solidFill>
                <a:schemeClr val="accent1">
                  <a:lumMod val="50000"/>
                </a:schemeClr>
              </a:solidFill>
              <a:latin typeface="Avenir Book" panose="02000503020000020003" pitchFamily="2" charset="0"/>
            </a:endParaRPr>
          </a:p>
        </p:txBody>
      </p:sp>
      <p:sp>
        <p:nvSpPr>
          <p:cNvPr id="12" name="Rounded Rectangle 11">
            <a:extLst>
              <a:ext uri="{FF2B5EF4-FFF2-40B4-BE49-F238E27FC236}">
                <a16:creationId xmlns:a16="http://schemas.microsoft.com/office/drawing/2014/main" id="{404B4455-6861-A31C-62B6-77B0FE063654}"/>
              </a:ext>
            </a:extLst>
          </p:cNvPr>
          <p:cNvSpPr/>
          <p:nvPr/>
        </p:nvSpPr>
        <p:spPr>
          <a:xfrm>
            <a:off x="7533151" y="2478678"/>
            <a:ext cx="1753280" cy="612032"/>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ea typeface="+mn-lt"/>
                <a:cs typeface="+mn-lt"/>
              </a:rPr>
              <a:t>Where am I?</a:t>
            </a:r>
            <a:endParaRPr lang="en-US" dirty="0">
              <a:solidFill>
                <a:schemeClr val="accent1">
                  <a:lumMod val="50000"/>
                </a:schemeClr>
              </a:solidFill>
              <a:latin typeface="Avenir Book" panose="02000503020000020003" pitchFamily="2" charset="0"/>
            </a:endParaRPr>
          </a:p>
        </p:txBody>
      </p:sp>
      <p:sp>
        <p:nvSpPr>
          <p:cNvPr id="13" name="Rounded Rectangle 12">
            <a:extLst>
              <a:ext uri="{FF2B5EF4-FFF2-40B4-BE49-F238E27FC236}">
                <a16:creationId xmlns:a16="http://schemas.microsoft.com/office/drawing/2014/main" id="{76AD2C57-18DA-2E9D-73DF-7FDAA5A302A0}"/>
              </a:ext>
            </a:extLst>
          </p:cNvPr>
          <p:cNvSpPr/>
          <p:nvPr/>
        </p:nvSpPr>
        <p:spPr>
          <a:xfrm>
            <a:off x="9674433" y="2546621"/>
            <a:ext cx="1589313" cy="824499"/>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panose="020F0502020204030204"/>
              </a:rPr>
              <a:t>Where should I go?</a:t>
            </a:r>
          </a:p>
        </p:txBody>
      </p:sp>
      <p:sp>
        <p:nvSpPr>
          <p:cNvPr id="14" name="Rounded Rectangle 13">
            <a:extLst>
              <a:ext uri="{FF2B5EF4-FFF2-40B4-BE49-F238E27FC236}">
                <a16:creationId xmlns:a16="http://schemas.microsoft.com/office/drawing/2014/main" id="{186B86B7-61AB-44D2-5352-7DB91EE721C4}"/>
              </a:ext>
            </a:extLst>
          </p:cNvPr>
          <p:cNvSpPr/>
          <p:nvPr/>
        </p:nvSpPr>
        <p:spPr>
          <a:xfrm>
            <a:off x="6525702" y="5624491"/>
            <a:ext cx="2602535" cy="879972"/>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I couldn't </a:t>
            </a:r>
            <a:r>
              <a:rPr lang="en-US" dirty="0">
                <a:solidFill>
                  <a:schemeClr val="accent1">
                    <a:lumMod val="50000"/>
                  </a:schemeClr>
                </a:solidFill>
                <a:latin typeface="Avenir Book" panose="02000503020000020003" pitchFamily="2" charset="0"/>
                <a:ea typeface="+mn-lt"/>
                <a:cs typeface="+mn-lt"/>
              </a:rPr>
              <a:t>differentiate dream and reality </a:t>
            </a:r>
            <a:r>
              <a:rPr lang="en-US" baseline="30000" dirty="0">
                <a:solidFill>
                  <a:schemeClr val="accent1">
                    <a:lumMod val="50000"/>
                  </a:schemeClr>
                </a:solidFill>
                <a:latin typeface="Avenir Book" panose="02000503020000020003" pitchFamily="2" charset="0"/>
                <a:ea typeface="+mn-lt"/>
                <a:cs typeface="+mn-lt"/>
              </a:rPr>
              <a:t>1,2</a:t>
            </a:r>
            <a:endParaRPr lang="en-US" sz="1400" dirty="0">
              <a:solidFill>
                <a:schemeClr val="accent1">
                  <a:lumMod val="50000"/>
                </a:schemeClr>
              </a:solidFill>
              <a:latin typeface="Avenir Book" panose="02000503020000020003" pitchFamily="2" charset="0"/>
              <a:cs typeface="Calibri" panose="020F0502020204030204"/>
            </a:endParaRPr>
          </a:p>
        </p:txBody>
      </p:sp>
      <p:sp>
        <p:nvSpPr>
          <p:cNvPr id="15" name="Rounded Rectangle 14">
            <a:extLst>
              <a:ext uri="{FF2B5EF4-FFF2-40B4-BE49-F238E27FC236}">
                <a16:creationId xmlns:a16="http://schemas.microsoft.com/office/drawing/2014/main" id="{0D6A478F-95B7-E8B9-7739-93211C0BD541}"/>
              </a:ext>
            </a:extLst>
          </p:cNvPr>
          <p:cNvSpPr/>
          <p:nvPr/>
        </p:nvSpPr>
        <p:spPr>
          <a:xfrm>
            <a:off x="9431985" y="5225132"/>
            <a:ext cx="2379706" cy="1236301"/>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Afraid </a:t>
            </a:r>
            <a:r>
              <a:rPr lang="en-US" dirty="0">
                <a:solidFill>
                  <a:schemeClr val="accent1">
                    <a:lumMod val="50000"/>
                  </a:schemeClr>
                </a:solidFill>
                <a:latin typeface="Avenir Book" panose="02000503020000020003" pitchFamily="2" charset="0"/>
                <a:ea typeface="+mn-lt"/>
                <a:cs typeface="+mn-lt"/>
              </a:rPr>
              <a:t>that I would bring trouble to my caregiver </a:t>
            </a:r>
            <a:r>
              <a:rPr lang="en-US" baseline="30000" dirty="0">
                <a:solidFill>
                  <a:schemeClr val="accent1">
                    <a:lumMod val="50000"/>
                  </a:schemeClr>
                </a:solidFill>
                <a:latin typeface="Avenir Book" panose="02000503020000020003" pitchFamily="2" charset="0"/>
                <a:ea typeface="+mn-lt"/>
                <a:cs typeface="+mn-lt"/>
              </a:rPr>
              <a:t>1,2</a:t>
            </a:r>
            <a:endParaRPr lang="en-US" sz="1400" dirty="0">
              <a:solidFill>
                <a:schemeClr val="accent1">
                  <a:lumMod val="50000"/>
                </a:schemeClr>
              </a:solidFill>
              <a:latin typeface="Avenir Book" panose="02000503020000020003" pitchFamily="2" charset="0"/>
              <a:cs typeface="Calibri" panose="020F0502020204030204"/>
            </a:endParaRPr>
          </a:p>
        </p:txBody>
      </p:sp>
      <p:sp>
        <p:nvSpPr>
          <p:cNvPr id="16" name="Rounded Rectangle 15">
            <a:extLst>
              <a:ext uri="{FF2B5EF4-FFF2-40B4-BE49-F238E27FC236}">
                <a16:creationId xmlns:a16="http://schemas.microsoft.com/office/drawing/2014/main" id="{1381D5CA-D32F-0177-364D-86F76626E4F9}"/>
              </a:ext>
            </a:extLst>
          </p:cNvPr>
          <p:cNvSpPr/>
          <p:nvPr/>
        </p:nvSpPr>
        <p:spPr>
          <a:xfrm>
            <a:off x="7826970" y="3918810"/>
            <a:ext cx="1610401" cy="928975"/>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a:cs typeface="Calibri"/>
              </a:rPr>
              <a:t>Become</a:t>
            </a:r>
            <a:r>
              <a:rPr lang="en-US" dirty="0">
                <a:solidFill>
                  <a:schemeClr val="accent1">
                    <a:lumMod val="50000"/>
                  </a:schemeClr>
                </a:solidFill>
                <a:latin typeface="Avenir Book"/>
                <a:ea typeface="+mn-lt"/>
                <a:cs typeface="+mn-lt"/>
              </a:rPr>
              <a:t> a burden for others </a:t>
            </a:r>
            <a:r>
              <a:rPr lang="en-US" baseline="30000" dirty="0">
                <a:solidFill>
                  <a:schemeClr val="accent1">
                    <a:lumMod val="50000"/>
                  </a:schemeClr>
                </a:solidFill>
                <a:latin typeface="Avenir Book"/>
                <a:ea typeface="+mn-lt"/>
                <a:cs typeface="+mn-lt"/>
              </a:rPr>
              <a:t>1,2</a:t>
            </a:r>
            <a:endParaRPr lang="en-US" sz="1400" dirty="0">
              <a:solidFill>
                <a:schemeClr val="accent1">
                  <a:lumMod val="50000"/>
                </a:schemeClr>
              </a:solidFill>
              <a:latin typeface="Avenir Book"/>
              <a:cs typeface="Calibri" panose="020F0502020204030204"/>
            </a:endParaRPr>
          </a:p>
        </p:txBody>
      </p:sp>
      <p:sp>
        <p:nvSpPr>
          <p:cNvPr id="17" name="Rounded Rectangle 16">
            <a:extLst>
              <a:ext uri="{FF2B5EF4-FFF2-40B4-BE49-F238E27FC236}">
                <a16:creationId xmlns:a16="http://schemas.microsoft.com/office/drawing/2014/main" id="{E16EE9E8-F7AC-8D8A-9AF7-51412A0C0FBD}"/>
              </a:ext>
            </a:extLst>
          </p:cNvPr>
          <p:cNvSpPr/>
          <p:nvPr/>
        </p:nvSpPr>
        <p:spPr>
          <a:xfrm>
            <a:off x="7120425" y="4997628"/>
            <a:ext cx="2215272" cy="515345"/>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ea typeface="+mn-lt"/>
                <a:cs typeface="+mn-lt"/>
              </a:rPr>
              <a:t>losing my self-confidence </a:t>
            </a:r>
            <a:r>
              <a:rPr lang="en-US" baseline="30000" dirty="0">
                <a:solidFill>
                  <a:schemeClr val="accent1">
                    <a:lumMod val="50000"/>
                  </a:schemeClr>
                </a:solidFill>
                <a:latin typeface="Avenir Book" panose="02000503020000020003" pitchFamily="2" charset="0"/>
                <a:ea typeface="+mn-lt"/>
                <a:cs typeface="+mn-lt"/>
              </a:rPr>
              <a:t>1,2</a:t>
            </a:r>
            <a:endParaRPr lang="en-US" sz="1400" dirty="0">
              <a:solidFill>
                <a:schemeClr val="accent1">
                  <a:lumMod val="50000"/>
                </a:schemeClr>
              </a:solidFill>
              <a:latin typeface="Avenir Book" panose="02000503020000020003" pitchFamily="2" charset="0"/>
              <a:cs typeface="Calibri" panose="020F0502020204030204"/>
            </a:endParaRPr>
          </a:p>
        </p:txBody>
      </p:sp>
      <p:sp>
        <p:nvSpPr>
          <p:cNvPr id="18" name="Rounded Rectangle 17">
            <a:extLst>
              <a:ext uri="{FF2B5EF4-FFF2-40B4-BE49-F238E27FC236}">
                <a16:creationId xmlns:a16="http://schemas.microsoft.com/office/drawing/2014/main" id="{D43C8E40-8DCE-2268-CB6D-E5C92E1FA915}"/>
              </a:ext>
            </a:extLst>
          </p:cNvPr>
          <p:cNvSpPr/>
          <p:nvPr/>
        </p:nvSpPr>
        <p:spPr>
          <a:xfrm>
            <a:off x="9674433" y="3850990"/>
            <a:ext cx="2095087" cy="1236300"/>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a:cs typeface="Calibri"/>
              </a:rPr>
              <a:t>Afraid to speak up because we don't want to</a:t>
            </a:r>
            <a:r>
              <a:rPr lang="en-US" dirty="0">
                <a:solidFill>
                  <a:schemeClr val="accent1">
                    <a:lumMod val="50000"/>
                  </a:schemeClr>
                </a:solidFill>
                <a:latin typeface="Avenir Book"/>
                <a:ea typeface="+mn-lt"/>
                <a:cs typeface="+mn-lt"/>
              </a:rPr>
              <a:t> annoy others  </a:t>
            </a:r>
            <a:r>
              <a:rPr lang="en-US" baseline="30000" dirty="0">
                <a:solidFill>
                  <a:schemeClr val="accent1">
                    <a:lumMod val="50000"/>
                  </a:schemeClr>
                </a:solidFill>
                <a:latin typeface="Avenir Book"/>
                <a:ea typeface="+mn-lt"/>
                <a:cs typeface="+mn-lt"/>
              </a:rPr>
              <a:t>1,2</a:t>
            </a:r>
            <a:endParaRPr lang="en-US" sz="1400" dirty="0">
              <a:solidFill>
                <a:schemeClr val="accent1">
                  <a:lumMod val="50000"/>
                </a:schemeClr>
              </a:solidFill>
              <a:latin typeface="Avenir Book"/>
              <a:cs typeface="Calibri" panose="020F0502020204030204"/>
            </a:endParaRPr>
          </a:p>
        </p:txBody>
      </p:sp>
      <p:sp>
        <p:nvSpPr>
          <p:cNvPr id="19" name="Rounded Rectangle 18">
            <a:extLst>
              <a:ext uri="{FF2B5EF4-FFF2-40B4-BE49-F238E27FC236}">
                <a16:creationId xmlns:a16="http://schemas.microsoft.com/office/drawing/2014/main" id="{8D58052F-46D7-19BF-7893-55C055CA323B}"/>
              </a:ext>
            </a:extLst>
          </p:cNvPr>
          <p:cNvSpPr/>
          <p:nvPr/>
        </p:nvSpPr>
        <p:spPr>
          <a:xfrm>
            <a:off x="620036" y="4198338"/>
            <a:ext cx="1753280" cy="61203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Forget to do daily tasks </a:t>
            </a:r>
            <a:r>
              <a:rPr lang="en-US" baseline="30000" dirty="0">
                <a:solidFill>
                  <a:schemeClr val="accent1">
                    <a:lumMod val="50000"/>
                  </a:schemeClr>
                </a:solidFill>
                <a:latin typeface="Avenir Book" panose="02000503020000020003" pitchFamily="2" charset="0"/>
                <a:ea typeface="+mn-lt"/>
                <a:cs typeface="+mn-lt"/>
              </a:rPr>
              <a:t>3</a:t>
            </a:r>
            <a:endParaRPr lang="en-US" dirty="0">
              <a:solidFill>
                <a:schemeClr val="accent1">
                  <a:lumMod val="50000"/>
                </a:schemeClr>
              </a:solidFill>
              <a:latin typeface="Avenir Book" panose="02000503020000020003" pitchFamily="2" charset="0"/>
            </a:endParaRPr>
          </a:p>
        </p:txBody>
      </p:sp>
      <p:sp>
        <p:nvSpPr>
          <p:cNvPr id="20" name="Rounded Rectangle 19">
            <a:extLst>
              <a:ext uri="{FF2B5EF4-FFF2-40B4-BE49-F238E27FC236}">
                <a16:creationId xmlns:a16="http://schemas.microsoft.com/office/drawing/2014/main" id="{FDFC5D6D-5A42-765B-7BA5-AD214B03A6C4}"/>
              </a:ext>
            </a:extLst>
          </p:cNvPr>
          <p:cNvSpPr/>
          <p:nvPr/>
        </p:nvSpPr>
        <p:spPr>
          <a:xfrm>
            <a:off x="2583477" y="3966094"/>
            <a:ext cx="1753280" cy="61203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Do not speak much </a:t>
            </a:r>
            <a:r>
              <a:rPr lang="en-US" baseline="30000" dirty="0">
                <a:solidFill>
                  <a:schemeClr val="accent1">
                    <a:lumMod val="50000"/>
                  </a:schemeClr>
                </a:solidFill>
                <a:latin typeface="Avenir Book" panose="02000503020000020003" pitchFamily="2" charset="0"/>
              </a:rPr>
              <a:t>1,2</a:t>
            </a:r>
            <a:endParaRPr lang="en-US" dirty="0">
              <a:solidFill>
                <a:schemeClr val="accent1">
                  <a:lumMod val="50000"/>
                </a:schemeClr>
              </a:solidFill>
              <a:latin typeface="Avenir Book" panose="02000503020000020003" pitchFamily="2" charset="0"/>
            </a:endParaRPr>
          </a:p>
        </p:txBody>
      </p:sp>
      <p:sp>
        <p:nvSpPr>
          <p:cNvPr id="21" name="Rounded Rectangle 20">
            <a:extLst>
              <a:ext uri="{FF2B5EF4-FFF2-40B4-BE49-F238E27FC236}">
                <a16:creationId xmlns:a16="http://schemas.microsoft.com/office/drawing/2014/main" id="{EEF82E5B-542B-74B1-6A40-8316FECA12F6}"/>
              </a:ext>
            </a:extLst>
          </p:cNvPr>
          <p:cNvSpPr/>
          <p:nvPr/>
        </p:nvSpPr>
        <p:spPr>
          <a:xfrm>
            <a:off x="634285" y="5157310"/>
            <a:ext cx="2040235" cy="84267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Do the same task repeatedly</a:t>
            </a:r>
            <a:r>
              <a:rPr lang="en-US" baseline="30000" dirty="0">
                <a:solidFill>
                  <a:schemeClr val="accent1">
                    <a:lumMod val="50000"/>
                  </a:schemeClr>
                </a:solidFill>
                <a:latin typeface="Avenir Book" panose="02000503020000020003" pitchFamily="2" charset="0"/>
                <a:ea typeface="+mn-lt"/>
                <a:cs typeface="+mn-lt"/>
              </a:rPr>
              <a:t>1,2</a:t>
            </a:r>
            <a:endParaRPr lang="en-US" dirty="0">
              <a:solidFill>
                <a:schemeClr val="accent1">
                  <a:lumMod val="50000"/>
                </a:schemeClr>
              </a:solidFill>
              <a:latin typeface="Avenir Book" panose="02000503020000020003" pitchFamily="2" charset="0"/>
              <a:cs typeface="Calibri"/>
            </a:endParaRPr>
          </a:p>
        </p:txBody>
      </p:sp>
      <p:sp>
        <p:nvSpPr>
          <p:cNvPr id="22" name="Rounded Rectangle 21">
            <a:extLst>
              <a:ext uri="{FF2B5EF4-FFF2-40B4-BE49-F238E27FC236}">
                <a16:creationId xmlns:a16="http://schemas.microsoft.com/office/drawing/2014/main" id="{03B685CB-EFB0-5771-7ED8-4B4809AD02EF}"/>
              </a:ext>
            </a:extLst>
          </p:cNvPr>
          <p:cNvSpPr/>
          <p:nvPr/>
        </p:nvSpPr>
        <p:spPr>
          <a:xfrm>
            <a:off x="2778502" y="4671893"/>
            <a:ext cx="1862086" cy="730614"/>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accent1">
                    <a:lumMod val="50000"/>
                  </a:schemeClr>
                </a:solidFill>
                <a:latin typeface="Avenir Book" panose="02000503020000020003" pitchFamily="2" charset="0"/>
                <a:ea typeface="+mn-lt"/>
                <a:cs typeface="+mn-lt"/>
              </a:rPr>
              <a:t>wander aimlessly </a:t>
            </a:r>
            <a:r>
              <a:rPr lang="en-US" baseline="30000" dirty="0">
                <a:solidFill>
                  <a:schemeClr val="accent1">
                    <a:lumMod val="50000"/>
                  </a:schemeClr>
                </a:solidFill>
                <a:latin typeface="Avenir Book" panose="02000503020000020003" pitchFamily="2" charset="0"/>
                <a:ea typeface="+mn-lt"/>
                <a:cs typeface="+mn-lt"/>
              </a:rPr>
              <a:t>1,2</a:t>
            </a:r>
            <a:endParaRPr lang="en-US" dirty="0">
              <a:solidFill>
                <a:schemeClr val="accent1">
                  <a:lumMod val="50000"/>
                </a:schemeClr>
              </a:solidFill>
              <a:latin typeface="Avenir Book" panose="02000503020000020003" pitchFamily="2" charset="0"/>
              <a:ea typeface="+mn-lt"/>
              <a:cs typeface="+mn-lt"/>
            </a:endParaRPr>
          </a:p>
        </p:txBody>
      </p:sp>
      <p:sp>
        <p:nvSpPr>
          <p:cNvPr id="5" name="Rounded Rectangle 21">
            <a:extLst>
              <a:ext uri="{FF2B5EF4-FFF2-40B4-BE49-F238E27FC236}">
                <a16:creationId xmlns:a16="http://schemas.microsoft.com/office/drawing/2014/main" id="{23B47D93-A39C-6FDB-44F4-170C878B14D4}"/>
              </a:ext>
            </a:extLst>
          </p:cNvPr>
          <p:cNvSpPr/>
          <p:nvPr/>
        </p:nvSpPr>
        <p:spPr>
          <a:xfrm>
            <a:off x="3137090" y="5523540"/>
            <a:ext cx="2142233" cy="842672"/>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ea typeface="+mn-lt"/>
                <a:cs typeface="+mn-lt"/>
              </a:rPr>
              <a:t>Keep repeating the same phrases </a:t>
            </a:r>
            <a:r>
              <a:rPr lang="en-US" baseline="30000" dirty="0">
                <a:solidFill>
                  <a:schemeClr val="accent1">
                    <a:lumMod val="50000"/>
                  </a:schemeClr>
                </a:solidFill>
                <a:latin typeface="Avenir Book" panose="02000503020000020003" pitchFamily="2" charset="0"/>
                <a:ea typeface="+mn-lt"/>
                <a:cs typeface="+mn-lt"/>
              </a:rPr>
              <a:t>1,2</a:t>
            </a:r>
            <a:endParaRPr lang="en-US" dirty="0">
              <a:solidFill>
                <a:schemeClr val="accent1">
                  <a:lumMod val="50000"/>
                </a:schemeClr>
              </a:solidFill>
              <a:latin typeface="Avenir Book" panose="02000503020000020003" pitchFamily="2" charset="0"/>
              <a:ea typeface="+mn-lt"/>
              <a:cs typeface="+mn-lt"/>
            </a:endParaRPr>
          </a:p>
        </p:txBody>
      </p:sp>
      <p:sp>
        <p:nvSpPr>
          <p:cNvPr id="6" name="TextBox 5">
            <a:extLst>
              <a:ext uri="{FF2B5EF4-FFF2-40B4-BE49-F238E27FC236}">
                <a16:creationId xmlns:a16="http://schemas.microsoft.com/office/drawing/2014/main" id="{58A99FC9-81EC-DA21-538C-E8B7294FB406}"/>
              </a:ext>
            </a:extLst>
          </p:cNvPr>
          <p:cNvSpPr txBox="1"/>
          <p:nvPr/>
        </p:nvSpPr>
        <p:spPr>
          <a:xfrm>
            <a:off x="7725624" y="333593"/>
            <a:ext cx="1402613" cy="369332"/>
          </a:xfrm>
          <a:prstGeom prst="rect">
            <a:avLst/>
          </a:prstGeom>
          <a:noFill/>
        </p:spPr>
        <p:txBody>
          <a:bodyPr wrap="square" rtlCol="0">
            <a:spAutoFit/>
          </a:bodyPr>
          <a:lstStyle/>
          <a:p>
            <a:r>
              <a:rPr lang="en-US" dirty="0">
                <a:solidFill>
                  <a:srgbClr val="FF0000"/>
                </a:solidFill>
              </a:rPr>
              <a:t>9/10</a:t>
            </a:r>
            <a:endParaRPr lang="en-HK" dirty="0">
              <a:solidFill>
                <a:srgbClr val="FF0000"/>
              </a:solidFill>
            </a:endParaRPr>
          </a:p>
        </p:txBody>
      </p:sp>
    </p:spTree>
    <p:extLst>
      <p:ext uri="{BB962C8B-B14F-4D97-AF65-F5344CB8AC3E}">
        <p14:creationId xmlns:p14="http://schemas.microsoft.com/office/powerpoint/2010/main" val="1007818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reeform 47">
            <a:extLst>
              <a:ext uri="{FF2B5EF4-FFF2-40B4-BE49-F238E27FC236}">
                <a16:creationId xmlns:a16="http://schemas.microsoft.com/office/drawing/2014/main" id="{A0A8D846-309B-43C8-C387-B55B8C9A43B5}"/>
              </a:ext>
            </a:extLst>
          </p:cNvPr>
          <p:cNvSpPr/>
          <p:nvPr/>
        </p:nvSpPr>
        <p:spPr>
          <a:xfrm>
            <a:off x="4687606" y="2342727"/>
            <a:ext cx="1388937" cy="1388937"/>
          </a:xfrm>
          <a:custGeom>
            <a:avLst/>
            <a:gdLst>
              <a:gd name="connsiteX0" fmla="*/ 1388937 w 1388937"/>
              <a:gd name="connsiteY0" fmla="*/ 0 h 1388937"/>
              <a:gd name="connsiteX1" fmla="*/ 1388937 w 1388937"/>
              <a:gd name="connsiteY1" fmla="*/ 408549 h 1388937"/>
              <a:gd name="connsiteX2" fmla="*/ 1388936 w 1388937"/>
              <a:gd name="connsiteY2" fmla="*/ 408549 h 1388937"/>
              <a:gd name="connsiteX3" fmla="*/ 1388936 w 1388937"/>
              <a:gd name="connsiteY3" fmla="*/ 400798 h 1388937"/>
              <a:gd name="connsiteX4" fmla="*/ 1287906 w 1388937"/>
              <a:gd name="connsiteY4" fmla="*/ 405900 h 1388937"/>
              <a:gd name="connsiteX5" fmla="*/ 400798 w 1388937"/>
              <a:gd name="connsiteY5" fmla="*/ 1388937 h 1388937"/>
              <a:gd name="connsiteX6" fmla="*/ 0 w 1388937"/>
              <a:gd name="connsiteY6" fmla="*/ 1388937 h 1388937"/>
              <a:gd name="connsiteX7" fmla="*/ 7171 w 1388937"/>
              <a:gd name="connsiteY7" fmla="*/ 1246927 h 1388937"/>
              <a:gd name="connsiteX8" fmla="*/ 1246927 w 1388937"/>
              <a:gd name="connsiteY8" fmla="*/ 7171 h 1388937"/>
              <a:gd name="connsiteX9" fmla="*/ 1388937 w 1388937"/>
              <a:gd name="connsiteY9"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8937" h="1388937">
                <a:moveTo>
                  <a:pt x="1388937" y="0"/>
                </a:moveTo>
                <a:lnTo>
                  <a:pt x="1388937" y="408549"/>
                </a:lnTo>
                <a:lnTo>
                  <a:pt x="1388936" y="408549"/>
                </a:lnTo>
                <a:lnTo>
                  <a:pt x="1388936" y="400798"/>
                </a:lnTo>
                <a:lnTo>
                  <a:pt x="1287906" y="405900"/>
                </a:lnTo>
                <a:cubicBezTo>
                  <a:pt x="789631" y="456502"/>
                  <a:pt x="400798" y="877312"/>
                  <a:pt x="400798" y="1388937"/>
                </a:cubicBezTo>
                <a:lnTo>
                  <a:pt x="0" y="1388937"/>
                </a:lnTo>
                <a:lnTo>
                  <a:pt x="7171" y="1246927"/>
                </a:lnTo>
                <a:cubicBezTo>
                  <a:pt x="73557" y="593239"/>
                  <a:pt x="593239" y="73557"/>
                  <a:pt x="1246927" y="7171"/>
                </a:cubicBezTo>
                <a:lnTo>
                  <a:pt x="1388937" y="0"/>
                </a:lnTo>
                <a:close/>
              </a:path>
            </a:pathLst>
          </a:cu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45" name="Freeform 44">
            <a:extLst>
              <a:ext uri="{FF2B5EF4-FFF2-40B4-BE49-F238E27FC236}">
                <a16:creationId xmlns:a16="http://schemas.microsoft.com/office/drawing/2014/main" id="{7E26E4A6-2CB2-7439-03F2-7065DEED7E12}"/>
              </a:ext>
            </a:extLst>
          </p:cNvPr>
          <p:cNvSpPr/>
          <p:nvPr/>
        </p:nvSpPr>
        <p:spPr>
          <a:xfrm>
            <a:off x="6115456" y="3770577"/>
            <a:ext cx="1388939" cy="1388938"/>
          </a:xfrm>
          <a:custGeom>
            <a:avLst/>
            <a:gdLst>
              <a:gd name="connsiteX0" fmla="*/ 988138 w 1388939"/>
              <a:gd name="connsiteY0" fmla="*/ 0 h 1388938"/>
              <a:gd name="connsiteX1" fmla="*/ 1388939 w 1388939"/>
              <a:gd name="connsiteY1" fmla="*/ 0 h 1388938"/>
              <a:gd name="connsiteX2" fmla="*/ 1 w 1388939"/>
              <a:gd name="connsiteY2" fmla="*/ 1388938 h 1388938"/>
              <a:gd name="connsiteX3" fmla="*/ 0 w 1388939"/>
              <a:gd name="connsiteY3" fmla="*/ 1388938 h 1388938"/>
              <a:gd name="connsiteX4" fmla="*/ 0 w 1388939"/>
              <a:gd name="connsiteY4" fmla="*/ 988138 h 1388938"/>
              <a:gd name="connsiteX5" fmla="*/ 101030 w 1388939"/>
              <a:gd name="connsiteY5" fmla="*/ 983036 h 1388938"/>
              <a:gd name="connsiteX6" fmla="*/ 983650 w 1388939"/>
              <a:gd name="connsiteY6" fmla="*/ 94796 h 1388938"/>
              <a:gd name="connsiteX7" fmla="*/ 988138 w 1388939"/>
              <a:gd name="connsiteY7" fmla="*/ 0 h 138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939" h="1388938">
                <a:moveTo>
                  <a:pt x="988138" y="0"/>
                </a:moveTo>
                <a:lnTo>
                  <a:pt x="1388939" y="0"/>
                </a:lnTo>
                <a:cubicBezTo>
                  <a:pt x="1388939" y="767089"/>
                  <a:pt x="767090" y="1388938"/>
                  <a:pt x="1" y="1388938"/>
                </a:cubicBezTo>
                <a:lnTo>
                  <a:pt x="0" y="1388938"/>
                </a:lnTo>
                <a:lnTo>
                  <a:pt x="0" y="988138"/>
                </a:lnTo>
                <a:lnTo>
                  <a:pt x="101030" y="983036"/>
                </a:lnTo>
                <a:cubicBezTo>
                  <a:pt x="568164" y="935597"/>
                  <a:pt x="939107" y="562780"/>
                  <a:pt x="983650" y="94796"/>
                </a:cubicBezTo>
                <a:lnTo>
                  <a:pt x="988138" y="0"/>
                </a:ln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40" name="Freeform 39">
            <a:extLst>
              <a:ext uri="{FF2B5EF4-FFF2-40B4-BE49-F238E27FC236}">
                <a16:creationId xmlns:a16="http://schemas.microsoft.com/office/drawing/2014/main" id="{C21A835A-1A28-0F4E-7E90-3EFD07C5C156}"/>
              </a:ext>
            </a:extLst>
          </p:cNvPr>
          <p:cNvSpPr/>
          <p:nvPr/>
        </p:nvSpPr>
        <p:spPr>
          <a:xfrm>
            <a:off x="4688179" y="3770577"/>
            <a:ext cx="1388365" cy="1377603"/>
          </a:xfrm>
          <a:custGeom>
            <a:avLst/>
            <a:gdLst>
              <a:gd name="connsiteX0" fmla="*/ 0 w 1388365"/>
              <a:gd name="connsiteY0" fmla="*/ 0 h 1377603"/>
              <a:gd name="connsiteX1" fmla="*/ 400225 w 1388365"/>
              <a:gd name="connsiteY1" fmla="*/ 0 h 1377603"/>
              <a:gd name="connsiteX2" fmla="*/ 405327 w 1388365"/>
              <a:gd name="connsiteY2" fmla="*/ 101030 h 1377603"/>
              <a:gd name="connsiteX3" fmla="*/ 1388364 w 1388365"/>
              <a:gd name="connsiteY3" fmla="*/ 988138 h 1377603"/>
              <a:gd name="connsiteX4" fmla="*/ 1388365 w 1388365"/>
              <a:gd name="connsiteY4" fmla="*/ 988138 h 1377603"/>
              <a:gd name="connsiteX5" fmla="*/ 1388365 w 1388365"/>
              <a:gd name="connsiteY5" fmla="*/ 1377603 h 1377603"/>
              <a:gd name="connsiteX6" fmla="*/ 6598 w 1388365"/>
              <a:gd name="connsiteY6" fmla="*/ 130676 h 1377603"/>
              <a:gd name="connsiteX7" fmla="*/ 0 w 1388365"/>
              <a:gd name="connsiteY7" fmla="*/ 0 h 137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8365" h="1377603">
                <a:moveTo>
                  <a:pt x="0" y="0"/>
                </a:moveTo>
                <a:lnTo>
                  <a:pt x="400225" y="0"/>
                </a:lnTo>
                <a:lnTo>
                  <a:pt x="405327" y="101030"/>
                </a:lnTo>
                <a:cubicBezTo>
                  <a:pt x="455930" y="599306"/>
                  <a:pt x="876739" y="988138"/>
                  <a:pt x="1388364" y="988138"/>
                </a:cubicBezTo>
                <a:lnTo>
                  <a:pt x="1388365" y="988138"/>
                </a:lnTo>
                <a:lnTo>
                  <a:pt x="1388365" y="1377603"/>
                </a:lnTo>
                <a:cubicBezTo>
                  <a:pt x="669219" y="1377603"/>
                  <a:pt x="77726" y="831056"/>
                  <a:pt x="6598" y="130676"/>
                </a:cubicBezTo>
                <a:lnTo>
                  <a:pt x="0" y="0"/>
                </a:lnTo>
                <a:close/>
              </a:path>
            </a:pathLst>
          </a:cu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33" name="Freeform 32">
            <a:extLst>
              <a:ext uri="{FF2B5EF4-FFF2-40B4-BE49-F238E27FC236}">
                <a16:creationId xmlns:a16="http://schemas.microsoft.com/office/drawing/2014/main" id="{1387C1B7-E226-C4B3-E95B-AD74A6600E9B}"/>
              </a:ext>
            </a:extLst>
          </p:cNvPr>
          <p:cNvSpPr/>
          <p:nvPr/>
        </p:nvSpPr>
        <p:spPr>
          <a:xfrm>
            <a:off x="6115455" y="2342727"/>
            <a:ext cx="1388939" cy="1388937"/>
          </a:xfrm>
          <a:custGeom>
            <a:avLst/>
            <a:gdLst>
              <a:gd name="connsiteX0" fmla="*/ 0 w 1388939"/>
              <a:gd name="connsiteY0" fmla="*/ 0 h 1388937"/>
              <a:gd name="connsiteX1" fmla="*/ 1 w 1388939"/>
              <a:gd name="connsiteY1" fmla="*/ 0 h 1388937"/>
              <a:gd name="connsiteX2" fmla="*/ 1381768 w 1388939"/>
              <a:gd name="connsiteY2" fmla="*/ 1246927 h 1388937"/>
              <a:gd name="connsiteX3" fmla="*/ 1388939 w 1388939"/>
              <a:gd name="connsiteY3" fmla="*/ 1388937 h 1388937"/>
              <a:gd name="connsiteX4" fmla="*/ 988140 w 1388939"/>
              <a:gd name="connsiteY4" fmla="*/ 1388937 h 1388937"/>
              <a:gd name="connsiteX5" fmla="*/ 983038 w 1388939"/>
              <a:gd name="connsiteY5" fmla="*/ 1287907 h 1388937"/>
              <a:gd name="connsiteX6" fmla="*/ 1 w 1388939"/>
              <a:gd name="connsiteY6" fmla="*/ 400799 h 1388937"/>
              <a:gd name="connsiteX7" fmla="*/ 0 w 1388939"/>
              <a:gd name="connsiteY7" fmla="*/ 400799 h 1388937"/>
              <a:gd name="connsiteX8" fmla="*/ 0 w 1388939"/>
              <a:gd name="connsiteY8" fmla="*/ 0 h 138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88939" h="1388937">
                <a:moveTo>
                  <a:pt x="0" y="0"/>
                </a:moveTo>
                <a:lnTo>
                  <a:pt x="1" y="0"/>
                </a:lnTo>
                <a:cubicBezTo>
                  <a:pt x="719147" y="0"/>
                  <a:pt x="1310641" y="546547"/>
                  <a:pt x="1381768" y="1246927"/>
                </a:cubicBezTo>
                <a:lnTo>
                  <a:pt x="1388939" y="1388937"/>
                </a:lnTo>
                <a:lnTo>
                  <a:pt x="988140" y="1388937"/>
                </a:lnTo>
                <a:lnTo>
                  <a:pt x="983038" y="1287907"/>
                </a:lnTo>
                <a:cubicBezTo>
                  <a:pt x="932436" y="789632"/>
                  <a:pt x="511627" y="400799"/>
                  <a:pt x="1" y="400799"/>
                </a:cubicBezTo>
                <a:lnTo>
                  <a:pt x="0" y="400799"/>
                </a:lnTo>
                <a:lnTo>
                  <a:pt x="0" y="0"/>
                </a:lnTo>
                <a:close/>
              </a:path>
            </a:pathLst>
          </a:cu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prstTxWarp prst="textArchDown">
              <a:avLst/>
            </a:prstTxWarp>
            <a:noAutofit/>
          </a:bodyPr>
          <a:lstStyle/>
          <a:p>
            <a:pPr algn="ctr"/>
            <a:endParaRPr lang="en-US" dirty="0"/>
          </a:p>
        </p:txBody>
      </p:sp>
      <p:sp>
        <p:nvSpPr>
          <p:cNvPr id="49" name="Snip Single Corner of Rectangle 48">
            <a:extLst>
              <a:ext uri="{FF2B5EF4-FFF2-40B4-BE49-F238E27FC236}">
                <a16:creationId xmlns:a16="http://schemas.microsoft.com/office/drawing/2014/main" id="{D24F1E26-A4BB-49CA-8D8E-A280CC338409}"/>
              </a:ext>
            </a:extLst>
          </p:cNvPr>
          <p:cNvSpPr/>
          <p:nvPr/>
        </p:nvSpPr>
        <p:spPr>
          <a:xfrm>
            <a:off x="284018" y="893469"/>
            <a:ext cx="5782134" cy="2827652"/>
          </a:xfrm>
          <a:prstGeom prst="snip1Rect">
            <a:avLst/>
          </a:prstGeom>
          <a:noFill/>
          <a:ln w="2857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0" name="Snip Single Corner of Rectangle 49">
            <a:extLst>
              <a:ext uri="{FF2B5EF4-FFF2-40B4-BE49-F238E27FC236}">
                <a16:creationId xmlns:a16="http://schemas.microsoft.com/office/drawing/2014/main" id="{873FEBFE-1D8C-8848-B954-9B373B3C9CC0}"/>
              </a:ext>
            </a:extLst>
          </p:cNvPr>
          <p:cNvSpPr/>
          <p:nvPr/>
        </p:nvSpPr>
        <p:spPr>
          <a:xfrm flipH="1">
            <a:off x="6125846" y="893621"/>
            <a:ext cx="5782134" cy="2827652"/>
          </a:xfrm>
          <a:prstGeom prst="snip1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1" name="Snip Single Corner of Rectangle 50">
            <a:extLst>
              <a:ext uri="{FF2B5EF4-FFF2-40B4-BE49-F238E27FC236}">
                <a16:creationId xmlns:a16="http://schemas.microsoft.com/office/drawing/2014/main" id="{31731352-F7E1-D3C2-17E8-DC4979A77EFC}"/>
              </a:ext>
            </a:extLst>
          </p:cNvPr>
          <p:cNvSpPr/>
          <p:nvPr/>
        </p:nvSpPr>
        <p:spPr>
          <a:xfrm flipV="1">
            <a:off x="284018" y="3780968"/>
            <a:ext cx="5782134" cy="2827652"/>
          </a:xfrm>
          <a:prstGeom prst="snip1Rect">
            <a:avLst/>
          </a:prstGeom>
          <a:no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2" name="Snip Single Corner of Rectangle 51">
            <a:extLst>
              <a:ext uri="{FF2B5EF4-FFF2-40B4-BE49-F238E27FC236}">
                <a16:creationId xmlns:a16="http://schemas.microsoft.com/office/drawing/2014/main" id="{EB96CA72-46BF-4D53-AF38-E499B4BCBBC5}"/>
              </a:ext>
            </a:extLst>
          </p:cNvPr>
          <p:cNvSpPr/>
          <p:nvPr/>
        </p:nvSpPr>
        <p:spPr>
          <a:xfrm flipH="1" flipV="1">
            <a:off x="6125846" y="3780968"/>
            <a:ext cx="5782134" cy="2827652"/>
          </a:xfrm>
          <a:prstGeom prst="snip1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54" name="Oval 53">
            <a:extLst>
              <a:ext uri="{FF2B5EF4-FFF2-40B4-BE49-F238E27FC236}">
                <a16:creationId xmlns:a16="http://schemas.microsoft.com/office/drawing/2014/main" id="{1AFFEAD6-BDE6-543A-C0F8-6C323213AB28}"/>
              </a:ext>
            </a:extLst>
          </p:cNvPr>
          <p:cNvSpPr/>
          <p:nvPr/>
        </p:nvSpPr>
        <p:spPr>
          <a:xfrm>
            <a:off x="5046517" y="2712030"/>
            <a:ext cx="2078182" cy="207818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grpSp>
        <p:nvGrpSpPr>
          <p:cNvPr id="61" name="Group 60">
            <a:extLst>
              <a:ext uri="{FF2B5EF4-FFF2-40B4-BE49-F238E27FC236}">
                <a16:creationId xmlns:a16="http://schemas.microsoft.com/office/drawing/2014/main" id="{7393009D-028E-CEE4-194B-420CBE9E6142}"/>
              </a:ext>
            </a:extLst>
          </p:cNvPr>
          <p:cNvGrpSpPr/>
          <p:nvPr/>
        </p:nvGrpSpPr>
        <p:grpSpPr>
          <a:xfrm>
            <a:off x="4918217" y="2632160"/>
            <a:ext cx="2347734" cy="2331014"/>
            <a:chOff x="4918217" y="2632160"/>
            <a:chExt cx="2347734" cy="2331014"/>
          </a:xfrm>
        </p:grpSpPr>
        <p:sp>
          <p:nvSpPr>
            <p:cNvPr id="57" name="TextBox 56">
              <a:extLst>
                <a:ext uri="{FF2B5EF4-FFF2-40B4-BE49-F238E27FC236}">
                  <a16:creationId xmlns:a16="http://schemas.microsoft.com/office/drawing/2014/main" id="{4B1F23A2-8286-CFD0-100E-CC6D002C87E3}"/>
                </a:ext>
              </a:extLst>
            </p:cNvPr>
            <p:cNvSpPr txBox="1"/>
            <p:nvPr/>
          </p:nvSpPr>
          <p:spPr>
            <a:xfrm rot="18947048">
              <a:off x="4980352" y="2632160"/>
              <a:ext cx="2219445" cy="2219486"/>
            </a:xfrm>
            <a:prstGeom prst="rect">
              <a:avLst/>
            </a:prstGeom>
            <a:noFill/>
          </p:spPr>
          <p:txBody>
            <a:bodyPr wrap="square" rtlCol="0">
              <a:prstTxWarp prst="textArchUp">
                <a:avLst>
                  <a:gd name="adj" fmla="val 10612246"/>
                </a:avLst>
              </a:prstTxWarp>
              <a:spAutoFit/>
            </a:bodyPr>
            <a:lstStyle/>
            <a:p>
              <a:pPr algn="ctr"/>
              <a:r>
                <a:rPr lang="en-US" b="1" dirty="0">
                  <a:solidFill>
                    <a:schemeClr val="bg1"/>
                  </a:solidFill>
                  <a:latin typeface="Avenir Book" panose="02000503020000020003" pitchFamily="2" charset="0"/>
                </a:rPr>
                <a:t>SAYS</a:t>
              </a:r>
            </a:p>
          </p:txBody>
        </p:sp>
        <p:sp>
          <p:nvSpPr>
            <p:cNvPr id="58" name="TextBox 57">
              <a:extLst>
                <a:ext uri="{FF2B5EF4-FFF2-40B4-BE49-F238E27FC236}">
                  <a16:creationId xmlns:a16="http://schemas.microsoft.com/office/drawing/2014/main" id="{D4C65915-39F0-F375-F0C3-814832FE7C2A}"/>
                </a:ext>
              </a:extLst>
            </p:cNvPr>
            <p:cNvSpPr txBox="1"/>
            <p:nvPr/>
          </p:nvSpPr>
          <p:spPr>
            <a:xfrm rot="2693132">
              <a:off x="4975886" y="2641226"/>
              <a:ext cx="2219445" cy="2219486"/>
            </a:xfrm>
            <a:prstGeom prst="rect">
              <a:avLst/>
            </a:prstGeom>
            <a:noFill/>
          </p:spPr>
          <p:txBody>
            <a:bodyPr wrap="square" rtlCol="0">
              <a:prstTxWarp prst="textArchUp">
                <a:avLst>
                  <a:gd name="adj" fmla="val 10612246"/>
                </a:avLst>
              </a:prstTxWarp>
              <a:spAutoFit/>
            </a:bodyPr>
            <a:lstStyle/>
            <a:p>
              <a:pPr algn="ctr"/>
              <a:r>
                <a:rPr lang="en-US" altLang="zh-TW" b="1" dirty="0">
                  <a:solidFill>
                    <a:schemeClr val="bg1"/>
                  </a:solidFill>
                  <a:latin typeface="Avenir Book" panose="02000503020000020003" pitchFamily="2" charset="0"/>
                </a:rPr>
                <a:t>THINKS</a:t>
              </a:r>
              <a:endParaRPr lang="en-US" b="1" dirty="0">
                <a:solidFill>
                  <a:schemeClr val="bg1"/>
                </a:solidFill>
                <a:latin typeface="Avenir Book" panose="02000503020000020003" pitchFamily="2" charset="0"/>
              </a:endParaRPr>
            </a:p>
          </p:txBody>
        </p:sp>
        <p:sp>
          <p:nvSpPr>
            <p:cNvPr id="60" name="TextBox 59">
              <a:extLst>
                <a:ext uri="{FF2B5EF4-FFF2-40B4-BE49-F238E27FC236}">
                  <a16:creationId xmlns:a16="http://schemas.microsoft.com/office/drawing/2014/main" id="{FF68DF63-84F5-41B0-D1C8-BF9790B9F1BD}"/>
                </a:ext>
              </a:extLst>
            </p:cNvPr>
            <p:cNvSpPr txBox="1"/>
            <p:nvPr/>
          </p:nvSpPr>
          <p:spPr>
            <a:xfrm rot="2705445">
              <a:off x="4918237" y="2743709"/>
              <a:ext cx="2219445" cy="2219486"/>
            </a:xfrm>
            <a:prstGeom prst="rect">
              <a:avLst/>
            </a:prstGeom>
            <a:noFill/>
          </p:spPr>
          <p:txBody>
            <a:bodyPr wrap="square" rtlCol="0">
              <a:prstTxWarp prst="textArchDown">
                <a:avLst/>
              </a:prstTxWarp>
              <a:spAutoFit/>
            </a:bodyPr>
            <a:lstStyle/>
            <a:p>
              <a:pPr algn="ctr"/>
              <a:r>
                <a:rPr lang="en-US" altLang="zh-TW" b="1" dirty="0">
                  <a:solidFill>
                    <a:schemeClr val="bg1"/>
                  </a:solidFill>
                  <a:latin typeface="Avenir Book" panose="02000503020000020003" pitchFamily="2" charset="0"/>
                </a:rPr>
                <a:t>DOES</a:t>
              </a:r>
              <a:endParaRPr lang="en-US" b="1" dirty="0">
                <a:solidFill>
                  <a:schemeClr val="bg1"/>
                </a:solidFill>
                <a:latin typeface="Avenir Book" panose="02000503020000020003" pitchFamily="2" charset="0"/>
              </a:endParaRPr>
            </a:p>
          </p:txBody>
        </p:sp>
        <p:sp>
          <p:nvSpPr>
            <p:cNvPr id="59" name="TextBox 58">
              <a:extLst>
                <a:ext uri="{FF2B5EF4-FFF2-40B4-BE49-F238E27FC236}">
                  <a16:creationId xmlns:a16="http://schemas.microsoft.com/office/drawing/2014/main" id="{AF1824A0-57E1-A482-0058-31207791DBCF}"/>
                </a:ext>
              </a:extLst>
            </p:cNvPr>
            <p:cNvSpPr txBox="1"/>
            <p:nvPr/>
          </p:nvSpPr>
          <p:spPr>
            <a:xfrm rot="18908179">
              <a:off x="5046506" y="2712783"/>
              <a:ext cx="2219445" cy="2219486"/>
            </a:xfrm>
            <a:prstGeom prst="rect">
              <a:avLst/>
            </a:prstGeom>
            <a:noFill/>
          </p:spPr>
          <p:txBody>
            <a:bodyPr wrap="square" rtlCol="0">
              <a:prstTxWarp prst="textArchDown">
                <a:avLst/>
              </a:prstTxWarp>
              <a:spAutoFit/>
            </a:bodyPr>
            <a:lstStyle/>
            <a:p>
              <a:pPr algn="ctr"/>
              <a:r>
                <a:rPr lang="en-US" altLang="zh-TW" b="1" dirty="0">
                  <a:solidFill>
                    <a:schemeClr val="bg1"/>
                  </a:solidFill>
                  <a:latin typeface="Avenir Book" panose="02000503020000020003" pitchFamily="2" charset="0"/>
                </a:rPr>
                <a:t>FEELS</a:t>
              </a:r>
              <a:endParaRPr lang="en-US" b="1" dirty="0">
                <a:solidFill>
                  <a:schemeClr val="bg1"/>
                </a:solidFill>
                <a:latin typeface="Avenir Book" panose="02000503020000020003" pitchFamily="2" charset="0"/>
              </a:endParaRPr>
            </a:p>
          </p:txBody>
        </p:sp>
      </p:grpSp>
      <p:sp>
        <p:nvSpPr>
          <p:cNvPr id="3" name="Oval 2">
            <a:extLst>
              <a:ext uri="{FF2B5EF4-FFF2-40B4-BE49-F238E27FC236}">
                <a16:creationId xmlns:a16="http://schemas.microsoft.com/office/drawing/2014/main" id="{FD0768B3-4649-4373-59BA-B81174389ACD}"/>
              </a:ext>
            </a:extLst>
          </p:cNvPr>
          <p:cNvSpPr/>
          <p:nvPr/>
        </p:nvSpPr>
        <p:spPr>
          <a:xfrm>
            <a:off x="5289479" y="2944600"/>
            <a:ext cx="1613042" cy="1613042"/>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rstTxWarp prst="textArchDown">
              <a:avLst/>
            </a:prstTxWarp>
          </a:bodyPr>
          <a:lstStyle/>
          <a:p>
            <a:pPr algn="ctr"/>
            <a:endParaRPr lang="en-US" dirty="0"/>
          </a:p>
        </p:txBody>
      </p:sp>
      <p:sp>
        <p:nvSpPr>
          <p:cNvPr id="2" name="Rectangle 1">
            <a:extLst>
              <a:ext uri="{FF2B5EF4-FFF2-40B4-BE49-F238E27FC236}">
                <a16:creationId xmlns:a16="http://schemas.microsoft.com/office/drawing/2014/main" id="{C9C7EABB-73F4-F7B3-C017-71482CBCAA50}"/>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latin typeface="Avenir Book" panose="02000503020000020003"/>
            </a:endParaRPr>
          </a:p>
        </p:txBody>
      </p:sp>
      <p:sp>
        <p:nvSpPr>
          <p:cNvPr id="4" name="Title 6">
            <a:extLst>
              <a:ext uri="{FF2B5EF4-FFF2-40B4-BE49-F238E27FC236}">
                <a16:creationId xmlns:a16="http://schemas.microsoft.com/office/drawing/2014/main" id="{51B405AE-7A06-DB7F-0362-771DE5FC0E8C}"/>
              </a:ext>
            </a:extLst>
          </p:cNvPr>
          <p:cNvSpPr txBox="1">
            <a:spLocks/>
          </p:cNvSpPr>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HK" altLang="zh-TW" sz="2000" b="1" dirty="0">
                <a:latin typeface="Avenir Book" panose="02000503020000020003" pitchFamily="2" charset="0"/>
                <a:ea typeface="+mn-ea"/>
                <a:cs typeface="Calibri"/>
              </a:rPr>
              <a:t>Empathy Map</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caregivers</a:t>
            </a:r>
            <a:endParaRPr lang="en-US" sz="1800" dirty="0">
              <a:latin typeface="Avenir Book" panose="02000503020000020003" pitchFamily="2" charset="0"/>
              <a:ea typeface="+mn-ea"/>
              <a:cs typeface="+mn-cs"/>
            </a:endParaRPr>
          </a:p>
        </p:txBody>
      </p:sp>
      <p:pic>
        <p:nvPicPr>
          <p:cNvPr id="5" name="Picture 4" descr="A person and person smiling&#10;&#10;Description automatically generated">
            <a:extLst>
              <a:ext uri="{FF2B5EF4-FFF2-40B4-BE49-F238E27FC236}">
                <a16:creationId xmlns:a16="http://schemas.microsoft.com/office/drawing/2014/main" id="{5C357603-4659-E3DB-C15D-BC912AA5364F}"/>
              </a:ext>
            </a:extLst>
          </p:cNvPr>
          <p:cNvPicPr>
            <a:picLocks noChangeAspect="1"/>
          </p:cNvPicPr>
          <p:nvPr/>
        </p:nvPicPr>
        <p:blipFill>
          <a:blip r:embed="rId2"/>
          <a:stretch>
            <a:fillRect/>
          </a:stretch>
        </p:blipFill>
        <p:spPr>
          <a:xfrm>
            <a:off x="5574326" y="3209839"/>
            <a:ext cx="1022564" cy="1022564"/>
          </a:xfrm>
          <a:prstGeom prst="rect">
            <a:avLst/>
          </a:prstGeom>
        </p:spPr>
      </p:pic>
      <p:sp>
        <p:nvSpPr>
          <p:cNvPr id="6" name="Rounded Rectangle 5">
            <a:extLst>
              <a:ext uri="{FF2B5EF4-FFF2-40B4-BE49-F238E27FC236}">
                <a16:creationId xmlns:a16="http://schemas.microsoft.com/office/drawing/2014/main" id="{8859373F-83DB-701B-3C9D-8F213A2372CF}"/>
              </a:ext>
            </a:extLst>
          </p:cNvPr>
          <p:cNvSpPr/>
          <p:nvPr/>
        </p:nvSpPr>
        <p:spPr>
          <a:xfrm>
            <a:off x="7091540" y="4926314"/>
            <a:ext cx="1807572" cy="1504040"/>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a:cs typeface="Calibri"/>
              </a:rPr>
              <a:t>Worried</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about</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the</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conditions</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of</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the</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patients</a:t>
            </a:r>
            <a:endParaRPr lang="en-US" sz="1400" dirty="0">
              <a:solidFill>
                <a:schemeClr val="accent1">
                  <a:lumMod val="50000"/>
                </a:schemeClr>
              </a:solidFill>
              <a:latin typeface="Avenir Book"/>
              <a:cs typeface="Calibri" panose="020F0502020204030204"/>
            </a:endParaRPr>
          </a:p>
        </p:txBody>
      </p:sp>
      <p:sp>
        <p:nvSpPr>
          <p:cNvPr id="7" name="Rounded Rectangle 6">
            <a:extLst>
              <a:ext uri="{FF2B5EF4-FFF2-40B4-BE49-F238E27FC236}">
                <a16:creationId xmlns:a16="http://schemas.microsoft.com/office/drawing/2014/main" id="{22E6510E-538B-4FF9-BB9F-74EBFCE89532}"/>
              </a:ext>
            </a:extLst>
          </p:cNvPr>
          <p:cNvSpPr/>
          <p:nvPr/>
        </p:nvSpPr>
        <p:spPr>
          <a:xfrm>
            <a:off x="2533607" y="3880888"/>
            <a:ext cx="2090063" cy="1073074"/>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Call</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patient</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to</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remind</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them</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of</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important</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tasks</a:t>
            </a:r>
            <a:endParaRPr lang="en-US" dirty="0">
              <a:solidFill>
                <a:schemeClr val="accent1">
                  <a:lumMod val="50000"/>
                </a:schemeClr>
              </a:solidFill>
              <a:latin typeface="Avenir Book" panose="02000503020000020003" pitchFamily="2" charset="0"/>
            </a:endParaRPr>
          </a:p>
        </p:txBody>
      </p:sp>
      <p:sp>
        <p:nvSpPr>
          <p:cNvPr id="8" name="Rounded Rectangle 7">
            <a:extLst>
              <a:ext uri="{FF2B5EF4-FFF2-40B4-BE49-F238E27FC236}">
                <a16:creationId xmlns:a16="http://schemas.microsoft.com/office/drawing/2014/main" id="{15D96A4A-4ED2-3689-3007-C05094830092}"/>
              </a:ext>
            </a:extLst>
          </p:cNvPr>
          <p:cNvSpPr/>
          <p:nvPr/>
        </p:nvSpPr>
        <p:spPr>
          <a:xfrm>
            <a:off x="458428" y="1719480"/>
            <a:ext cx="1622855" cy="1853302"/>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I want to ensure their (patients) safety</a:t>
            </a:r>
          </a:p>
        </p:txBody>
      </p:sp>
      <p:sp>
        <p:nvSpPr>
          <p:cNvPr id="9" name="Rounded Rectangle 8">
            <a:extLst>
              <a:ext uri="{FF2B5EF4-FFF2-40B4-BE49-F238E27FC236}">
                <a16:creationId xmlns:a16="http://schemas.microsoft.com/office/drawing/2014/main" id="{C6C18B81-CD99-C913-265A-E2E3691636D6}"/>
              </a:ext>
            </a:extLst>
          </p:cNvPr>
          <p:cNvSpPr/>
          <p:nvPr/>
        </p:nvSpPr>
        <p:spPr>
          <a:xfrm>
            <a:off x="6902521" y="1210318"/>
            <a:ext cx="2035002" cy="1143744"/>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rPr>
              <a:t>What is he/she doing now?</a:t>
            </a:r>
          </a:p>
        </p:txBody>
      </p:sp>
      <p:sp>
        <p:nvSpPr>
          <p:cNvPr id="10" name="Rounded Rectangle 9">
            <a:extLst>
              <a:ext uri="{FF2B5EF4-FFF2-40B4-BE49-F238E27FC236}">
                <a16:creationId xmlns:a16="http://schemas.microsoft.com/office/drawing/2014/main" id="{23B70ABD-0627-FAC5-4639-E59CA1C85AF3}"/>
              </a:ext>
            </a:extLst>
          </p:cNvPr>
          <p:cNvSpPr/>
          <p:nvPr/>
        </p:nvSpPr>
        <p:spPr>
          <a:xfrm>
            <a:off x="7756351" y="3963129"/>
            <a:ext cx="1509115" cy="773515"/>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a:cs typeface="Calibri"/>
              </a:rPr>
              <a:t>Distracted</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from</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work</a:t>
            </a:r>
            <a:endParaRPr lang="en-US" sz="1400" dirty="0">
              <a:solidFill>
                <a:schemeClr val="accent1">
                  <a:lumMod val="50000"/>
                </a:schemeClr>
              </a:solidFill>
              <a:latin typeface="Avenir Book"/>
              <a:cs typeface="Calibri" panose="020F0502020204030204"/>
            </a:endParaRPr>
          </a:p>
        </p:txBody>
      </p:sp>
      <p:sp>
        <p:nvSpPr>
          <p:cNvPr id="11" name="Rounded Rectangle 10">
            <a:extLst>
              <a:ext uri="{FF2B5EF4-FFF2-40B4-BE49-F238E27FC236}">
                <a16:creationId xmlns:a16="http://schemas.microsoft.com/office/drawing/2014/main" id="{6CBF3683-FD99-4BCC-E361-9BFFD4F14343}"/>
              </a:ext>
            </a:extLst>
          </p:cNvPr>
          <p:cNvSpPr/>
          <p:nvPr/>
        </p:nvSpPr>
        <p:spPr>
          <a:xfrm>
            <a:off x="2883551" y="5238131"/>
            <a:ext cx="2402689" cy="88465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Constant</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checking</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on</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patients’</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current</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situation</a:t>
            </a:r>
            <a:endParaRPr lang="en-US" dirty="0">
              <a:solidFill>
                <a:schemeClr val="accent1">
                  <a:lumMod val="50000"/>
                </a:schemeClr>
              </a:solidFill>
              <a:latin typeface="Avenir Book" panose="02000503020000020003" pitchFamily="2" charset="0"/>
            </a:endParaRPr>
          </a:p>
        </p:txBody>
      </p:sp>
      <p:sp>
        <p:nvSpPr>
          <p:cNvPr id="12" name="Rounded Rectangle 7">
            <a:extLst>
              <a:ext uri="{FF2B5EF4-FFF2-40B4-BE49-F238E27FC236}">
                <a16:creationId xmlns:a16="http://schemas.microsoft.com/office/drawing/2014/main" id="{86761D1B-A464-4FDC-7D5B-E9A3218DF3DB}"/>
              </a:ext>
            </a:extLst>
          </p:cNvPr>
          <p:cNvSpPr/>
          <p:nvPr/>
        </p:nvSpPr>
        <p:spPr>
          <a:xfrm>
            <a:off x="2550678" y="985429"/>
            <a:ext cx="2376137" cy="1599378"/>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It’d be better if I can track their location when I am working</a:t>
            </a:r>
          </a:p>
        </p:txBody>
      </p:sp>
      <p:sp>
        <p:nvSpPr>
          <p:cNvPr id="13" name="Rounded Rectangle 12">
            <a:extLst>
              <a:ext uri="{FF2B5EF4-FFF2-40B4-BE49-F238E27FC236}">
                <a16:creationId xmlns:a16="http://schemas.microsoft.com/office/drawing/2014/main" id="{2FAF0DBF-E87B-9ECA-6B62-366EEF0AF30C}"/>
              </a:ext>
            </a:extLst>
          </p:cNvPr>
          <p:cNvSpPr/>
          <p:nvPr/>
        </p:nvSpPr>
        <p:spPr>
          <a:xfrm>
            <a:off x="9460784" y="4376057"/>
            <a:ext cx="2194728" cy="2011679"/>
          </a:xfrm>
          <a:prstGeom prst="round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a:cs typeface="Calibri"/>
              </a:rPr>
              <a:t>Burdened</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by</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the</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patients</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occasionally</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to</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check</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their</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information,</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or</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remind</a:t>
            </a:r>
            <a:r>
              <a:rPr lang="zh-TW" altLang="en-US">
                <a:solidFill>
                  <a:schemeClr val="accent1">
                    <a:lumMod val="50000"/>
                  </a:schemeClr>
                </a:solidFill>
                <a:latin typeface="Avenir Book"/>
                <a:cs typeface="Calibri"/>
              </a:rPr>
              <a:t> </a:t>
            </a:r>
            <a:r>
              <a:rPr lang="en-US" altLang="zh-TW" dirty="0">
                <a:solidFill>
                  <a:schemeClr val="accent1">
                    <a:lumMod val="50000"/>
                  </a:schemeClr>
                </a:solidFill>
                <a:latin typeface="Avenir Book"/>
                <a:cs typeface="Calibri"/>
              </a:rPr>
              <a:t>them</a:t>
            </a:r>
            <a:endParaRPr lang="en-US" sz="1400" dirty="0">
              <a:solidFill>
                <a:schemeClr val="accent1">
                  <a:lumMod val="50000"/>
                </a:schemeClr>
              </a:solidFill>
              <a:latin typeface="Avenir Book"/>
              <a:cs typeface="Calibri" panose="020F0502020204030204"/>
            </a:endParaRPr>
          </a:p>
        </p:txBody>
      </p:sp>
      <p:sp>
        <p:nvSpPr>
          <p:cNvPr id="14" name="Rounded Rectangle 13">
            <a:extLst>
              <a:ext uri="{FF2B5EF4-FFF2-40B4-BE49-F238E27FC236}">
                <a16:creationId xmlns:a16="http://schemas.microsoft.com/office/drawing/2014/main" id="{E11AC809-5C21-E5D6-C9A9-6EF036F36BC3}"/>
              </a:ext>
            </a:extLst>
          </p:cNvPr>
          <p:cNvSpPr/>
          <p:nvPr/>
        </p:nvSpPr>
        <p:spPr>
          <a:xfrm>
            <a:off x="352595" y="5025516"/>
            <a:ext cx="2402689" cy="1362221"/>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Keep</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track</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of</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all</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information</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of</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patients</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in</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case</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they</a:t>
            </a:r>
            <a:r>
              <a:rPr lang="zh-TW" altLang="en-US">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forget</a:t>
            </a:r>
            <a:endParaRPr lang="en-US" dirty="0">
              <a:solidFill>
                <a:schemeClr val="accent1">
                  <a:lumMod val="50000"/>
                </a:schemeClr>
              </a:solidFill>
              <a:latin typeface="Avenir Book" panose="02000503020000020003" pitchFamily="2" charset="0"/>
            </a:endParaRPr>
          </a:p>
        </p:txBody>
      </p:sp>
      <p:sp>
        <p:nvSpPr>
          <p:cNvPr id="15" name="Rounded Rectangle 8">
            <a:extLst>
              <a:ext uri="{FF2B5EF4-FFF2-40B4-BE49-F238E27FC236}">
                <a16:creationId xmlns:a16="http://schemas.microsoft.com/office/drawing/2014/main" id="{0B69B726-752C-19C0-270C-20328EB776BB}"/>
              </a:ext>
            </a:extLst>
          </p:cNvPr>
          <p:cNvSpPr/>
          <p:nvPr/>
        </p:nvSpPr>
        <p:spPr>
          <a:xfrm>
            <a:off x="7615578" y="2471790"/>
            <a:ext cx="2035001" cy="1027618"/>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rPr>
              <a:t>Where is he/she?</a:t>
            </a:r>
          </a:p>
        </p:txBody>
      </p:sp>
      <p:sp>
        <p:nvSpPr>
          <p:cNvPr id="16" name="Rounded Rectangle 8">
            <a:extLst>
              <a:ext uri="{FF2B5EF4-FFF2-40B4-BE49-F238E27FC236}">
                <a16:creationId xmlns:a16="http://schemas.microsoft.com/office/drawing/2014/main" id="{F4ED0055-7644-502C-24F7-871AA8962412}"/>
              </a:ext>
            </a:extLst>
          </p:cNvPr>
          <p:cNvSpPr/>
          <p:nvPr/>
        </p:nvSpPr>
        <p:spPr>
          <a:xfrm>
            <a:off x="9265466" y="1016738"/>
            <a:ext cx="2035001" cy="1267316"/>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rPr>
              <a:t>Please be safe</a:t>
            </a:r>
          </a:p>
        </p:txBody>
      </p:sp>
      <p:sp>
        <p:nvSpPr>
          <p:cNvPr id="17" name="Rounded Rectangle 7">
            <a:extLst>
              <a:ext uri="{FF2B5EF4-FFF2-40B4-BE49-F238E27FC236}">
                <a16:creationId xmlns:a16="http://schemas.microsoft.com/office/drawing/2014/main" id="{B1599CA4-E7A2-F651-6B5B-151410877C3E}"/>
              </a:ext>
            </a:extLst>
          </p:cNvPr>
          <p:cNvSpPr/>
          <p:nvPr/>
        </p:nvSpPr>
        <p:spPr>
          <a:xfrm>
            <a:off x="2204891" y="2678508"/>
            <a:ext cx="2103019" cy="916201"/>
          </a:xfrm>
          <a:prstGeom prst="roundRect">
            <a:avLst/>
          </a:prstGeom>
          <a:no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cs typeface="Calibri"/>
              </a:rPr>
              <a:t>Why you always forget things!</a:t>
            </a:r>
          </a:p>
        </p:txBody>
      </p:sp>
      <p:sp>
        <p:nvSpPr>
          <p:cNvPr id="18" name="Rounded Rectangle 8">
            <a:extLst>
              <a:ext uri="{FF2B5EF4-FFF2-40B4-BE49-F238E27FC236}">
                <a16:creationId xmlns:a16="http://schemas.microsoft.com/office/drawing/2014/main" id="{EF0B0F04-59C5-B7D5-B2FF-6849C66F269C}"/>
              </a:ext>
            </a:extLst>
          </p:cNvPr>
          <p:cNvSpPr/>
          <p:nvPr/>
        </p:nvSpPr>
        <p:spPr>
          <a:xfrm>
            <a:off x="9761779" y="2584807"/>
            <a:ext cx="2035001" cy="1027618"/>
          </a:xfrm>
          <a:prstGeom prst="roundRect">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lumMod val="50000"/>
                  </a:schemeClr>
                </a:solidFill>
                <a:latin typeface="Avenir Book" panose="02000503020000020003" pitchFamily="2" charset="0"/>
              </a:rPr>
              <a:t>Could he/she perform the tasks well?</a:t>
            </a:r>
          </a:p>
        </p:txBody>
      </p:sp>
      <p:sp>
        <p:nvSpPr>
          <p:cNvPr id="19" name="Rounded Rectangle 18">
            <a:extLst>
              <a:ext uri="{FF2B5EF4-FFF2-40B4-BE49-F238E27FC236}">
                <a16:creationId xmlns:a16="http://schemas.microsoft.com/office/drawing/2014/main" id="{02F89725-D2E5-C9D2-79FF-FFDF34473176}"/>
              </a:ext>
            </a:extLst>
          </p:cNvPr>
          <p:cNvSpPr/>
          <p:nvPr/>
        </p:nvSpPr>
        <p:spPr>
          <a:xfrm>
            <a:off x="458428" y="4017050"/>
            <a:ext cx="1950364" cy="88465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ea typeface="+mn-lt"/>
                <a:cs typeface="+mn-lt"/>
              </a:rPr>
              <a:t>Want</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effective</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communication</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with</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the</a:t>
            </a:r>
            <a:r>
              <a:rPr lang="zh-TW" altLang="en-US" dirty="0">
                <a:solidFill>
                  <a:schemeClr val="accent1">
                    <a:lumMod val="50000"/>
                  </a:schemeClr>
                </a:solidFill>
                <a:latin typeface="Avenir Book" panose="02000503020000020003" pitchFamily="2" charset="0"/>
                <a:ea typeface="+mn-lt"/>
                <a:cs typeface="+mn-lt"/>
              </a:rPr>
              <a:t> </a:t>
            </a:r>
            <a:r>
              <a:rPr lang="en-US" altLang="zh-TW" dirty="0">
                <a:solidFill>
                  <a:schemeClr val="accent1">
                    <a:lumMod val="50000"/>
                  </a:schemeClr>
                </a:solidFill>
                <a:latin typeface="Avenir Book" panose="02000503020000020003" pitchFamily="2" charset="0"/>
                <a:ea typeface="+mn-lt"/>
                <a:cs typeface="+mn-lt"/>
              </a:rPr>
              <a:t>patient</a:t>
            </a:r>
            <a:endParaRPr lang="en-US" dirty="0">
              <a:solidFill>
                <a:schemeClr val="accent1">
                  <a:lumMod val="50000"/>
                </a:schemeClr>
              </a:solidFill>
              <a:latin typeface="Avenir Book" panose="02000503020000020003" pitchFamily="2" charset="0"/>
            </a:endParaRPr>
          </a:p>
        </p:txBody>
      </p:sp>
    </p:spTree>
    <p:extLst>
      <p:ext uri="{BB962C8B-B14F-4D97-AF65-F5344CB8AC3E}">
        <p14:creationId xmlns:p14="http://schemas.microsoft.com/office/powerpoint/2010/main" val="313731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DAAD-E491-03D2-68E3-9E705A9E7C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B68E22-EC00-2191-0CD3-8A0BAAE9ACA2}"/>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312474A1-9105-C1AB-38A8-D21E5EFCC0A7}"/>
              </a:ext>
            </a:extLst>
          </p:cNvPr>
          <p:cNvSpPr txBox="1">
            <a:spLocks noGrp="1"/>
          </p:cNvSpPr>
          <p:nvPr>
            <p:ph type="title" idx="4294967295"/>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dirty="0">
                <a:latin typeface="Avenir Book" panose="02000503020000020003" pitchFamily="2" charset="0"/>
                <a:ea typeface="+mn-ea"/>
                <a:cs typeface="Calibri"/>
              </a:rPr>
              <a:t>Needs</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and</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Gains</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6" name="Rectangle 5">
            <a:extLst>
              <a:ext uri="{FF2B5EF4-FFF2-40B4-BE49-F238E27FC236}">
                <a16:creationId xmlns:a16="http://schemas.microsoft.com/office/drawing/2014/main" id="{99CE2F52-8835-E9DA-9361-803199D3B069}"/>
              </a:ext>
            </a:extLst>
          </p:cNvPr>
          <p:cNvSpPr/>
          <p:nvPr/>
        </p:nvSpPr>
        <p:spPr>
          <a:xfrm>
            <a:off x="403686" y="1717964"/>
            <a:ext cx="5612969" cy="302029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Gains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Get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peace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mind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knowing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patient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safe</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Minimize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time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constantly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reminding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patient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daily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tasks</a:t>
            </a:r>
            <a:endParaRPr lang="en-HK" altLang="zh-TW"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Make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sure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messages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patients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well</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received</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Cheaper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alternative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daycare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services,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elderly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homes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caretakers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while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still</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ensure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patients’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safety</a:t>
            </a:r>
          </a:p>
          <a:p>
            <a:pPr marL="285750" indent="-285750">
              <a:buFont typeface="Arial" panose="020B0604020202020204" pitchFamily="34" charset="0"/>
              <a:buChar char="•"/>
            </a:pPr>
            <a:endParaRPr lang="en-US" dirty="0">
              <a:solidFill>
                <a:schemeClr val="accent1">
                  <a:lumMod val="50000"/>
                </a:schemeClr>
              </a:solidFill>
              <a:latin typeface="Avenir Book" panose="02000503020000020003" pitchFamily="2" charset="0"/>
            </a:endParaRPr>
          </a:p>
        </p:txBody>
      </p:sp>
      <p:sp>
        <p:nvSpPr>
          <p:cNvPr id="8" name="Rectangle 7">
            <a:extLst>
              <a:ext uri="{FF2B5EF4-FFF2-40B4-BE49-F238E27FC236}">
                <a16:creationId xmlns:a16="http://schemas.microsoft.com/office/drawing/2014/main" id="{5731DB13-7B8D-CB11-9638-71F26C7D1E2C}"/>
              </a:ext>
            </a:extLst>
          </p:cNvPr>
          <p:cNvSpPr/>
          <p:nvPr/>
        </p:nvSpPr>
        <p:spPr>
          <a:xfrm>
            <a:off x="403685" y="4866974"/>
            <a:ext cx="5612969" cy="160604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Needs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Need</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take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patients</a:t>
            </a:r>
            <a:endParaRPr lang="en-US"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Need</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focus</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on</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work</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Real-time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location</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tracking</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in</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case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emergency</a:t>
            </a:r>
          </a:p>
        </p:txBody>
      </p:sp>
      <p:sp>
        <p:nvSpPr>
          <p:cNvPr id="2" name="Rectangle 1">
            <a:extLst>
              <a:ext uri="{FF2B5EF4-FFF2-40B4-BE49-F238E27FC236}">
                <a16:creationId xmlns:a16="http://schemas.microsoft.com/office/drawing/2014/main" id="{6EC69A28-B94B-AF5C-21D9-D6759E968C26}"/>
              </a:ext>
            </a:extLst>
          </p:cNvPr>
          <p:cNvSpPr/>
          <p:nvPr/>
        </p:nvSpPr>
        <p:spPr>
          <a:xfrm>
            <a:off x="6181032" y="1717964"/>
            <a:ext cx="5612969" cy="302029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Gains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Wearable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device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minimizes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chance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forgetting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bring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along</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Can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perform</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more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independently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without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disturbing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their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caregivers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A</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timely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portable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reminder</a:t>
            </a:r>
          </a:p>
        </p:txBody>
      </p:sp>
      <p:sp>
        <p:nvSpPr>
          <p:cNvPr id="3" name="Rectangle 2">
            <a:extLst>
              <a:ext uri="{FF2B5EF4-FFF2-40B4-BE49-F238E27FC236}">
                <a16:creationId xmlns:a16="http://schemas.microsoft.com/office/drawing/2014/main" id="{6C01DE28-5FD8-1A2D-A537-B2D079F75880}"/>
              </a:ext>
            </a:extLst>
          </p:cNvPr>
          <p:cNvSpPr/>
          <p:nvPr/>
        </p:nvSpPr>
        <p:spPr>
          <a:xfrm>
            <a:off x="6181031" y="4866974"/>
            <a:ext cx="5612969" cy="160604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Needs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Need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reminded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tasks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such</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taking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medicines,</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medical</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appointments</a:t>
            </a: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Need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guide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case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dementia</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lead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back</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safe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locations</a:t>
            </a:r>
          </a:p>
        </p:txBody>
      </p:sp>
      <p:sp>
        <p:nvSpPr>
          <p:cNvPr id="9" name="Rectangle 8">
            <a:extLst>
              <a:ext uri="{FF2B5EF4-FFF2-40B4-BE49-F238E27FC236}">
                <a16:creationId xmlns:a16="http://schemas.microsoft.com/office/drawing/2014/main" id="{E128BEF9-AA1B-C399-C537-A86A6753730A}"/>
              </a:ext>
            </a:extLst>
          </p:cNvPr>
          <p:cNvSpPr/>
          <p:nvPr/>
        </p:nvSpPr>
        <p:spPr>
          <a:xfrm>
            <a:off x="403685" y="862422"/>
            <a:ext cx="5612969" cy="726822"/>
          </a:xfrm>
          <a:prstGeom prst="rect">
            <a:avLst/>
          </a:prstGeom>
          <a:solidFill>
            <a:schemeClr val="accent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bg1"/>
                </a:solidFill>
                <a:latin typeface="Avenir Book" panose="02000503020000020003" pitchFamily="2" charset="0"/>
              </a:rPr>
              <a:t>Caregivers	</a:t>
            </a:r>
          </a:p>
        </p:txBody>
      </p:sp>
      <p:sp>
        <p:nvSpPr>
          <p:cNvPr id="11" name="Rectangle 10">
            <a:extLst>
              <a:ext uri="{FF2B5EF4-FFF2-40B4-BE49-F238E27FC236}">
                <a16:creationId xmlns:a16="http://schemas.microsoft.com/office/drawing/2014/main" id="{238B8973-C9EB-08E9-D1DD-10155A9DFD87}"/>
              </a:ext>
            </a:extLst>
          </p:cNvPr>
          <p:cNvSpPr/>
          <p:nvPr/>
        </p:nvSpPr>
        <p:spPr>
          <a:xfrm>
            <a:off x="6181030" y="862422"/>
            <a:ext cx="5612969" cy="726822"/>
          </a:xfrm>
          <a:prstGeom prst="rect">
            <a:avLst/>
          </a:prstGeom>
          <a:solidFill>
            <a:schemeClr val="accent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TW" altLang="en-US">
                <a:solidFill>
                  <a:schemeClr val="bg1"/>
                </a:solidFill>
                <a:latin typeface="Avenir Book" panose="02000503020000020003" pitchFamily="2" charset="0"/>
              </a:rPr>
              <a:t>                                 </a:t>
            </a:r>
            <a:r>
              <a:rPr lang="en-US" altLang="zh-TW" dirty="0">
                <a:solidFill>
                  <a:schemeClr val="bg1"/>
                </a:solidFill>
                <a:latin typeface="Avenir Book" panose="02000503020000020003" pitchFamily="2" charset="0"/>
              </a:rPr>
              <a:t>Patients	</a:t>
            </a:r>
            <a:r>
              <a:rPr lang="zh-TW" altLang="en-US">
                <a:solidFill>
                  <a:schemeClr val="bg1"/>
                </a:solidFill>
                <a:latin typeface="Avenir Book" panose="02000503020000020003" pitchFamily="2" charset="0"/>
              </a:rPr>
              <a:t>     </a:t>
            </a:r>
            <a:endParaRPr lang="en-US" altLang="zh-TW" dirty="0">
              <a:solidFill>
                <a:schemeClr val="bg1"/>
              </a:solidFill>
              <a:latin typeface="Avenir Book" panose="02000503020000020003" pitchFamily="2" charset="0"/>
            </a:endParaRPr>
          </a:p>
        </p:txBody>
      </p:sp>
      <p:pic>
        <p:nvPicPr>
          <p:cNvPr id="13" name="Picture 12" descr="A person and person smiling&#10;&#10;Description automatically generated">
            <a:extLst>
              <a:ext uri="{FF2B5EF4-FFF2-40B4-BE49-F238E27FC236}">
                <a16:creationId xmlns:a16="http://schemas.microsoft.com/office/drawing/2014/main" id="{0B2FAACE-4729-940F-79A1-FEC2D858BA6B}"/>
              </a:ext>
            </a:extLst>
          </p:cNvPr>
          <p:cNvPicPr>
            <a:picLocks noChangeAspect="1"/>
          </p:cNvPicPr>
          <p:nvPr/>
        </p:nvPicPr>
        <p:blipFill>
          <a:blip r:embed="rId2"/>
          <a:stretch>
            <a:fillRect/>
          </a:stretch>
        </p:blipFill>
        <p:spPr>
          <a:xfrm>
            <a:off x="3490061" y="912515"/>
            <a:ext cx="626636" cy="626636"/>
          </a:xfrm>
          <a:prstGeom prst="rect">
            <a:avLst/>
          </a:prstGeom>
        </p:spPr>
      </p:pic>
      <p:pic>
        <p:nvPicPr>
          <p:cNvPr id="14" name="Picture 13" descr="A person and person smiling&#10;&#10;Description automatically generated">
            <a:extLst>
              <a:ext uri="{FF2B5EF4-FFF2-40B4-BE49-F238E27FC236}">
                <a16:creationId xmlns:a16="http://schemas.microsoft.com/office/drawing/2014/main" id="{02B93CCC-A237-DEE2-7015-AB0C85CD6424}"/>
              </a:ext>
            </a:extLst>
          </p:cNvPr>
          <p:cNvPicPr>
            <a:picLocks noChangeAspect="1"/>
          </p:cNvPicPr>
          <p:nvPr/>
        </p:nvPicPr>
        <p:blipFill>
          <a:blip r:embed="rId3"/>
          <a:stretch>
            <a:fillRect/>
          </a:stretch>
        </p:blipFill>
        <p:spPr>
          <a:xfrm>
            <a:off x="9334248" y="890644"/>
            <a:ext cx="670378" cy="670378"/>
          </a:xfrm>
          <a:prstGeom prst="rect">
            <a:avLst/>
          </a:prstGeom>
        </p:spPr>
      </p:pic>
      <p:sp>
        <p:nvSpPr>
          <p:cNvPr id="4" name="TextBox 3">
            <a:extLst>
              <a:ext uri="{FF2B5EF4-FFF2-40B4-BE49-F238E27FC236}">
                <a16:creationId xmlns:a16="http://schemas.microsoft.com/office/drawing/2014/main" id="{727F33C4-EC33-1A13-6701-0B31230947D0}"/>
              </a:ext>
            </a:extLst>
          </p:cNvPr>
          <p:cNvSpPr txBox="1"/>
          <p:nvPr/>
        </p:nvSpPr>
        <p:spPr>
          <a:xfrm>
            <a:off x="7015053" y="509551"/>
            <a:ext cx="742511" cy="369332"/>
          </a:xfrm>
          <a:prstGeom prst="rect">
            <a:avLst/>
          </a:prstGeom>
          <a:noFill/>
        </p:spPr>
        <p:txBody>
          <a:bodyPr wrap="none" rtlCol="0">
            <a:spAutoFit/>
          </a:bodyPr>
          <a:lstStyle/>
          <a:p>
            <a:r>
              <a:rPr lang="en-US" dirty="0">
                <a:solidFill>
                  <a:srgbClr val="FF0000"/>
                </a:solidFill>
              </a:rPr>
              <a:t>13/20</a:t>
            </a:r>
            <a:endParaRPr lang="en-HK" dirty="0">
              <a:solidFill>
                <a:srgbClr val="FF0000"/>
              </a:solidFill>
            </a:endParaRPr>
          </a:p>
        </p:txBody>
      </p:sp>
    </p:spTree>
    <p:extLst>
      <p:ext uri="{BB962C8B-B14F-4D97-AF65-F5344CB8AC3E}">
        <p14:creationId xmlns:p14="http://schemas.microsoft.com/office/powerpoint/2010/main" val="792050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DAAD-E491-03D2-68E3-9E705A9E7C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B68E22-EC00-2191-0CD3-8A0BAAE9ACA2}"/>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312474A1-9105-C1AB-38A8-D21E5EFCC0A7}"/>
              </a:ext>
            </a:extLst>
          </p:cNvPr>
          <p:cNvSpPr txBox="1">
            <a:spLocks noGrp="1"/>
          </p:cNvSpPr>
          <p:nvPr>
            <p:ph type="title" idx="4294967295"/>
          </p:nvPr>
        </p:nvSpPr>
        <p:spPr>
          <a:xfrm>
            <a:off x="375976" y="333593"/>
            <a:ext cx="96286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1" dirty="0">
                <a:latin typeface="Avenir Book" panose="02000503020000020003" pitchFamily="2" charset="0"/>
                <a:ea typeface="+mn-ea"/>
                <a:cs typeface="Calibri"/>
              </a:rPr>
              <a:t>Solution</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grpSp>
        <p:nvGrpSpPr>
          <p:cNvPr id="2" name="Group 1">
            <a:extLst>
              <a:ext uri="{FF2B5EF4-FFF2-40B4-BE49-F238E27FC236}">
                <a16:creationId xmlns:a16="http://schemas.microsoft.com/office/drawing/2014/main" id="{F67DE372-544C-E2AF-570D-DA8315928CC0}"/>
              </a:ext>
            </a:extLst>
          </p:cNvPr>
          <p:cNvGrpSpPr/>
          <p:nvPr/>
        </p:nvGrpSpPr>
        <p:grpSpPr>
          <a:xfrm>
            <a:off x="505141" y="906799"/>
            <a:ext cx="11181719" cy="5527990"/>
            <a:chOff x="484630" y="906799"/>
            <a:chExt cx="11181719" cy="5527990"/>
          </a:xfrm>
        </p:grpSpPr>
        <p:sp>
          <p:nvSpPr>
            <p:cNvPr id="4" name="Rectangle 3">
              <a:extLst>
                <a:ext uri="{FF2B5EF4-FFF2-40B4-BE49-F238E27FC236}">
                  <a16:creationId xmlns:a16="http://schemas.microsoft.com/office/drawing/2014/main" id="{AC164D6F-5DCD-477F-D302-A2F636C0DFE2}"/>
                </a:ext>
              </a:extLst>
            </p:cNvPr>
            <p:cNvSpPr/>
            <p:nvPr/>
          </p:nvSpPr>
          <p:spPr>
            <a:xfrm>
              <a:off x="484630" y="906799"/>
              <a:ext cx="4138047" cy="552798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altLang="zh-TW" b="1" u="sng" dirty="0">
                  <a:solidFill>
                    <a:schemeClr val="accent1">
                      <a:lumMod val="50000"/>
                    </a:schemeClr>
                  </a:solidFill>
                  <a:latin typeface="Avenir Book" panose="02000503020000020003" pitchFamily="2" charset="0"/>
                </a:rPr>
                <a:t>Functional </a:t>
              </a:r>
              <a:r>
                <a:rPr lang="en-US" altLang="zh-TW" b="1" u="sng" dirty="0">
                  <a:solidFill>
                    <a:schemeClr val="accent1">
                      <a:lumMod val="50000"/>
                    </a:schemeClr>
                  </a:solidFill>
                  <a:latin typeface="Avenir Book" panose="02000503020000020003" pitchFamily="2" charset="0"/>
                </a:rPr>
                <a:t>Features</a:t>
              </a:r>
            </a:p>
            <a:p>
              <a:endParaRPr lang="en-US" altLang="zh-TW" sz="500" b="1" u="sng"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Proactive</a:t>
              </a:r>
              <a:r>
                <a:rPr lang="zh-TW" altLang="en-US" b="1"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guide</a:t>
              </a:r>
            </a:p>
            <a:p>
              <a:pPr marL="742950" lvl="1"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Conditionally pop-up</a:t>
              </a:r>
              <a:r>
                <a:rPr lang="en-GB" altLang="zh-TW" dirty="0">
                  <a:solidFill>
                    <a:schemeClr val="accent1">
                      <a:lumMod val="50000"/>
                    </a:schemeClr>
                  </a:solidFill>
                  <a:latin typeface="Avenir Book" panose="02000503020000020003" pitchFamily="2" charset="0"/>
                </a:rPr>
                <a:t> assistant</a:t>
              </a:r>
              <a:endParaRPr lang="en-US" altLang="zh-TW" dirty="0">
                <a:solidFill>
                  <a:schemeClr val="accent1">
                    <a:lumMod val="50000"/>
                  </a:schemeClr>
                </a:solidFill>
                <a:latin typeface="Avenir Book" panose="02000503020000020003" pitchFamily="2" charset="0"/>
              </a:endParaRPr>
            </a:p>
            <a:p>
              <a:pPr marL="742950" lvl="1"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Guide the user to </a:t>
              </a:r>
              <a:r>
                <a:rPr lang="en-GB" altLang="zh-TW" dirty="0">
                  <a:solidFill>
                    <a:schemeClr val="accent1">
                      <a:lumMod val="50000"/>
                    </a:schemeClr>
                  </a:solidFill>
                  <a:latin typeface="Avenir Book" panose="02000503020000020003" pitchFamily="2" charset="0"/>
                </a:rPr>
                <a:t>one of the </a:t>
              </a:r>
              <a:r>
                <a:rPr lang="en-US" altLang="zh-TW" dirty="0">
                  <a:solidFill>
                    <a:schemeClr val="accent1">
                      <a:lumMod val="50000"/>
                    </a:schemeClr>
                  </a:solidFill>
                  <a:latin typeface="Avenir Book" panose="02000503020000020003" pitchFamily="2" charset="0"/>
                </a:rPr>
                <a:t>preset locations, e.g., home</a:t>
              </a:r>
            </a:p>
            <a:p>
              <a:pPr lvl="1"/>
              <a:endParaRPr lang="en-US" altLang="zh-TW" sz="1100"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Timely</a:t>
              </a:r>
              <a:r>
                <a:rPr lang="zh-TW" altLang="en-US" b="1"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reminder</a:t>
              </a:r>
              <a:endParaRPr lang="en-GB" altLang="zh-TW" b="1" dirty="0">
                <a:solidFill>
                  <a:schemeClr val="accent1">
                    <a:lumMod val="50000"/>
                  </a:schemeClr>
                </a:solidFill>
                <a:latin typeface="Avenir Book" panose="02000503020000020003" pitchFamily="2" charset="0"/>
              </a:endParaRP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Pop up notifications according the schedule</a:t>
              </a:r>
            </a:p>
            <a:p>
              <a:pPr lvl="1"/>
              <a:endParaRPr lang="en-US" altLang="zh-TW" sz="1100"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Collaborative</a:t>
              </a:r>
              <a:r>
                <a:rPr lang="zh-TW" altLang="en-US" b="1"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schedule</a:t>
              </a:r>
            </a:p>
            <a:p>
              <a:pPr marL="742950" lvl="1"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Caregivers, including family, can help construct the daily schedule for patients through their phones</a:t>
              </a:r>
            </a:p>
            <a:p>
              <a:pPr lvl="1"/>
              <a:endParaRPr lang="en-US" altLang="zh-TW" sz="1100"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b="1" dirty="0">
                  <a:solidFill>
                    <a:schemeClr val="accent1">
                      <a:lumMod val="50000"/>
                    </a:schemeClr>
                  </a:solidFill>
                  <a:latin typeface="Avenir Book" panose="02000503020000020003" pitchFamily="2" charset="0"/>
                </a:rPr>
                <a:t>Informative tracking to caregiver</a:t>
              </a:r>
              <a:endParaRPr lang="en-GB" altLang="zh-TW" b="1" dirty="0">
                <a:solidFill>
                  <a:schemeClr val="accent1">
                    <a:lumMod val="50000"/>
                  </a:schemeClr>
                </a:solidFill>
                <a:latin typeface="Avenir Book" panose="02000503020000020003" pitchFamily="2" charset="0"/>
              </a:endParaRPr>
            </a:p>
            <a:p>
              <a:pPr marL="742950" lvl="1"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Synchronized geographical information will be displayed on caregivers’ devices</a:t>
              </a:r>
              <a:endParaRPr lang="en-US" altLang="zh-TW" dirty="0">
                <a:solidFill>
                  <a:schemeClr val="accent1">
                    <a:lumMod val="50000"/>
                  </a:schemeClr>
                </a:solidFill>
                <a:latin typeface="Avenir Book" panose="02000503020000020003" pitchFamily="2" charset="0"/>
              </a:endParaRPr>
            </a:p>
          </p:txBody>
        </p:sp>
        <p:sp>
          <p:nvSpPr>
            <p:cNvPr id="6" name="Rectangle 5">
              <a:extLst>
                <a:ext uri="{FF2B5EF4-FFF2-40B4-BE49-F238E27FC236}">
                  <a16:creationId xmlns:a16="http://schemas.microsoft.com/office/drawing/2014/main" id="{99CE2F52-8835-E9DA-9361-803199D3B069}"/>
                </a:ext>
              </a:extLst>
            </p:cNvPr>
            <p:cNvSpPr/>
            <p:nvPr/>
          </p:nvSpPr>
          <p:spPr>
            <a:xfrm>
              <a:off x="4826431" y="906802"/>
              <a:ext cx="6839918" cy="265021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Gain</a:t>
              </a:r>
              <a:r>
                <a:rPr lang="zh-TW" altLang="en-US" b="1" u="sng" dirty="0">
                  <a:solidFill>
                    <a:schemeClr val="accent1">
                      <a:lumMod val="50000"/>
                    </a:schemeClr>
                  </a:solidFill>
                  <a:latin typeface="Avenir Book" panose="02000503020000020003" pitchFamily="2" charset="0"/>
                </a:rPr>
                <a:t> </a:t>
              </a:r>
              <a:r>
                <a:rPr lang="en-US" altLang="zh-TW" b="1" u="sng" dirty="0">
                  <a:solidFill>
                    <a:schemeClr val="accent1">
                      <a:lumMod val="50000"/>
                    </a:schemeClr>
                  </a:solidFill>
                  <a:latin typeface="Avenir Book" panose="02000503020000020003" pitchFamily="2" charset="0"/>
                </a:rPr>
                <a:t>creator</a:t>
              </a:r>
              <a:r>
                <a:rPr lang="en-GB" altLang="zh-TW" b="1" u="sng" dirty="0">
                  <a:solidFill>
                    <a:schemeClr val="accent1">
                      <a:lumMod val="50000"/>
                    </a:schemeClr>
                  </a:solidFill>
                  <a:latin typeface="Avenir Book" panose="02000503020000020003" pitchFamily="2" charset="0"/>
                </a:rPr>
                <a:t>s</a:t>
              </a:r>
            </a:p>
            <a:p>
              <a:endParaRPr lang="en-GB" altLang="zh-TW" sz="500" b="1" u="sng"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Proactive guide ensure the </a:t>
              </a:r>
              <a:r>
                <a:rPr lang="en-GB" altLang="zh-TW" b="1" dirty="0">
                  <a:solidFill>
                    <a:schemeClr val="accent1">
                      <a:lumMod val="50000"/>
                    </a:schemeClr>
                  </a:solidFill>
                  <a:latin typeface="Avenir Book" panose="02000503020000020003" pitchFamily="2" charset="0"/>
                </a:rPr>
                <a:t>safety</a:t>
              </a:r>
              <a:r>
                <a:rPr lang="en-GB" altLang="zh-TW" dirty="0">
                  <a:solidFill>
                    <a:schemeClr val="accent1">
                      <a:lumMod val="50000"/>
                    </a:schemeClr>
                  </a:solidFill>
                  <a:latin typeface="Avenir Book" panose="02000503020000020003" pitchFamily="2" charset="0"/>
                </a:rPr>
                <a:t> and </a:t>
              </a:r>
              <a:r>
                <a:rPr lang="en-GB" altLang="zh-TW" b="1" dirty="0">
                  <a:solidFill>
                    <a:schemeClr val="accent1">
                      <a:lumMod val="50000"/>
                    </a:schemeClr>
                  </a:solidFill>
                  <a:latin typeface="Avenir Book" panose="02000503020000020003" pitchFamily="2" charset="0"/>
                </a:rPr>
                <a:t>security</a:t>
              </a:r>
              <a:r>
                <a:rPr lang="en-GB" altLang="zh-TW" dirty="0">
                  <a:solidFill>
                    <a:schemeClr val="accent1">
                      <a:lumMod val="50000"/>
                    </a:schemeClr>
                  </a:solidFill>
                  <a:latin typeface="Avenir Book" panose="02000503020000020003" pitchFamily="2" charset="0"/>
                </a:rPr>
                <a:t> of users with the </a:t>
              </a:r>
              <a:r>
                <a:rPr lang="en-GB" altLang="zh-TW" b="1" dirty="0">
                  <a:solidFill>
                    <a:schemeClr val="accent1">
                      <a:lumMod val="50000"/>
                    </a:schemeClr>
                  </a:solidFill>
                  <a:latin typeface="Avenir Book" panose="02000503020000020003" pitchFamily="2" charset="0"/>
                </a:rPr>
                <a:t>risk of getting lost</a:t>
              </a:r>
              <a:r>
                <a:rPr lang="en-GB" altLang="zh-TW" dirty="0">
                  <a:solidFill>
                    <a:schemeClr val="accent1">
                      <a:lumMod val="50000"/>
                    </a:schemeClr>
                  </a:solidFill>
                  <a:latin typeface="Avenir Book" panose="02000503020000020003" pitchFamily="2" charset="0"/>
                </a:rPr>
                <a:t>, allowing them to go back </a:t>
              </a:r>
              <a:r>
                <a:rPr lang="en-GB" altLang="zh-TW" b="1" dirty="0">
                  <a:solidFill>
                    <a:schemeClr val="accent1">
                      <a:lumMod val="50000"/>
                    </a:schemeClr>
                  </a:solidFill>
                  <a:latin typeface="Avenir Book" panose="02000503020000020003" pitchFamily="2" charset="0"/>
                </a:rPr>
                <a:t>safety zone </a:t>
              </a:r>
              <a:r>
                <a:rPr lang="en-GB" altLang="zh-TW" dirty="0">
                  <a:solidFill>
                    <a:schemeClr val="accent1">
                      <a:lumMod val="50000"/>
                    </a:schemeClr>
                  </a:solidFill>
                  <a:latin typeface="Avenir Book" panose="02000503020000020003" pitchFamily="2" charset="0"/>
                </a:rPr>
                <a:t>by </a:t>
              </a:r>
              <a:r>
                <a:rPr lang="en-GB" altLang="zh-TW" b="1" dirty="0">
                  <a:solidFill>
                    <a:schemeClr val="accent1">
                      <a:lumMod val="50000"/>
                    </a:schemeClr>
                  </a:solidFill>
                  <a:latin typeface="Avenir Book" panose="02000503020000020003" pitchFamily="2" charset="0"/>
                </a:rPr>
                <a:t>themselves</a:t>
              </a:r>
            </a:p>
            <a:p>
              <a:pPr marL="285750" indent="-285750">
                <a:buFont typeface="Arial" panose="020B0604020202020204" pitchFamily="34" charset="0"/>
                <a:buChar char="•"/>
              </a:pPr>
              <a:endParaRPr lang="en-GB" altLang="zh-TW"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b="1" dirty="0">
                  <a:solidFill>
                    <a:schemeClr val="accent1">
                      <a:lumMod val="50000"/>
                    </a:schemeClr>
                  </a:solidFill>
                  <a:latin typeface="Avenir Book" panose="02000503020000020003" pitchFamily="2" charset="0"/>
                </a:rPr>
                <a:t>Timely reminder</a:t>
              </a:r>
              <a:r>
                <a:rPr lang="en-GB" altLang="zh-TW" dirty="0">
                  <a:solidFill>
                    <a:schemeClr val="accent1">
                      <a:lumMod val="50000"/>
                    </a:schemeClr>
                  </a:solidFill>
                  <a:latin typeface="Avenir Book" panose="02000503020000020003" pitchFamily="2" charset="0"/>
                </a:rPr>
                <a:t> and </a:t>
              </a:r>
              <a:r>
                <a:rPr lang="en-GB" altLang="zh-TW" b="1" dirty="0">
                  <a:solidFill>
                    <a:schemeClr val="accent1">
                      <a:lumMod val="50000"/>
                    </a:schemeClr>
                  </a:solidFill>
                  <a:latin typeface="Avenir Book" panose="02000503020000020003" pitchFamily="2" charset="0"/>
                </a:rPr>
                <a:t>collaborative schedule </a:t>
              </a:r>
              <a:r>
                <a:rPr lang="en-GB" altLang="zh-TW" dirty="0">
                  <a:solidFill>
                    <a:schemeClr val="accent1">
                      <a:lumMod val="50000"/>
                    </a:schemeClr>
                  </a:solidFill>
                  <a:latin typeface="Avenir Book" panose="02000503020000020003" pitchFamily="2" charset="0"/>
                </a:rPr>
                <a:t>help user to </a:t>
              </a:r>
              <a:r>
                <a:rPr lang="en-GB" altLang="zh-TW" b="1" dirty="0">
                  <a:solidFill>
                    <a:schemeClr val="accent1">
                      <a:lumMod val="50000"/>
                    </a:schemeClr>
                  </a:solidFill>
                  <a:latin typeface="Avenir Book" panose="02000503020000020003" pitchFamily="2" charset="0"/>
                </a:rPr>
                <a:t>remember</a:t>
              </a:r>
              <a:r>
                <a:rPr lang="en-GB" altLang="zh-TW" dirty="0">
                  <a:solidFill>
                    <a:schemeClr val="accent1">
                      <a:lumMod val="50000"/>
                    </a:schemeClr>
                  </a:solidFill>
                  <a:latin typeface="Avenir Book" panose="02000503020000020003" pitchFamily="2" charset="0"/>
                </a:rPr>
                <a:t> and </a:t>
              </a:r>
              <a:r>
                <a:rPr lang="en-GB" altLang="zh-TW" b="1" dirty="0">
                  <a:solidFill>
                    <a:schemeClr val="accent1">
                      <a:lumMod val="50000"/>
                    </a:schemeClr>
                  </a:solidFill>
                  <a:latin typeface="Avenir Book" panose="02000503020000020003" pitchFamily="2" charset="0"/>
                </a:rPr>
                <a:t>perform</a:t>
              </a:r>
              <a:r>
                <a:rPr lang="en-GB" altLang="zh-TW" dirty="0">
                  <a:solidFill>
                    <a:schemeClr val="accent1">
                      <a:lumMod val="50000"/>
                    </a:schemeClr>
                  </a:solidFill>
                  <a:latin typeface="Avenir Book" panose="02000503020000020003" pitchFamily="2" charset="0"/>
                </a:rPr>
                <a:t> daily administrative tasks</a:t>
              </a:r>
            </a:p>
          </p:txBody>
        </p:sp>
        <p:sp>
          <p:nvSpPr>
            <p:cNvPr id="8" name="Rectangle 7">
              <a:extLst>
                <a:ext uri="{FF2B5EF4-FFF2-40B4-BE49-F238E27FC236}">
                  <a16:creationId xmlns:a16="http://schemas.microsoft.com/office/drawing/2014/main" id="{5731DB13-7B8D-CB11-9638-71F26C7D1E2C}"/>
                </a:ext>
              </a:extLst>
            </p:cNvPr>
            <p:cNvSpPr/>
            <p:nvPr/>
          </p:nvSpPr>
          <p:spPr>
            <a:xfrm>
              <a:off x="4826431" y="3784579"/>
              <a:ext cx="6839918" cy="265021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TW" b="1" u="sng" dirty="0">
                  <a:solidFill>
                    <a:schemeClr val="accent1">
                      <a:lumMod val="50000"/>
                    </a:schemeClr>
                  </a:solidFill>
                  <a:latin typeface="Avenir Book" panose="02000503020000020003" pitchFamily="2" charset="0"/>
                </a:rPr>
                <a:t>Pain</a:t>
              </a:r>
              <a:r>
                <a:rPr lang="zh-TW" altLang="en-US" b="1" u="sng" dirty="0">
                  <a:solidFill>
                    <a:schemeClr val="accent1">
                      <a:lumMod val="50000"/>
                    </a:schemeClr>
                  </a:solidFill>
                  <a:latin typeface="Avenir Book" panose="02000503020000020003" pitchFamily="2" charset="0"/>
                </a:rPr>
                <a:t> </a:t>
              </a:r>
              <a:r>
                <a:rPr lang="en-US" altLang="zh-TW" b="1" u="sng" dirty="0">
                  <a:solidFill>
                    <a:schemeClr val="accent1">
                      <a:lumMod val="50000"/>
                    </a:schemeClr>
                  </a:solidFill>
                  <a:latin typeface="Avenir Book" panose="02000503020000020003" pitchFamily="2" charset="0"/>
                </a:rPr>
                <a:t>relievers</a:t>
              </a:r>
              <a:endParaRPr lang="en-GB" altLang="zh-TW" b="1" u="sng" dirty="0">
                <a:solidFill>
                  <a:schemeClr val="accent1">
                    <a:lumMod val="50000"/>
                  </a:schemeClr>
                </a:solidFill>
                <a:latin typeface="Avenir Book" panose="02000503020000020003" pitchFamily="2" charset="0"/>
              </a:endParaRPr>
            </a:p>
            <a:p>
              <a:endParaRPr lang="en-GB" altLang="zh-TW" sz="500" b="1" u="sng"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GB" altLang="zh-TW" dirty="0">
                  <a:solidFill>
                    <a:schemeClr val="accent1">
                      <a:lumMod val="50000"/>
                    </a:schemeClr>
                  </a:solidFill>
                  <a:latin typeface="Avenir Book" panose="02000503020000020003" pitchFamily="2" charset="0"/>
                </a:rPr>
                <a:t>Informative tracking allows caregivers to give a </a:t>
              </a:r>
              <a:r>
                <a:rPr lang="en-GB" altLang="zh-TW" b="1" dirty="0">
                  <a:solidFill>
                    <a:schemeClr val="accent1">
                      <a:lumMod val="50000"/>
                    </a:schemeClr>
                  </a:solidFill>
                  <a:latin typeface="Avenir Book" panose="02000503020000020003" pitchFamily="2" charset="0"/>
                </a:rPr>
                <a:t>real time locational care</a:t>
              </a:r>
              <a:r>
                <a:rPr lang="en-GB" altLang="zh-TW" dirty="0">
                  <a:solidFill>
                    <a:schemeClr val="accent1">
                      <a:lumMod val="50000"/>
                    </a:schemeClr>
                  </a:solidFill>
                  <a:latin typeface="Avenir Book" panose="02000503020000020003" pitchFamily="2" charset="0"/>
                </a:rPr>
                <a:t> to patient and certainly releases their worries during working</a:t>
              </a:r>
            </a:p>
            <a:p>
              <a:pPr marL="285750" indent="-285750">
                <a:buFont typeface="Arial" panose="020B0604020202020204" pitchFamily="34" charset="0"/>
                <a:buChar char="•"/>
              </a:pPr>
              <a:endParaRPr lang="en-GB" altLang="zh-TW" dirty="0">
                <a:solidFill>
                  <a:schemeClr val="accent1">
                    <a:lumMod val="50000"/>
                  </a:schemeClr>
                </a:solidFill>
                <a:latin typeface="Avenir Book" panose="02000503020000020003" pitchFamily="2" charset="0"/>
              </a:endParaRPr>
            </a:p>
            <a:p>
              <a:pPr marL="285750" indent="-285750">
                <a:buFont typeface="Arial" panose="020B0604020202020204" pitchFamily="34" charset="0"/>
                <a:buChar char="•"/>
              </a:pPr>
              <a:r>
                <a:rPr lang="en-US" altLang="zh-TW" dirty="0">
                  <a:solidFill>
                    <a:schemeClr val="accent1">
                      <a:lumMod val="50000"/>
                    </a:schemeClr>
                  </a:solidFill>
                  <a:latin typeface="Avenir Book" panose="02000503020000020003" pitchFamily="2" charset="0"/>
                </a:rPr>
                <a:t>Water-proof</a:t>
              </a:r>
              <a:r>
                <a:rPr lang="zh-TW" altLang="en-US" dirty="0">
                  <a:solidFill>
                    <a:schemeClr val="accent1">
                      <a:lumMod val="50000"/>
                    </a:schemeClr>
                  </a:solidFill>
                  <a:latin typeface="Avenir Book" panose="02000503020000020003" pitchFamily="2" charset="0"/>
                </a:rPr>
                <a:t> </a:t>
              </a:r>
              <a:r>
                <a:rPr lang="en-US" altLang="zh-TW" b="1" dirty="0">
                  <a:solidFill>
                    <a:schemeClr val="accent1">
                      <a:lumMod val="50000"/>
                    </a:schemeClr>
                  </a:solidFill>
                  <a:latin typeface="Avenir Book" panose="02000503020000020003" pitchFamily="2" charset="0"/>
                </a:rPr>
                <a:t>wearable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device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minimize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chance</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of</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forgetting</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bring</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it</a:t>
              </a:r>
              <a:r>
                <a:rPr lang="zh-TW" altLang="en-US" dirty="0">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along</a:t>
              </a:r>
              <a:endParaRPr lang="en-US" dirty="0">
                <a:solidFill>
                  <a:schemeClr val="accent1">
                    <a:lumMod val="50000"/>
                  </a:schemeClr>
                </a:solidFill>
                <a:latin typeface="Avenir Book" panose="02000503020000020003" pitchFamily="2" charset="0"/>
              </a:endParaRPr>
            </a:p>
          </p:txBody>
        </p:sp>
      </p:grpSp>
      <p:sp>
        <p:nvSpPr>
          <p:cNvPr id="3" name="TextBox 2">
            <a:extLst>
              <a:ext uri="{FF2B5EF4-FFF2-40B4-BE49-F238E27FC236}">
                <a16:creationId xmlns:a16="http://schemas.microsoft.com/office/drawing/2014/main" id="{6462B534-2A57-2523-1E3C-646944FC533F}"/>
              </a:ext>
            </a:extLst>
          </p:cNvPr>
          <p:cNvSpPr txBox="1"/>
          <p:nvPr/>
        </p:nvSpPr>
        <p:spPr>
          <a:xfrm>
            <a:off x="1877661" y="286897"/>
            <a:ext cx="5898229" cy="646331"/>
          </a:xfrm>
          <a:prstGeom prst="rect">
            <a:avLst/>
          </a:prstGeom>
          <a:noFill/>
        </p:spPr>
        <p:txBody>
          <a:bodyPr wrap="square" rtlCol="0">
            <a:spAutoFit/>
          </a:bodyPr>
          <a:lstStyle/>
          <a:p>
            <a:r>
              <a:rPr lang="en-US" dirty="0">
                <a:solidFill>
                  <a:srgbClr val="FF0000"/>
                </a:solidFill>
              </a:rPr>
              <a:t>Your solution is very similar to many available in the market. How do you compete in the market?  </a:t>
            </a:r>
            <a:endParaRPr lang="en-HK" dirty="0">
              <a:solidFill>
                <a:srgbClr val="FF0000"/>
              </a:solidFill>
            </a:endParaRPr>
          </a:p>
        </p:txBody>
      </p:sp>
    </p:spTree>
    <p:extLst>
      <p:ext uri="{BB962C8B-B14F-4D97-AF65-F5344CB8AC3E}">
        <p14:creationId xmlns:p14="http://schemas.microsoft.com/office/powerpoint/2010/main" val="3882500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Title 6">
            <a:extLst>
              <a:ext uri="{FF2B5EF4-FFF2-40B4-BE49-F238E27FC236}">
                <a16:creationId xmlns:a16="http://schemas.microsoft.com/office/drawing/2014/main" id="{10A5C1BE-165F-955F-63A9-5831FF325B4A}"/>
              </a:ext>
            </a:extLst>
          </p:cNvPr>
          <p:cNvSpPr txBox="1">
            <a:spLocks/>
          </p:cNvSpPr>
          <p:nvPr/>
        </p:nvSpPr>
        <p:spPr>
          <a:xfrm>
            <a:off x="375976" y="333593"/>
            <a:ext cx="444540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US" altLang="zh-TW" sz="2000" b="1" dirty="0">
                <a:latin typeface="Avenir Book" panose="02000503020000020003" pitchFamily="2" charset="0"/>
                <a:ea typeface="+mn-ea"/>
                <a:cs typeface="Calibri"/>
              </a:rPr>
              <a:t>Solution -</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Configuration</a:t>
            </a:r>
            <a:endParaRPr lang="en-US" sz="1800" dirty="0">
              <a:latin typeface="Avenir Book" panose="02000503020000020003" pitchFamily="2" charset="0"/>
              <a:ea typeface="+mn-ea"/>
              <a:cs typeface="+mn-cs"/>
            </a:endParaRPr>
          </a:p>
        </p:txBody>
      </p:sp>
      <p:grpSp>
        <p:nvGrpSpPr>
          <p:cNvPr id="40" name="Group 39">
            <a:extLst>
              <a:ext uri="{FF2B5EF4-FFF2-40B4-BE49-F238E27FC236}">
                <a16:creationId xmlns:a16="http://schemas.microsoft.com/office/drawing/2014/main" id="{A6F14101-D848-1285-A211-1CB2FFF683A3}"/>
              </a:ext>
            </a:extLst>
          </p:cNvPr>
          <p:cNvGrpSpPr/>
          <p:nvPr/>
        </p:nvGrpSpPr>
        <p:grpSpPr>
          <a:xfrm>
            <a:off x="714374" y="0"/>
            <a:ext cx="8806669" cy="7320712"/>
            <a:chOff x="714374" y="0"/>
            <a:chExt cx="8806669" cy="7320712"/>
          </a:xfrm>
        </p:grpSpPr>
        <p:grpSp>
          <p:nvGrpSpPr>
            <p:cNvPr id="25" name="Group 24">
              <a:extLst>
                <a:ext uri="{FF2B5EF4-FFF2-40B4-BE49-F238E27FC236}">
                  <a16:creationId xmlns:a16="http://schemas.microsoft.com/office/drawing/2014/main" id="{0DC7EB43-6014-A188-683E-FCB2757A3B3B}"/>
                </a:ext>
              </a:extLst>
            </p:cNvPr>
            <p:cNvGrpSpPr/>
            <p:nvPr/>
          </p:nvGrpSpPr>
          <p:grpSpPr>
            <a:xfrm>
              <a:off x="2756685" y="0"/>
              <a:ext cx="6764358" cy="7320712"/>
              <a:chOff x="6789841" y="0"/>
              <a:chExt cx="6764358" cy="7320712"/>
            </a:xfrm>
          </p:grpSpPr>
          <p:grpSp>
            <p:nvGrpSpPr>
              <p:cNvPr id="10" name="Group 9">
                <a:extLst>
                  <a:ext uri="{FF2B5EF4-FFF2-40B4-BE49-F238E27FC236}">
                    <a16:creationId xmlns:a16="http://schemas.microsoft.com/office/drawing/2014/main" id="{D3E09FEA-8314-AE4F-39ED-52BA65E452F8}"/>
                  </a:ext>
                </a:extLst>
              </p:cNvPr>
              <p:cNvGrpSpPr/>
              <p:nvPr/>
            </p:nvGrpSpPr>
            <p:grpSpPr>
              <a:xfrm>
                <a:off x="6789841" y="0"/>
                <a:ext cx="6764358" cy="7320712"/>
                <a:chOff x="6424670" y="58882"/>
                <a:chExt cx="6435688" cy="6858000"/>
              </a:xfrm>
            </p:grpSpPr>
            <p:pic>
              <p:nvPicPr>
                <p:cNvPr id="8" name="Picture 7" descr="A close up of a watch&#10;&#10;Description automatically generated">
                  <a:extLst>
                    <a:ext uri="{FF2B5EF4-FFF2-40B4-BE49-F238E27FC236}">
                      <a16:creationId xmlns:a16="http://schemas.microsoft.com/office/drawing/2014/main" id="{EF350EDF-630E-FB71-D4C1-084F983C84E3}"/>
                    </a:ext>
                  </a:extLst>
                </p:cNvPr>
                <p:cNvPicPr>
                  <a:picLocks noChangeAspect="1"/>
                </p:cNvPicPr>
                <p:nvPr/>
              </p:nvPicPr>
              <p:blipFill>
                <a:blip r:embed="rId3"/>
                <a:stretch>
                  <a:fillRect/>
                </a:stretch>
              </p:blipFill>
              <p:spPr>
                <a:xfrm>
                  <a:off x="6424670" y="58882"/>
                  <a:ext cx="6435688" cy="6858000"/>
                </a:xfrm>
                <a:prstGeom prst="rect">
                  <a:avLst/>
                </a:prstGeom>
              </p:spPr>
            </p:pic>
            <p:sp>
              <p:nvSpPr>
                <p:cNvPr id="9" name="Rectangle 8">
                  <a:extLst>
                    <a:ext uri="{FF2B5EF4-FFF2-40B4-BE49-F238E27FC236}">
                      <a16:creationId xmlns:a16="http://schemas.microsoft.com/office/drawing/2014/main" id="{99FE0A2A-C038-F68F-01F0-8691ED63E694}"/>
                    </a:ext>
                  </a:extLst>
                </p:cNvPr>
                <p:cNvSpPr/>
                <p:nvPr/>
              </p:nvSpPr>
              <p:spPr>
                <a:xfrm>
                  <a:off x="9136823" y="3324497"/>
                  <a:ext cx="1011381" cy="423554"/>
                </a:xfrm>
                <a:prstGeom prst="rect">
                  <a:avLst/>
                </a:prstGeom>
                <a:solidFill>
                  <a:srgbClr val="20201F"/>
                </a:solidFill>
                <a:ln>
                  <a:solidFill>
                    <a:srgbClr val="202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4" name="Picture 23" descr="A screenshot of a phone&#10;&#10;Description automatically generated">
                <a:extLst>
                  <a:ext uri="{FF2B5EF4-FFF2-40B4-BE49-F238E27FC236}">
                    <a16:creationId xmlns:a16="http://schemas.microsoft.com/office/drawing/2014/main" id="{7DC8CE58-4551-1CBD-B037-AF9EDE790394}"/>
                  </a:ext>
                </a:extLst>
              </p:cNvPr>
              <p:cNvPicPr>
                <a:picLocks noChangeAspect="1"/>
              </p:cNvPicPr>
              <p:nvPr/>
            </p:nvPicPr>
            <p:blipFill>
              <a:blip r:embed="rId4"/>
              <a:stretch>
                <a:fillRect/>
              </a:stretch>
            </p:blipFill>
            <p:spPr>
              <a:xfrm>
                <a:off x="7962900" y="1535471"/>
                <a:ext cx="4229100" cy="4229100"/>
              </a:xfrm>
              <a:prstGeom prst="rect">
                <a:avLst/>
              </a:prstGeom>
            </p:spPr>
          </p:pic>
        </p:grpSp>
        <p:sp>
          <p:nvSpPr>
            <p:cNvPr id="6" name="Rounded Rectangle 5">
              <a:extLst>
                <a:ext uri="{FF2B5EF4-FFF2-40B4-BE49-F238E27FC236}">
                  <a16:creationId xmlns:a16="http://schemas.microsoft.com/office/drawing/2014/main" id="{9CF482B9-3FC0-6099-E6E9-046E7D8941DE}"/>
                </a:ext>
              </a:extLst>
            </p:cNvPr>
            <p:cNvSpPr/>
            <p:nvPr/>
          </p:nvSpPr>
          <p:spPr>
            <a:xfrm>
              <a:off x="714374" y="2831244"/>
              <a:ext cx="3172504" cy="134302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rPr>
                <a:t>Speaker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instruct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elderly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vibration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sound</a:t>
              </a:r>
              <a:endParaRPr lang="en-US" dirty="0">
                <a:solidFill>
                  <a:schemeClr val="accent1">
                    <a:lumMod val="50000"/>
                  </a:schemeClr>
                </a:solidFill>
                <a:latin typeface="Avenir Book" panose="02000503020000020003" pitchFamily="2" charset="0"/>
              </a:endParaRPr>
            </a:p>
          </p:txBody>
        </p:sp>
        <p:sp>
          <p:nvSpPr>
            <p:cNvPr id="7" name="Rounded Rectangle 6">
              <a:extLst>
                <a:ext uri="{FF2B5EF4-FFF2-40B4-BE49-F238E27FC236}">
                  <a16:creationId xmlns:a16="http://schemas.microsoft.com/office/drawing/2014/main" id="{C565A148-9F64-6098-D952-BE83560870A2}"/>
                </a:ext>
              </a:extLst>
            </p:cNvPr>
            <p:cNvSpPr/>
            <p:nvPr/>
          </p:nvSpPr>
          <p:spPr>
            <a:xfrm>
              <a:off x="714374" y="4500563"/>
              <a:ext cx="3172503" cy="1343025"/>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rPr>
                <a:t>Solar-powered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battery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with</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long</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battery</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life</a:t>
              </a:r>
              <a:endParaRPr lang="en-US" dirty="0">
                <a:solidFill>
                  <a:schemeClr val="accent1">
                    <a:lumMod val="50000"/>
                  </a:schemeClr>
                </a:solidFill>
                <a:latin typeface="Avenir Book" panose="02000503020000020003" pitchFamily="2" charset="0"/>
              </a:endParaRPr>
            </a:p>
          </p:txBody>
        </p:sp>
        <p:sp>
          <p:nvSpPr>
            <p:cNvPr id="17" name="Rounded Rectangle 16">
              <a:extLst>
                <a:ext uri="{FF2B5EF4-FFF2-40B4-BE49-F238E27FC236}">
                  <a16:creationId xmlns:a16="http://schemas.microsoft.com/office/drawing/2014/main" id="{548311C1-190A-9992-47AA-FA6955B5FE57}"/>
                </a:ext>
              </a:extLst>
            </p:cNvPr>
            <p:cNvSpPr/>
            <p:nvPr/>
          </p:nvSpPr>
          <p:spPr>
            <a:xfrm>
              <a:off x="714374" y="914453"/>
              <a:ext cx="3172504" cy="1665606"/>
            </a:xfrm>
            <a:prstGeom prst="round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accent1">
                      <a:lumMod val="50000"/>
                    </a:schemeClr>
                  </a:solidFill>
                  <a:latin typeface="Avenir Book" panose="02000503020000020003" pitchFamily="2" charset="0"/>
                </a:rPr>
                <a:t>No</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touchscreen</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reduce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the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power</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consumed,</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more</a:t>
              </a:r>
              <a:r>
                <a:rPr lang="zh-TW" altLang="en-US">
                  <a:solidFill>
                    <a:schemeClr val="accent1">
                      <a:lumMod val="50000"/>
                    </a:schemeClr>
                  </a:solidFill>
                  <a:latin typeface="Avenir Book" panose="02000503020000020003" pitchFamily="2" charset="0"/>
                </a:rPr>
                <a:t> </a:t>
              </a:r>
              <a:r>
                <a:rPr lang="en-US" altLang="zh-TW" dirty="0">
                  <a:solidFill>
                    <a:schemeClr val="accent1">
                      <a:lumMod val="50000"/>
                    </a:schemeClr>
                  </a:solidFill>
                  <a:latin typeface="Avenir Book" panose="02000503020000020003" pitchFamily="2" charset="0"/>
                </a:rPr>
                <a:t>elderly-friendly</a:t>
              </a:r>
              <a:endParaRPr lang="en-US" dirty="0">
                <a:solidFill>
                  <a:schemeClr val="accent1">
                    <a:lumMod val="50000"/>
                  </a:schemeClr>
                </a:solidFill>
                <a:latin typeface="Avenir Book" panose="02000503020000020003" pitchFamily="2" charset="0"/>
              </a:endParaRPr>
            </a:p>
          </p:txBody>
        </p:sp>
        <p:cxnSp>
          <p:nvCxnSpPr>
            <p:cNvPr id="20" name="Elbow Connector 19">
              <a:extLst>
                <a:ext uri="{FF2B5EF4-FFF2-40B4-BE49-F238E27FC236}">
                  <a16:creationId xmlns:a16="http://schemas.microsoft.com/office/drawing/2014/main" id="{5ABF66A8-1C8D-E39D-97F8-6ED7BF5CD9F9}"/>
                </a:ext>
              </a:extLst>
            </p:cNvPr>
            <p:cNvCxnSpPr>
              <a:cxnSpLocks/>
              <a:stCxn id="6" idx="3"/>
            </p:cNvCxnSpPr>
            <p:nvPr/>
          </p:nvCxnSpPr>
          <p:spPr>
            <a:xfrm>
              <a:off x="3886878" y="3502757"/>
              <a:ext cx="681099" cy="147264"/>
            </a:xfrm>
            <a:prstGeom prst="bentConnector3">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96B01863-0B25-1E4A-67C4-1C5E5B0FE775}"/>
                </a:ext>
              </a:extLst>
            </p:cNvPr>
            <p:cNvCxnSpPr>
              <a:cxnSpLocks/>
            </p:cNvCxnSpPr>
            <p:nvPr/>
          </p:nvCxnSpPr>
          <p:spPr>
            <a:xfrm flipV="1">
              <a:off x="3886877" y="4568811"/>
              <a:ext cx="691530" cy="616681"/>
            </a:xfrm>
            <a:prstGeom prst="bentConnector3">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9DE74738-571F-837E-F081-D2BAEF693E78}"/>
                </a:ext>
              </a:extLst>
            </p:cNvPr>
            <p:cNvCxnSpPr>
              <a:cxnSpLocks/>
              <a:stCxn id="17" idx="3"/>
            </p:cNvCxnSpPr>
            <p:nvPr/>
          </p:nvCxnSpPr>
          <p:spPr>
            <a:xfrm flipV="1">
              <a:off x="3886878" y="1672508"/>
              <a:ext cx="1415105" cy="74748"/>
            </a:xfrm>
            <a:prstGeom prst="bentConnector3">
              <a:avLst>
                <a:gd name="adj1" fmla="val 50000"/>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39" name="Picture 38" descr="A screenshot of a phone&#10;&#10;Description automatically generated">
            <a:extLst>
              <a:ext uri="{FF2B5EF4-FFF2-40B4-BE49-F238E27FC236}">
                <a16:creationId xmlns:a16="http://schemas.microsoft.com/office/drawing/2014/main" id="{8BDBBE44-8AB9-F456-FC6D-5F51204C34DC}"/>
              </a:ext>
            </a:extLst>
          </p:cNvPr>
          <p:cNvPicPr>
            <a:picLocks noChangeAspect="1"/>
          </p:cNvPicPr>
          <p:nvPr/>
        </p:nvPicPr>
        <p:blipFill>
          <a:blip r:embed="rId5"/>
          <a:stretch>
            <a:fillRect/>
          </a:stretch>
        </p:blipFill>
        <p:spPr>
          <a:xfrm>
            <a:off x="8493474" y="733703"/>
            <a:ext cx="2971696" cy="5768231"/>
          </a:xfrm>
          <a:prstGeom prst="rect">
            <a:avLst/>
          </a:prstGeom>
        </p:spPr>
      </p:pic>
      <p:sp>
        <p:nvSpPr>
          <p:cNvPr id="4" name="TextBox 3">
            <a:extLst>
              <a:ext uri="{FF2B5EF4-FFF2-40B4-BE49-F238E27FC236}">
                <a16:creationId xmlns:a16="http://schemas.microsoft.com/office/drawing/2014/main" id="{8062ED0E-2D63-2FC8-C552-8E0A9B73D0D8}"/>
              </a:ext>
            </a:extLst>
          </p:cNvPr>
          <p:cNvSpPr txBox="1"/>
          <p:nvPr/>
        </p:nvSpPr>
        <p:spPr>
          <a:xfrm>
            <a:off x="1101436" y="6047509"/>
            <a:ext cx="3172502" cy="369332"/>
          </a:xfrm>
          <a:prstGeom prst="rect">
            <a:avLst/>
          </a:prstGeom>
          <a:noFill/>
        </p:spPr>
        <p:txBody>
          <a:bodyPr wrap="square" rtlCol="0">
            <a:spAutoFit/>
          </a:bodyPr>
          <a:lstStyle/>
          <a:p>
            <a:r>
              <a:rPr lang="en-US" dirty="0"/>
              <a:t>They have to go outdoor?</a:t>
            </a:r>
            <a:endParaRPr lang="en-HK" dirty="0"/>
          </a:p>
        </p:txBody>
      </p:sp>
      <p:sp>
        <p:nvSpPr>
          <p:cNvPr id="2" name="TextBox 1">
            <a:extLst>
              <a:ext uri="{FF2B5EF4-FFF2-40B4-BE49-F238E27FC236}">
                <a16:creationId xmlns:a16="http://schemas.microsoft.com/office/drawing/2014/main" id="{237FF286-F939-2004-71BE-D54A749B2CF5}"/>
              </a:ext>
            </a:extLst>
          </p:cNvPr>
          <p:cNvSpPr txBox="1"/>
          <p:nvPr/>
        </p:nvSpPr>
        <p:spPr>
          <a:xfrm>
            <a:off x="3200400" y="207818"/>
            <a:ext cx="6234915" cy="369332"/>
          </a:xfrm>
          <a:prstGeom prst="rect">
            <a:avLst/>
          </a:prstGeom>
          <a:noFill/>
        </p:spPr>
        <p:txBody>
          <a:bodyPr wrap="square" rtlCol="0">
            <a:spAutoFit/>
          </a:bodyPr>
          <a:lstStyle/>
          <a:p>
            <a:r>
              <a:rPr lang="en-US" dirty="0">
                <a:solidFill>
                  <a:srgbClr val="FF0000"/>
                </a:solidFill>
              </a:rPr>
              <a:t>What is the most unique feature of the watch? price?</a:t>
            </a:r>
            <a:endParaRPr lang="en-HK" dirty="0">
              <a:solidFill>
                <a:srgbClr val="FF0000"/>
              </a:solidFill>
            </a:endParaRPr>
          </a:p>
        </p:txBody>
      </p:sp>
      <p:sp>
        <p:nvSpPr>
          <p:cNvPr id="3" name="TextBox 2">
            <a:extLst>
              <a:ext uri="{FF2B5EF4-FFF2-40B4-BE49-F238E27FC236}">
                <a16:creationId xmlns:a16="http://schemas.microsoft.com/office/drawing/2014/main" id="{0F412B60-B976-575A-D4BD-AD74E2C3F9E2}"/>
              </a:ext>
            </a:extLst>
          </p:cNvPr>
          <p:cNvSpPr txBox="1"/>
          <p:nvPr/>
        </p:nvSpPr>
        <p:spPr>
          <a:xfrm>
            <a:off x="8493474" y="207818"/>
            <a:ext cx="1471284" cy="369332"/>
          </a:xfrm>
          <a:prstGeom prst="rect">
            <a:avLst/>
          </a:prstGeom>
          <a:noFill/>
        </p:spPr>
        <p:txBody>
          <a:bodyPr wrap="square" rtlCol="0">
            <a:spAutoFit/>
          </a:bodyPr>
          <a:lstStyle/>
          <a:p>
            <a:r>
              <a:rPr lang="en-US" dirty="0">
                <a:solidFill>
                  <a:srgbClr val="FF0000"/>
                </a:solidFill>
              </a:rPr>
              <a:t>12/20</a:t>
            </a:r>
            <a:endParaRPr lang="en-HK" dirty="0">
              <a:solidFill>
                <a:srgbClr val="FF0000"/>
              </a:solidFill>
            </a:endParaRPr>
          </a:p>
        </p:txBody>
      </p:sp>
    </p:spTree>
    <p:extLst>
      <p:ext uri="{BB962C8B-B14F-4D97-AF65-F5344CB8AC3E}">
        <p14:creationId xmlns:p14="http://schemas.microsoft.com/office/powerpoint/2010/main" val="1276268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0E3B35F7-E9DE-709D-EEEE-9E7F90D94CBB}"/>
              </a:ext>
            </a:extLst>
          </p:cNvPr>
          <p:cNvSpPr/>
          <p:nvPr/>
        </p:nvSpPr>
        <p:spPr>
          <a:xfrm>
            <a:off x="721217" y="891048"/>
            <a:ext cx="1837452" cy="2374019"/>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venir Book" panose="02000503020000020003" pitchFamily="2" charset="0"/>
              </a:rPr>
              <a:t>Collaborative</a:t>
            </a:r>
            <a:r>
              <a:rPr lang="zh-TW" altLang="en-US">
                <a:latin typeface="Avenir Book" panose="02000503020000020003" pitchFamily="2" charset="0"/>
              </a:rPr>
              <a:t> </a:t>
            </a:r>
            <a:r>
              <a:rPr lang="en-US" altLang="zh-TW" dirty="0">
                <a:latin typeface="Avenir Book" panose="02000503020000020003" pitchFamily="2" charset="0"/>
              </a:rPr>
              <a:t>Schedule</a:t>
            </a:r>
            <a:endParaRPr lang="en-GB" dirty="0">
              <a:latin typeface="Avenir Book" panose="02000503020000020003" pitchFamily="2" charset="0"/>
            </a:endParaRPr>
          </a:p>
        </p:txBody>
      </p:sp>
      <p:sp>
        <p:nvSpPr>
          <p:cNvPr id="12" name="Rectangle 11">
            <a:extLst>
              <a:ext uri="{FF2B5EF4-FFF2-40B4-BE49-F238E27FC236}">
                <a16:creationId xmlns:a16="http://schemas.microsoft.com/office/drawing/2014/main" id="{5CB1E6A2-FA68-0EFA-33E9-463FEA757624}"/>
              </a:ext>
            </a:extLst>
          </p:cNvPr>
          <p:cNvSpPr/>
          <p:nvPr/>
        </p:nvSpPr>
        <p:spPr>
          <a:xfrm>
            <a:off x="2655211" y="891048"/>
            <a:ext cx="5317179" cy="2374019"/>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Both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family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and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patient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can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add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event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such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medical</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appointment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schedule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which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syncs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in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both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smartwatch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and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family’s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mobile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app</a:t>
            </a:r>
          </a:p>
          <a:p>
            <a:pPr marL="285750" indent="-285750">
              <a:buFont typeface="Arial" panose="020B0604020202020204" pitchFamily="34" charset="0"/>
              <a:buChar char="•"/>
            </a:pPr>
            <a:endParaRPr lang="en-US" altLang="zh-TW" dirty="0">
              <a:solidFill>
                <a:schemeClr val="accent1">
                  <a:lumMod val="50000"/>
                </a:schemeClr>
              </a:solidFill>
              <a:latin typeface="Avenir Book"/>
              <a:ea typeface="新細明體"/>
            </a:endParaRPr>
          </a:p>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One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upcoming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event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will</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displayed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remind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patients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what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doing</a:t>
            </a:r>
          </a:p>
        </p:txBody>
      </p:sp>
      <p:grpSp>
        <p:nvGrpSpPr>
          <p:cNvPr id="25" name="Group 24">
            <a:extLst>
              <a:ext uri="{FF2B5EF4-FFF2-40B4-BE49-F238E27FC236}">
                <a16:creationId xmlns:a16="http://schemas.microsoft.com/office/drawing/2014/main" id="{0DC7EB43-6014-A188-683E-FCB2757A3B3B}"/>
              </a:ext>
            </a:extLst>
          </p:cNvPr>
          <p:cNvGrpSpPr/>
          <p:nvPr/>
        </p:nvGrpSpPr>
        <p:grpSpPr>
          <a:xfrm>
            <a:off x="6483927" y="0"/>
            <a:ext cx="6764358" cy="7320712"/>
            <a:chOff x="6789841" y="0"/>
            <a:chExt cx="6764358" cy="7320712"/>
          </a:xfrm>
        </p:grpSpPr>
        <p:grpSp>
          <p:nvGrpSpPr>
            <p:cNvPr id="10" name="Group 9">
              <a:extLst>
                <a:ext uri="{FF2B5EF4-FFF2-40B4-BE49-F238E27FC236}">
                  <a16:creationId xmlns:a16="http://schemas.microsoft.com/office/drawing/2014/main" id="{D3E09FEA-8314-AE4F-39ED-52BA65E452F8}"/>
                </a:ext>
              </a:extLst>
            </p:cNvPr>
            <p:cNvGrpSpPr/>
            <p:nvPr/>
          </p:nvGrpSpPr>
          <p:grpSpPr>
            <a:xfrm>
              <a:off x="6789841" y="0"/>
              <a:ext cx="6764358" cy="7320712"/>
              <a:chOff x="6424670" y="58882"/>
              <a:chExt cx="6435688" cy="6858000"/>
            </a:xfrm>
          </p:grpSpPr>
          <p:pic>
            <p:nvPicPr>
              <p:cNvPr id="8" name="Picture 7" descr="A close up of a watch&#10;&#10;Description automatically generated">
                <a:extLst>
                  <a:ext uri="{FF2B5EF4-FFF2-40B4-BE49-F238E27FC236}">
                    <a16:creationId xmlns:a16="http://schemas.microsoft.com/office/drawing/2014/main" id="{EF350EDF-630E-FB71-D4C1-084F983C84E3}"/>
                  </a:ext>
                </a:extLst>
              </p:cNvPr>
              <p:cNvPicPr>
                <a:picLocks noChangeAspect="1"/>
              </p:cNvPicPr>
              <p:nvPr/>
            </p:nvPicPr>
            <p:blipFill>
              <a:blip r:embed="rId3"/>
              <a:stretch>
                <a:fillRect/>
              </a:stretch>
            </p:blipFill>
            <p:spPr>
              <a:xfrm>
                <a:off x="6424670" y="58882"/>
                <a:ext cx="6435688" cy="6858000"/>
              </a:xfrm>
              <a:prstGeom prst="rect">
                <a:avLst/>
              </a:prstGeom>
            </p:spPr>
          </p:pic>
          <p:sp>
            <p:nvSpPr>
              <p:cNvPr id="9" name="Rectangle 8">
                <a:extLst>
                  <a:ext uri="{FF2B5EF4-FFF2-40B4-BE49-F238E27FC236}">
                    <a16:creationId xmlns:a16="http://schemas.microsoft.com/office/drawing/2014/main" id="{99FE0A2A-C038-F68F-01F0-8691ED63E694}"/>
                  </a:ext>
                </a:extLst>
              </p:cNvPr>
              <p:cNvSpPr/>
              <p:nvPr/>
            </p:nvSpPr>
            <p:spPr>
              <a:xfrm>
                <a:off x="9136823" y="3324497"/>
                <a:ext cx="1011381" cy="423554"/>
              </a:xfrm>
              <a:prstGeom prst="rect">
                <a:avLst/>
              </a:prstGeom>
              <a:solidFill>
                <a:srgbClr val="20201F"/>
              </a:solidFill>
              <a:ln>
                <a:solidFill>
                  <a:srgbClr val="202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4" name="Picture 23" descr="A screenshot of a phone&#10;&#10;Description automatically generated">
              <a:extLst>
                <a:ext uri="{FF2B5EF4-FFF2-40B4-BE49-F238E27FC236}">
                  <a16:creationId xmlns:a16="http://schemas.microsoft.com/office/drawing/2014/main" id="{7DC8CE58-4551-1CBD-B037-AF9EDE790394}"/>
                </a:ext>
              </a:extLst>
            </p:cNvPr>
            <p:cNvPicPr>
              <a:picLocks noChangeAspect="1"/>
            </p:cNvPicPr>
            <p:nvPr/>
          </p:nvPicPr>
          <p:blipFill>
            <a:blip r:embed="rId4"/>
            <a:stretch>
              <a:fillRect/>
            </a:stretch>
          </p:blipFill>
          <p:spPr>
            <a:xfrm>
              <a:off x="7962900" y="1535471"/>
              <a:ext cx="4229100" cy="4229100"/>
            </a:xfrm>
            <a:prstGeom prst="rect">
              <a:avLst/>
            </a:prstGeom>
          </p:spPr>
        </p:pic>
      </p:grpSp>
      <p:sp>
        <p:nvSpPr>
          <p:cNvPr id="32" name="Rectangle 31">
            <a:extLst>
              <a:ext uri="{FF2B5EF4-FFF2-40B4-BE49-F238E27FC236}">
                <a16:creationId xmlns:a16="http://schemas.microsoft.com/office/drawing/2014/main" id="{502B3DA6-6D13-3E9C-BBE8-B760315EE4E1}"/>
              </a:ext>
            </a:extLst>
          </p:cNvPr>
          <p:cNvSpPr/>
          <p:nvPr/>
        </p:nvSpPr>
        <p:spPr>
          <a:xfrm>
            <a:off x="721217" y="3429000"/>
            <a:ext cx="1837452" cy="2171637"/>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venir Book" panose="02000503020000020003" pitchFamily="2" charset="0"/>
              </a:rPr>
              <a:t>Timely</a:t>
            </a:r>
            <a:r>
              <a:rPr lang="zh-TW" altLang="en-US">
                <a:latin typeface="Avenir Book" panose="02000503020000020003" pitchFamily="2" charset="0"/>
              </a:rPr>
              <a:t> </a:t>
            </a:r>
            <a:r>
              <a:rPr lang="en-US" altLang="zh-TW" dirty="0">
                <a:latin typeface="Avenir Book" panose="02000503020000020003" pitchFamily="2" charset="0"/>
              </a:rPr>
              <a:t>Reminder</a:t>
            </a:r>
            <a:endParaRPr lang="en-GB" dirty="0">
              <a:latin typeface="Avenir Book" panose="02000503020000020003" pitchFamily="2" charset="0"/>
            </a:endParaRPr>
          </a:p>
        </p:txBody>
      </p:sp>
      <p:sp>
        <p:nvSpPr>
          <p:cNvPr id="33" name="Rectangle 32">
            <a:extLst>
              <a:ext uri="{FF2B5EF4-FFF2-40B4-BE49-F238E27FC236}">
                <a16:creationId xmlns:a16="http://schemas.microsoft.com/office/drawing/2014/main" id="{84893364-E004-CD30-500D-83770D512676}"/>
              </a:ext>
            </a:extLst>
          </p:cNvPr>
          <p:cNvSpPr/>
          <p:nvPr/>
        </p:nvSpPr>
        <p:spPr>
          <a:xfrm>
            <a:off x="2655211" y="3429000"/>
            <a:ext cx="5317179" cy="2171637"/>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Constantly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reminding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patients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what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doing,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where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heading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according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imported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schedule</a:t>
            </a:r>
          </a:p>
          <a:p>
            <a:pPr marL="285750" indent="-285750">
              <a:buFont typeface="Arial" panose="020B0604020202020204" pitchFamily="34" charset="0"/>
              <a:buChar char="•"/>
            </a:pPr>
            <a:endParaRPr lang="en-US" altLang="zh-TW" dirty="0">
              <a:solidFill>
                <a:schemeClr val="accent1">
                  <a:lumMod val="50000"/>
                </a:schemeClr>
              </a:solidFill>
              <a:latin typeface="Avenir Book"/>
              <a:ea typeface="新細明體"/>
            </a:endParaRPr>
          </a:p>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Display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important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messages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from</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their</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family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with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vibration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according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delivery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set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their</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family</a:t>
            </a:r>
          </a:p>
        </p:txBody>
      </p:sp>
      <p:sp>
        <p:nvSpPr>
          <p:cNvPr id="34" name="Title 6">
            <a:extLst>
              <a:ext uri="{FF2B5EF4-FFF2-40B4-BE49-F238E27FC236}">
                <a16:creationId xmlns:a16="http://schemas.microsoft.com/office/drawing/2014/main" id="{10A5C1BE-165F-955F-63A9-5831FF325B4A}"/>
              </a:ext>
            </a:extLst>
          </p:cNvPr>
          <p:cNvSpPr txBox="1">
            <a:spLocks/>
          </p:cNvSpPr>
          <p:nvPr/>
        </p:nvSpPr>
        <p:spPr>
          <a:xfrm>
            <a:off x="375976" y="333593"/>
            <a:ext cx="444540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defRPr/>
            </a:pPr>
            <a:r>
              <a:rPr lang="en-US" altLang="zh-TW" sz="2000" b="1" dirty="0">
                <a:latin typeface="Avenir Book" panose="02000503020000020003" pitchFamily="2" charset="0"/>
                <a:ea typeface="+mn-ea"/>
                <a:cs typeface="Calibri"/>
              </a:rPr>
              <a:t>Solution – How</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it</a:t>
            </a:r>
            <a:r>
              <a:rPr lang="zh-TW" altLang="en-US" sz="2000" b="1">
                <a:latin typeface="Avenir Book" panose="02000503020000020003" pitchFamily="2" charset="0"/>
                <a:ea typeface="+mn-ea"/>
                <a:cs typeface="Calibri"/>
              </a:rPr>
              <a:t> </a:t>
            </a:r>
            <a:r>
              <a:rPr lang="en-US" altLang="zh-TW" sz="2000" b="1" dirty="0">
                <a:latin typeface="Avenir Book" panose="02000503020000020003" pitchFamily="2" charset="0"/>
                <a:ea typeface="+mn-ea"/>
                <a:cs typeface="Calibri"/>
              </a:rPr>
              <a:t>works?</a:t>
            </a:r>
            <a:endParaRPr lang="en-US" sz="1800" dirty="0">
              <a:latin typeface="Avenir Book" panose="02000503020000020003" pitchFamily="2" charset="0"/>
              <a:ea typeface="+mn-ea"/>
              <a:cs typeface="+mn-cs"/>
            </a:endParaRPr>
          </a:p>
        </p:txBody>
      </p:sp>
      <p:sp>
        <p:nvSpPr>
          <p:cNvPr id="2" name="Rectangle 1">
            <a:extLst>
              <a:ext uri="{FF2B5EF4-FFF2-40B4-BE49-F238E27FC236}">
                <a16:creationId xmlns:a16="http://schemas.microsoft.com/office/drawing/2014/main" id="{A140D65E-EC09-48F3-920C-F5A7A3167F8F}"/>
              </a:ext>
            </a:extLst>
          </p:cNvPr>
          <p:cNvSpPr/>
          <p:nvPr/>
        </p:nvSpPr>
        <p:spPr>
          <a:xfrm>
            <a:off x="721217" y="5764570"/>
            <a:ext cx="1837452" cy="777675"/>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venir Book" panose="02000503020000020003" pitchFamily="2" charset="0"/>
              </a:rPr>
              <a:t>Informative Tracking</a:t>
            </a:r>
            <a:endParaRPr lang="en-GB" dirty="0">
              <a:latin typeface="Avenir Book" panose="02000503020000020003" pitchFamily="2" charset="0"/>
            </a:endParaRPr>
          </a:p>
        </p:txBody>
      </p:sp>
      <p:sp>
        <p:nvSpPr>
          <p:cNvPr id="3" name="Rectangle 2">
            <a:extLst>
              <a:ext uri="{FF2B5EF4-FFF2-40B4-BE49-F238E27FC236}">
                <a16:creationId xmlns:a16="http://schemas.microsoft.com/office/drawing/2014/main" id="{484AD472-4EF8-02D4-E7A6-02CDB1BE569A}"/>
              </a:ext>
            </a:extLst>
          </p:cNvPr>
          <p:cNvSpPr/>
          <p:nvPr/>
        </p:nvSpPr>
        <p:spPr>
          <a:xfrm>
            <a:off x="2655211" y="5764570"/>
            <a:ext cx="5317179" cy="777675"/>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Real</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geographical</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information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will</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displayed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family’s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mobile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app</a:t>
            </a:r>
          </a:p>
        </p:txBody>
      </p:sp>
      <p:sp>
        <p:nvSpPr>
          <p:cNvPr id="4" name="TextBox 3">
            <a:extLst>
              <a:ext uri="{FF2B5EF4-FFF2-40B4-BE49-F238E27FC236}">
                <a16:creationId xmlns:a16="http://schemas.microsoft.com/office/drawing/2014/main" id="{A156EF6F-0F13-B7C7-7AA2-341DCF5DBFF0}"/>
              </a:ext>
            </a:extLst>
          </p:cNvPr>
          <p:cNvSpPr txBox="1"/>
          <p:nvPr/>
        </p:nvSpPr>
        <p:spPr>
          <a:xfrm>
            <a:off x="5285509" y="333593"/>
            <a:ext cx="886691" cy="369332"/>
          </a:xfrm>
          <a:prstGeom prst="rect">
            <a:avLst/>
          </a:prstGeom>
          <a:noFill/>
        </p:spPr>
        <p:txBody>
          <a:bodyPr wrap="square" rtlCol="0">
            <a:spAutoFit/>
          </a:bodyPr>
          <a:lstStyle/>
          <a:p>
            <a:r>
              <a:rPr lang="en-US" dirty="0">
                <a:solidFill>
                  <a:srgbClr val="FF0000"/>
                </a:solidFill>
              </a:rPr>
              <a:t>12/20</a:t>
            </a:r>
            <a:endParaRPr lang="en-HK" dirty="0">
              <a:solidFill>
                <a:srgbClr val="FF0000"/>
              </a:solidFill>
            </a:endParaRPr>
          </a:p>
        </p:txBody>
      </p:sp>
    </p:spTree>
    <p:extLst>
      <p:ext uri="{BB962C8B-B14F-4D97-AF65-F5344CB8AC3E}">
        <p14:creationId xmlns:p14="http://schemas.microsoft.com/office/powerpoint/2010/main" val="413195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260A13F-7F07-0743-1835-59A6B1737061}"/>
              </a:ext>
            </a:extLst>
          </p:cNvPr>
          <p:cNvSpPr txBox="1">
            <a:spLocks noGrp="1"/>
          </p:cNvSpPr>
          <p:nvPr>
            <p:ph type="title" idx="4294967295"/>
          </p:nvPr>
        </p:nvSpPr>
        <p:spPr>
          <a:xfrm>
            <a:off x="375976" y="333593"/>
            <a:ext cx="444540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Solution – How</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it</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works?</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18" name="Rectangle 17">
            <a:extLst>
              <a:ext uri="{FF2B5EF4-FFF2-40B4-BE49-F238E27FC236}">
                <a16:creationId xmlns:a16="http://schemas.microsoft.com/office/drawing/2014/main" id="{9DF6C09F-D5C6-EB3E-B690-235394B339DB}"/>
              </a:ext>
            </a:extLst>
          </p:cNvPr>
          <p:cNvSpPr/>
          <p:nvPr/>
        </p:nvSpPr>
        <p:spPr>
          <a:xfrm>
            <a:off x="721217" y="910337"/>
            <a:ext cx="1837452" cy="5614070"/>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venir Book" panose="02000503020000020003" pitchFamily="2" charset="0"/>
              </a:rPr>
              <a:t>Proactive</a:t>
            </a:r>
            <a:r>
              <a:rPr lang="zh-TW" altLang="en-US">
                <a:latin typeface="Avenir Book" panose="02000503020000020003" pitchFamily="2" charset="0"/>
              </a:rPr>
              <a:t> </a:t>
            </a:r>
            <a:r>
              <a:rPr lang="en-US" altLang="zh-TW" dirty="0">
                <a:latin typeface="Avenir Book" panose="02000503020000020003" pitchFamily="2" charset="0"/>
              </a:rPr>
              <a:t>Guide</a:t>
            </a:r>
            <a:endParaRPr lang="en-GB" dirty="0">
              <a:latin typeface="Avenir Book" panose="02000503020000020003" pitchFamily="2" charset="0"/>
            </a:endParaRPr>
          </a:p>
        </p:txBody>
      </p:sp>
      <p:sp>
        <p:nvSpPr>
          <p:cNvPr id="19" name="Rectangle 18">
            <a:extLst>
              <a:ext uri="{FF2B5EF4-FFF2-40B4-BE49-F238E27FC236}">
                <a16:creationId xmlns:a16="http://schemas.microsoft.com/office/drawing/2014/main" id="{FB199B36-A162-1004-A6A7-C70556CA2BDC}"/>
              </a:ext>
            </a:extLst>
          </p:cNvPr>
          <p:cNvSpPr/>
          <p:nvPr/>
        </p:nvSpPr>
        <p:spPr>
          <a:xfrm>
            <a:off x="2655211" y="910337"/>
            <a:ext cx="5317179" cy="5614070"/>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When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GB" altLang="zh-TW" dirty="0">
                <a:solidFill>
                  <a:schemeClr val="accent1">
                    <a:lumMod val="50000"/>
                  </a:schemeClr>
                </a:solidFill>
                <a:latin typeface="Avenir Book"/>
                <a:ea typeface="新細明體"/>
              </a:rPr>
              <a:t>user (patient)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walk</a:t>
            </a:r>
            <a:r>
              <a:rPr lang="en-GB" altLang="zh-TW" dirty="0">
                <a:solidFill>
                  <a:schemeClr val="accent1">
                    <a:lumMod val="50000"/>
                  </a:schemeClr>
                </a:solidFill>
                <a:latin typeface="Avenir Book"/>
                <a:ea typeface="新細明體"/>
              </a:rPr>
              <a:t>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out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preset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safety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zone,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or</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not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home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for</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prolonged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period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of</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time,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notification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will</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sent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family’s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mobile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app</a:t>
            </a:r>
            <a:endParaRPr lang="en-GB" altLang="zh-TW" dirty="0">
              <a:solidFill>
                <a:schemeClr val="accent1">
                  <a:lumMod val="50000"/>
                </a:schemeClr>
              </a:solidFill>
              <a:latin typeface="Avenir Book"/>
              <a:ea typeface="新細明體"/>
            </a:endParaRPr>
          </a:p>
          <a:p>
            <a:pPr marL="285750" indent="-285750">
              <a:buFont typeface="Arial" panose="020B0604020202020204" pitchFamily="34" charset="0"/>
              <a:buChar char="•"/>
            </a:pPr>
            <a:endParaRPr lang="en-GB" altLang="zh-TW" dirty="0">
              <a:solidFill>
                <a:schemeClr val="accent1">
                  <a:lumMod val="50000"/>
                </a:schemeClr>
              </a:solidFill>
              <a:latin typeface="Avenir Book"/>
              <a:ea typeface="新細明體"/>
            </a:endParaRPr>
          </a:p>
          <a:p>
            <a:pPr marL="285750" indent="-285750">
              <a:buFont typeface="Arial" panose="020B0604020202020204" pitchFamily="34" charset="0"/>
              <a:buChar char="•"/>
            </a:pPr>
            <a:r>
              <a:rPr lang="en-GB" altLang="zh-TW" dirty="0">
                <a:solidFill>
                  <a:schemeClr val="accent1">
                    <a:lumMod val="50000"/>
                  </a:schemeClr>
                </a:solidFill>
                <a:latin typeface="Avenir Book"/>
                <a:ea typeface="新細明體"/>
              </a:rPr>
              <a:t>Conditionally, assisting questions and sound notifications would be popped up to see if the user has gotten lost and needs help</a:t>
            </a:r>
            <a:endParaRPr lang="en-US" altLang="zh-TW" dirty="0">
              <a:solidFill>
                <a:schemeClr val="accent1">
                  <a:lumMod val="50000"/>
                </a:schemeClr>
              </a:solidFill>
              <a:latin typeface="Avenir Book"/>
              <a:ea typeface="新細明體"/>
            </a:endParaRPr>
          </a:p>
          <a:p>
            <a:pPr marL="285750" indent="-285750">
              <a:buFont typeface="Arial" panose="020B0604020202020204" pitchFamily="34" charset="0"/>
              <a:buChar char="•"/>
            </a:pPr>
            <a:endParaRPr lang="en-US" altLang="zh-TW" dirty="0">
              <a:solidFill>
                <a:schemeClr val="accent1">
                  <a:lumMod val="50000"/>
                </a:schemeClr>
              </a:solidFill>
              <a:latin typeface="Avenir Book"/>
              <a:ea typeface="新細明體"/>
            </a:endParaRPr>
          </a:p>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Proactive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Guide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is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enabled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automatically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lead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GB" altLang="zh-TW" dirty="0">
                <a:solidFill>
                  <a:schemeClr val="accent1">
                    <a:lumMod val="50000"/>
                  </a:schemeClr>
                </a:solidFill>
                <a:latin typeface="Avenir Book"/>
                <a:ea typeface="新細明體"/>
              </a:rPr>
              <a:t>user</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back</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to</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safety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zone</a:t>
            </a:r>
            <a:r>
              <a:rPr lang="en-GB" altLang="zh-TW" dirty="0">
                <a:solidFill>
                  <a:schemeClr val="accent1">
                    <a:lumMod val="50000"/>
                  </a:schemeClr>
                </a:solidFill>
                <a:latin typeface="Avenir Book"/>
                <a:ea typeface="新細明體"/>
              </a:rPr>
              <a:t> (pre</a:t>
            </a:r>
            <a:r>
              <a:rPr lang="en-US" altLang="zh-TW" dirty="0">
                <a:solidFill>
                  <a:schemeClr val="accent1">
                    <a:lumMod val="50000"/>
                  </a:schemeClr>
                </a:solidFill>
                <a:latin typeface="Avenir Book"/>
                <a:ea typeface="新細明體"/>
              </a:rPr>
              <a:t>-</a:t>
            </a:r>
            <a:r>
              <a:rPr lang="en-GB" altLang="zh-TW" dirty="0">
                <a:solidFill>
                  <a:schemeClr val="accent1">
                    <a:lumMod val="50000"/>
                  </a:schemeClr>
                </a:solidFill>
                <a:latin typeface="Avenir Book"/>
                <a:ea typeface="新細明體"/>
              </a:rPr>
              <a:t>set locations)</a:t>
            </a:r>
            <a:r>
              <a:rPr lang="en-US" altLang="zh-TW" dirty="0">
                <a:solidFill>
                  <a:schemeClr val="accent1">
                    <a:lumMod val="50000"/>
                  </a:schemeClr>
                </a:solidFill>
                <a:latin typeface="Avenir Book"/>
                <a:ea typeface="新細明體"/>
              </a:rPr>
              <a: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or</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back</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home</a:t>
            </a:r>
            <a:r>
              <a:rPr lang="en-GB" altLang="zh-TW" dirty="0">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by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easy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commands</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like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“turn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left”,</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with</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arrow</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showing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them</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direction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are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heading,</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and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direction</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they</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should</a:t>
            </a:r>
            <a:r>
              <a:rPr lang="zh-TW" altLang="en-US">
                <a:solidFill>
                  <a:schemeClr val="accent1">
                    <a:lumMod val="50000"/>
                  </a:schemeClr>
                </a:solidFill>
                <a:latin typeface="Avenir Book"/>
                <a:ea typeface="新細明體"/>
              </a:rPr>
              <a:t> </a:t>
            </a:r>
            <a:r>
              <a:rPr lang="en-US" altLang="zh-TW" dirty="0">
                <a:solidFill>
                  <a:schemeClr val="accent1">
                    <a:lumMod val="50000"/>
                  </a:schemeClr>
                </a:solidFill>
                <a:latin typeface="Avenir Book"/>
                <a:ea typeface="新細明體"/>
              </a:rPr>
              <a:t>go</a:t>
            </a:r>
          </a:p>
        </p:txBody>
      </p:sp>
      <p:grpSp>
        <p:nvGrpSpPr>
          <p:cNvPr id="20" name="Group 19">
            <a:extLst>
              <a:ext uri="{FF2B5EF4-FFF2-40B4-BE49-F238E27FC236}">
                <a16:creationId xmlns:a16="http://schemas.microsoft.com/office/drawing/2014/main" id="{CB245DCA-4140-2351-073D-E7CF5DB31FFE}"/>
              </a:ext>
            </a:extLst>
          </p:cNvPr>
          <p:cNvGrpSpPr/>
          <p:nvPr/>
        </p:nvGrpSpPr>
        <p:grpSpPr>
          <a:xfrm>
            <a:off x="6483927" y="0"/>
            <a:ext cx="6764358" cy="7320712"/>
            <a:chOff x="6789841" y="0"/>
            <a:chExt cx="6764358" cy="7320712"/>
          </a:xfrm>
        </p:grpSpPr>
        <p:grpSp>
          <p:nvGrpSpPr>
            <p:cNvPr id="23" name="Group 22">
              <a:extLst>
                <a:ext uri="{FF2B5EF4-FFF2-40B4-BE49-F238E27FC236}">
                  <a16:creationId xmlns:a16="http://schemas.microsoft.com/office/drawing/2014/main" id="{8D54E62D-0F02-4ADC-BD4B-249A13DB2B35}"/>
                </a:ext>
              </a:extLst>
            </p:cNvPr>
            <p:cNvGrpSpPr/>
            <p:nvPr/>
          </p:nvGrpSpPr>
          <p:grpSpPr>
            <a:xfrm>
              <a:off x="6789841" y="0"/>
              <a:ext cx="6764358" cy="7320712"/>
              <a:chOff x="6424670" y="58882"/>
              <a:chExt cx="6435688" cy="6858000"/>
            </a:xfrm>
          </p:grpSpPr>
          <p:pic>
            <p:nvPicPr>
              <p:cNvPr id="25" name="Picture 24" descr="A close up of a watch&#10;&#10;Description automatically generated">
                <a:extLst>
                  <a:ext uri="{FF2B5EF4-FFF2-40B4-BE49-F238E27FC236}">
                    <a16:creationId xmlns:a16="http://schemas.microsoft.com/office/drawing/2014/main" id="{BD242547-3249-DA78-247F-3D3F915928F7}"/>
                  </a:ext>
                </a:extLst>
              </p:cNvPr>
              <p:cNvPicPr>
                <a:picLocks noChangeAspect="1"/>
              </p:cNvPicPr>
              <p:nvPr/>
            </p:nvPicPr>
            <p:blipFill>
              <a:blip r:embed="rId3"/>
              <a:stretch>
                <a:fillRect/>
              </a:stretch>
            </p:blipFill>
            <p:spPr>
              <a:xfrm>
                <a:off x="6424670" y="58882"/>
                <a:ext cx="6435688" cy="6858000"/>
              </a:xfrm>
              <a:prstGeom prst="rect">
                <a:avLst/>
              </a:prstGeom>
            </p:spPr>
          </p:pic>
          <p:sp>
            <p:nvSpPr>
              <p:cNvPr id="26" name="Rectangle 25">
                <a:extLst>
                  <a:ext uri="{FF2B5EF4-FFF2-40B4-BE49-F238E27FC236}">
                    <a16:creationId xmlns:a16="http://schemas.microsoft.com/office/drawing/2014/main" id="{69330779-F79B-8F66-1427-994ECA77AD75}"/>
                  </a:ext>
                </a:extLst>
              </p:cNvPr>
              <p:cNvSpPr/>
              <p:nvPr/>
            </p:nvSpPr>
            <p:spPr>
              <a:xfrm>
                <a:off x="9136823" y="3324497"/>
                <a:ext cx="1011381" cy="423554"/>
              </a:xfrm>
              <a:prstGeom prst="rect">
                <a:avLst/>
              </a:prstGeom>
              <a:solidFill>
                <a:srgbClr val="20201F"/>
              </a:solidFill>
              <a:ln>
                <a:solidFill>
                  <a:srgbClr val="2020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4" name="Picture 23" descr="A screenshot of a phone&#10;&#10;Description automatically generated">
              <a:extLst>
                <a:ext uri="{FF2B5EF4-FFF2-40B4-BE49-F238E27FC236}">
                  <a16:creationId xmlns:a16="http://schemas.microsoft.com/office/drawing/2014/main" id="{06F63016-1A2C-606D-7BE7-293CBC4460F3}"/>
                </a:ext>
              </a:extLst>
            </p:cNvPr>
            <p:cNvPicPr>
              <a:picLocks noChangeAspect="1"/>
            </p:cNvPicPr>
            <p:nvPr/>
          </p:nvPicPr>
          <p:blipFill>
            <a:blip r:embed="rId4"/>
            <a:stretch>
              <a:fillRect/>
            </a:stretch>
          </p:blipFill>
          <p:spPr>
            <a:xfrm>
              <a:off x="7962900" y="1535471"/>
              <a:ext cx="4229100" cy="4229100"/>
            </a:xfrm>
            <a:prstGeom prst="rect">
              <a:avLst/>
            </a:prstGeom>
          </p:spPr>
        </p:pic>
      </p:grpSp>
      <p:sp>
        <p:nvSpPr>
          <p:cNvPr id="2" name="TextBox 1">
            <a:extLst>
              <a:ext uri="{FF2B5EF4-FFF2-40B4-BE49-F238E27FC236}">
                <a16:creationId xmlns:a16="http://schemas.microsoft.com/office/drawing/2014/main" id="{5CA310A6-0F62-D722-14DF-287E26C42839}"/>
              </a:ext>
            </a:extLst>
          </p:cNvPr>
          <p:cNvSpPr txBox="1"/>
          <p:nvPr/>
        </p:nvSpPr>
        <p:spPr>
          <a:xfrm>
            <a:off x="4412672" y="1316182"/>
            <a:ext cx="3456709" cy="369332"/>
          </a:xfrm>
          <a:prstGeom prst="rect">
            <a:avLst/>
          </a:prstGeom>
          <a:noFill/>
        </p:spPr>
        <p:txBody>
          <a:bodyPr wrap="square" rtlCol="0">
            <a:spAutoFit/>
          </a:bodyPr>
          <a:lstStyle/>
          <a:p>
            <a:r>
              <a:rPr lang="en-US" dirty="0"/>
              <a:t>How  long is the prolonged period?</a:t>
            </a:r>
            <a:endParaRPr lang="en-HK" dirty="0"/>
          </a:p>
        </p:txBody>
      </p:sp>
      <p:sp>
        <p:nvSpPr>
          <p:cNvPr id="3" name="TextBox 2">
            <a:extLst>
              <a:ext uri="{FF2B5EF4-FFF2-40B4-BE49-F238E27FC236}">
                <a16:creationId xmlns:a16="http://schemas.microsoft.com/office/drawing/2014/main" id="{6F2EA41E-6B52-4DF8-216D-DE20669960F5}"/>
              </a:ext>
            </a:extLst>
          </p:cNvPr>
          <p:cNvSpPr txBox="1"/>
          <p:nvPr/>
        </p:nvSpPr>
        <p:spPr>
          <a:xfrm>
            <a:off x="3844636" y="5947663"/>
            <a:ext cx="4322619" cy="369332"/>
          </a:xfrm>
          <a:prstGeom prst="rect">
            <a:avLst/>
          </a:prstGeom>
          <a:noFill/>
        </p:spPr>
        <p:txBody>
          <a:bodyPr wrap="square" rtlCol="0">
            <a:spAutoFit/>
          </a:bodyPr>
          <a:lstStyle/>
          <a:p>
            <a:r>
              <a:rPr lang="en-US" dirty="0"/>
              <a:t>How?   What about the danger on the road? </a:t>
            </a:r>
            <a:endParaRPr lang="en-HK" dirty="0"/>
          </a:p>
        </p:txBody>
      </p:sp>
    </p:spTree>
    <p:extLst>
      <p:ext uri="{BB962C8B-B14F-4D97-AF65-F5344CB8AC3E}">
        <p14:creationId xmlns:p14="http://schemas.microsoft.com/office/powerpoint/2010/main" val="1453634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EBB6-D956-D293-92E8-9E9BBAAE39C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E983F890-589F-7E51-1D23-B361D8AC8D99}"/>
              </a:ext>
            </a:extLst>
          </p:cNvPr>
          <p:cNvGraphicFramePr>
            <a:graphicFrameLocks noGrp="1"/>
          </p:cNvGraphicFramePr>
          <p:nvPr>
            <p:extLst>
              <p:ext uri="{D42A27DB-BD31-4B8C-83A1-F6EECF244321}">
                <p14:modId xmlns:p14="http://schemas.microsoft.com/office/powerpoint/2010/main" val="4134567495"/>
              </p:ext>
            </p:extLst>
          </p:nvPr>
        </p:nvGraphicFramePr>
        <p:xfrm>
          <a:off x="360513" y="790942"/>
          <a:ext cx="11447773" cy="5512171"/>
        </p:xfrm>
        <a:graphic>
          <a:graphicData uri="http://schemas.openxmlformats.org/drawingml/2006/table">
            <a:tbl>
              <a:tblPr firstRow="1" bandRow="1">
                <a:tableStyleId>{5C22544A-7EE6-4342-B048-85BDC9FD1C3A}</a:tableStyleId>
              </a:tblPr>
              <a:tblGrid>
                <a:gridCol w="2129672">
                  <a:extLst>
                    <a:ext uri="{9D8B030D-6E8A-4147-A177-3AD203B41FA5}">
                      <a16:colId xmlns:a16="http://schemas.microsoft.com/office/drawing/2014/main" val="3128718935"/>
                    </a:ext>
                  </a:extLst>
                </a:gridCol>
                <a:gridCol w="2139865">
                  <a:extLst>
                    <a:ext uri="{9D8B030D-6E8A-4147-A177-3AD203B41FA5}">
                      <a16:colId xmlns:a16="http://schemas.microsoft.com/office/drawing/2014/main" val="391720890"/>
                    </a:ext>
                  </a:extLst>
                </a:gridCol>
                <a:gridCol w="2599126">
                  <a:extLst>
                    <a:ext uri="{9D8B030D-6E8A-4147-A177-3AD203B41FA5}">
                      <a16:colId xmlns:a16="http://schemas.microsoft.com/office/drawing/2014/main" val="1110599645"/>
                    </a:ext>
                  </a:extLst>
                </a:gridCol>
                <a:gridCol w="2289555">
                  <a:extLst>
                    <a:ext uri="{9D8B030D-6E8A-4147-A177-3AD203B41FA5}">
                      <a16:colId xmlns:a16="http://schemas.microsoft.com/office/drawing/2014/main" val="2359925458"/>
                    </a:ext>
                  </a:extLst>
                </a:gridCol>
                <a:gridCol w="2289555">
                  <a:extLst>
                    <a:ext uri="{9D8B030D-6E8A-4147-A177-3AD203B41FA5}">
                      <a16:colId xmlns:a16="http://schemas.microsoft.com/office/drawing/2014/main" val="3811944970"/>
                    </a:ext>
                  </a:extLst>
                </a:gridCol>
              </a:tblGrid>
              <a:tr h="981228">
                <a:tc>
                  <a:txBody>
                    <a:bodyPr/>
                    <a:lstStyle/>
                    <a:p>
                      <a:r>
                        <a:rPr lang="en-US" altLang="zh-TW" dirty="0">
                          <a:latin typeface="Avenir Book" panose="02000503020000020003"/>
                        </a:rPr>
                        <a:t>Product</a:t>
                      </a:r>
                      <a:endParaRPr lang="zh-TW" altLang="en-US" dirty="0">
                        <a:latin typeface="Avenir Book" panose="02000503020000020003"/>
                      </a:endParaRPr>
                    </a:p>
                  </a:txBody>
                  <a:tcPr anchor="ctr"/>
                </a:tc>
                <a:tc>
                  <a:txBody>
                    <a:bodyPr/>
                    <a:lstStyle/>
                    <a:p>
                      <a:pPr algn="ctr"/>
                      <a:r>
                        <a:rPr lang="en-US" altLang="zh-TW" dirty="0">
                          <a:latin typeface="Avenir Book" panose="02000503020000020003"/>
                        </a:rPr>
                        <a:t>WATCH</a:t>
                      </a:r>
                      <a:r>
                        <a:rPr lang="zh-TW" altLang="en-US" dirty="0">
                          <a:latin typeface="Avenir Book" panose="02000503020000020003"/>
                        </a:rPr>
                        <a:t> </a:t>
                      </a:r>
                      <a:r>
                        <a:rPr lang="en-US" altLang="zh-TW" dirty="0">
                          <a:latin typeface="Avenir Book" panose="02000503020000020003"/>
                        </a:rPr>
                        <a:t>for</a:t>
                      </a:r>
                      <a:r>
                        <a:rPr lang="zh-TW" altLang="en-US" dirty="0">
                          <a:latin typeface="Avenir Book" panose="02000503020000020003"/>
                        </a:rPr>
                        <a:t> </a:t>
                      </a:r>
                      <a:r>
                        <a:rPr lang="en-US" altLang="zh-TW" dirty="0">
                          <a:latin typeface="Avenir Book" panose="02000503020000020003"/>
                        </a:rPr>
                        <a:t>you</a:t>
                      </a:r>
                      <a:endParaRPr lang="zh-TW" altLang="en-US" dirty="0">
                        <a:latin typeface="Avenir Book" panose="02000503020000020003"/>
                      </a:endParaRPr>
                    </a:p>
                  </a:txBody>
                  <a:tcPr anchor="ctr"/>
                </a:tc>
                <a:tc>
                  <a:txBody>
                    <a:bodyPr/>
                    <a:lstStyle/>
                    <a:p>
                      <a:pPr lvl="0" algn="ctr">
                        <a:lnSpc>
                          <a:spcPct val="100000"/>
                        </a:lnSpc>
                        <a:spcBef>
                          <a:spcPts val="0"/>
                        </a:spcBef>
                        <a:spcAft>
                          <a:spcPts val="0"/>
                        </a:spcAft>
                        <a:buNone/>
                      </a:pPr>
                      <a:r>
                        <a:rPr lang="en-US" sz="1800" b="1" i="0" u="none" strike="noStrike" noProof="0" dirty="0">
                          <a:solidFill>
                            <a:srgbClr val="FFFFFF"/>
                          </a:solidFill>
                          <a:latin typeface="Avenir Book"/>
                        </a:rPr>
                        <a:t>AngelSense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panose="02000503020000020003"/>
                        </a:rPr>
                        <a:t>Jockey</a:t>
                      </a:r>
                      <a:r>
                        <a:rPr lang="zh-TW" altLang="en-US">
                          <a:latin typeface="Avenir Book" panose="02000503020000020003"/>
                        </a:rPr>
                        <a:t> </a:t>
                      </a:r>
                      <a:r>
                        <a:rPr lang="en-US" altLang="zh-TW" dirty="0">
                          <a:latin typeface="Avenir Book" panose="02000503020000020003"/>
                        </a:rPr>
                        <a:t>Club</a:t>
                      </a:r>
                      <a:r>
                        <a:rPr lang="zh-TW" altLang="en-US">
                          <a:latin typeface="Avenir Book" panose="02000503020000020003"/>
                        </a:rPr>
                        <a:t> </a:t>
                      </a:r>
                      <a:r>
                        <a:rPr lang="en-US" altLang="zh-TW" dirty="0">
                          <a:latin typeface="Avenir Book" panose="02000503020000020003"/>
                        </a:rPr>
                        <a:t>Caring</a:t>
                      </a:r>
                      <a:r>
                        <a:rPr lang="zh-TW" altLang="en-US">
                          <a:latin typeface="Avenir Book" panose="02000503020000020003"/>
                        </a:rPr>
                        <a:t> </a:t>
                      </a:r>
                      <a:r>
                        <a:rPr lang="en-US" altLang="zh-TW" dirty="0">
                          <a:latin typeface="Avenir Book" panose="02000503020000020003"/>
                        </a:rPr>
                        <a:t>Communities</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Elderly Caretaker Home</a:t>
                      </a:r>
                    </a:p>
                  </a:txBody>
                  <a:tcPr anchor="ctr"/>
                </a:tc>
                <a:extLst>
                  <a:ext uri="{0D108BD9-81ED-4DB2-BD59-A6C34878D82A}">
                    <a16:rowId xmlns:a16="http://schemas.microsoft.com/office/drawing/2014/main" val="2391276228"/>
                  </a:ext>
                </a:extLst>
              </a:tr>
              <a:tr h="981228">
                <a:tc>
                  <a:txBody>
                    <a:bodyPr/>
                    <a:lstStyle/>
                    <a:p>
                      <a:r>
                        <a:rPr lang="en-HK" altLang="zh-TW" dirty="0">
                          <a:latin typeface="Avenir Book" panose="02000503020000020003"/>
                        </a:rPr>
                        <a:t>Feature 1</a:t>
                      </a:r>
                      <a:endParaRPr lang="zh-TW" altLang="en-US">
                        <a:latin typeface="Avenir Book" panose="02000503020000020003"/>
                      </a:endParaRPr>
                    </a:p>
                  </a:txBody>
                  <a:tcPr anchor="ctr"/>
                </a:tc>
                <a:tc>
                  <a:txBody>
                    <a:bodyPr/>
                    <a:lstStyle/>
                    <a:p>
                      <a:pPr algn="ctr"/>
                      <a:r>
                        <a:rPr lang="en-US" altLang="zh-TW" dirty="0">
                          <a:latin typeface="Avenir Book" panose="02000503020000020003"/>
                        </a:rPr>
                        <a:t>Provide</a:t>
                      </a:r>
                      <a:r>
                        <a:rPr lang="zh-TW" altLang="en-US" dirty="0">
                          <a:latin typeface="Avenir Book" panose="02000503020000020003"/>
                        </a:rPr>
                        <a:t> </a:t>
                      </a:r>
                      <a:r>
                        <a:rPr lang="en-US" altLang="zh-TW" b="1" dirty="0">
                          <a:latin typeface="Avenir Book" panose="02000503020000020003"/>
                        </a:rPr>
                        <a:t>safety</a:t>
                      </a:r>
                      <a:r>
                        <a:rPr lang="zh-TW" altLang="en-US" b="1" dirty="0">
                          <a:latin typeface="Avenir Book" panose="02000503020000020003"/>
                        </a:rPr>
                        <a:t> </a:t>
                      </a:r>
                      <a:r>
                        <a:rPr lang="en-US" altLang="zh-TW" b="1" dirty="0">
                          <a:latin typeface="Avenir Book" panose="02000503020000020003"/>
                        </a:rPr>
                        <a:t>zone</a:t>
                      </a:r>
                      <a:r>
                        <a:rPr lang="zh-TW" altLang="en-US" b="1" dirty="0">
                          <a:latin typeface="Avenir Book" panose="02000503020000020003"/>
                        </a:rPr>
                        <a:t> </a:t>
                      </a:r>
                      <a:r>
                        <a:rPr lang="en-US" altLang="zh-TW" dirty="0">
                          <a:latin typeface="Avenir Book" panose="02000503020000020003"/>
                        </a:rPr>
                        <a:t>settings</a:t>
                      </a:r>
                      <a:endParaRPr lang="en-HK" altLang="zh-TW" dirty="0">
                        <a:latin typeface="Avenir Book" panose="02000503020000020003"/>
                      </a:endParaRPr>
                    </a:p>
                  </a:txBody>
                  <a:tcPr anchor="ctr"/>
                </a:tc>
                <a:tc>
                  <a:txBody>
                    <a:bodyPr/>
                    <a:lstStyle/>
                    <a:p>
                      <a:pPr lvl="0" algn="ctr">
                        <a:buNone/>
                      </a:pPr>
                      <a:r>
                        <a:rPr lang="en-US" dirty="0">
                          <a:latin typeface="Avenir Book"/>
                        </a:rPr>
                        <a:t>Provides </a:t>
                      </a:r>
                      <a:r>
                        <a:rPr lang="en-US" b="1" dirty="0">
                          <a:latin typeface="Avenir Book"/>
                        </a:rPr>
                        <a:t>timeline </a:t>
                      </a:r>
                      <a:r>
                        <a:rPr lang="en-US" dirty="0">
                          <a:latin typeface="Avenir Book"/>
                        </a:rPr>
                        <a:t>of </a:t>
                      </a:r>
                      <a:r>
                        <a:rPr lang="en-US" b="1" dirty="0">
                          <a:latin typeface="Avenir Book"/>
                        </a:rPr>
                        <a:t>location</a:t>
                      </a:r>
                      <a:r>
                        <a:rPr lang="en-US" dirty="0">
                          <a:latin typeface="Avenir Book"/>
                        </a:rPr>
                        <a:t>, </a:t>
                      </a:r>
                      <a:r>
                        <a:rPr lang="en-US" b="1" dirty="0">
                          <a:latin typeface="Avenir Book"/>
                        </a:rPr>
                        <a:t>routes</a:t>
                      </a:r>
                      <a:r>
                        <a:rPr lang="en-US" dirty="0">
                          <a:latin typeface="Avenir Book"/>
                        </a:rPr>
                        <a:t>, and travel speed</a:t>
                      </a:r>
                    </a:p>
                  </a:txBody>
                  <a:tcPr anchor="ctr"/>
                </a:tc>
                <a:tc>
                  <a:txBody>
                    <a:bodyPr/>
                    <a:lstStyle/>
                    <a:p>
                      <a:pPr lvl="0" algn="ctr">
                        <a:buNone/>
                      </a:pPr>
                      <a:r>
                        <a:rPr lang="en-US" altLang="zh-TW" dirty="0">
                          <a:latin typeface="Avenir Book" panose="02000503020000020003"/>
                        </a:rPr>
                        <a:t>Track</a:t>
                      </a:r>
                      <a:r>
                        <a:rPr lang="zh-TW" altLang="en-US" dirty="0">
                          <a:latin typeface="Avenir Book" panose="02000503020000020003"/>
                        </a:rPr>
                        <a:t> </a:t>
                      </a:r>
                      <a:r>
                        <a:rPr lang="en-US" altLang="zh-TW" dirty="0">
                          <a:latin typeface="Avenir Book" panose="02000503020000020003"/>
                        </a:rPr>
                        <a:t>users</a:t>
                      </a:r>
                      <a:r>
                        <a:rPr lang="zh-TW" altLang="en-US" dirty="0">
                          <a:latin typeface="Avenir Book" panose="02000503020000020003"/>
                        </a:rPr>
                        <a:t> </a:t>
                      </a:r>
                      <a:r>
                        <a:rPr lang="en-US" altLang="zh-TW" dirty="0">
                          <a:latin typeface="Avenir Book" panose="02000503020000020003"/>
                        </a:rPr>
                        <a:t>when</a:t>
                      </a:r>
                      <a:r>
                        <a:rPr lang="zh-TW" altLang="en-US" dirty="0">
                          <a:latin typeface="Avenir Book" panose="02000503020000020003"/>
                        </a:rPr>
                        <a:t> </a:t>
                      </a:r>
                      <a:r>
                        <a:rPr lang="en-US" altLang="zh-TW" dirty="0">
                          <a:latin typeface="Avenir Book" panose="02000503020000020003"/>
                        </a:rPr>
                        <a:t>they</a:t>
                      </a:r>
                      <a:r>
                        <a:rPr lang="zh-TW" altLang="en-US" dirty="0">
                          <a:latin typeface="Avenir Book" panose="02000503020000020003"/>
                        </a:rPr>
                        <a:t> </a:t>
                      </a:r>
                      <a:r>
                        <a:rPr lang="en-US" altLang="zh-TW" dirty="0">
                          <a:latin typeface="Avenir Book" panose="02000503020000020003"/>
                        </a:rPr>
                        <a:t>are</a:t>
                      </a:r>
                      <a:r>
                        <a:rPr lang="zh-TW" altLang="en-US" dirty="0">
                          <a:latin typeface="Avenir Book" panose="02000503020000020003"/>
                        </a:rPr>
                        <a:t> </a:t>
                      </a:r>
                      <a:r>
                        <a:rPr lang="en-US" altLang="zh-TW" dirty="0">
                          <a:latin typeface="Avenir Book" panose="02000503020000020003"/>
                        </a:rPr>
                        <a:t>near</a:t>
                      </a:r>
                      <a:r>
                        <a:rPr lang="zh-TW" altLang="en-US" dirty="0">
                          <a:latin typeface="Avenir Book" panose="02000503020000020003"/>
                        </a:rPr>
                        <a:t> </a:t>
                      </a:r>
                      <a:r>
                        <a:rPr lang="en-US" altLang="zh-TW" b="1" dirty="0">
                          <a:latin typeface="Avenir Book" panose="02000503020000020003"/>
                        </a:rPr>
                        <a:t>5</a:t>
                      </a:r>
                      <a:r>
                        <a:rPr lang="zh-TW" altLang="en-US" b="1" dirty="0">
                          <a:latin typeface="Avenir Book" panose="02000503020000020003"/>
                        </a:rPr>
                        <a:t> </a:t>
                      </a:r>
                      <a:r>
                        <a:rPr lang="en-US" altLang="zh-TW" b="1" dirty="0">
                          <a:latin typeface="Avenir Book" panose="02000503020000020003"/>
                        </a:rPr>
                        <a:t>bus</a:t>
                      </a:r>
                      <a:r>
                        <a:rPr lang="zh-TW" altLang="en-US" b="1" dirty="0">
                          <a:latin typeface="Avenir Book" panose="02000503020000020003"/>
                        </a:rPr>
                        <a:t> </a:t>
                      </a:r>
                      <a:r>
                        <a:rPr lang="en-US" altLang="zh-TW" b="1" dirty="0">
                          <a:latin typeface="Avenir Book" panose="02000503020000020003"/>
                        </a:rPr>
                        <a:t>termini</a:t>
                      </a:r>
                      <a:endParaRPr lang="zh-TW" altLang="en-US" b="1"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Provides living space and </a:t>
                      </a:r>
                      <a:r>
                        <a:rPr lang="zh-TW" altLang="en-US" b="1" dirty="0">
                          <a:latin typeface="Avenir Book" panose="02000503020000020003"/>
                        </a:rPr>
                        <a:t>caretaking</a:t>
                      </a:r>
                    </a:p>
                  </a:txBody>
                  <a:tcPr anchor="ctr"/>
                </a:tc>
                <a:extLst>
                  <a:ext uri="{0D108BD9-81ED-4DB2-BD59-A6C34878D82A}">
                    <a16:rowId xmlns:a16="http://schemas.microsoft.com/office/drawing/2014/main" val="3443781895"/>
                  </a:ext>
                </a:extLst>
              </a:tr>
              <a:tr h="852690">
                <a:tc>
                  <a:txBody>
                    <a:bodyPr/>
                    <a:lstStyle/>
                    <a:p>
                      <a:r>
                        <a:rPr lang="en-HK" altLang="zh-TW" dirty="0">
                          <a:latin typeface="Avenir Book" panose="02000503020000020003"/>
                        </a:rPr>
                        <a:t>Feature 2</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panose="02000503020000020003"/>
                        </a:rPr>
                        <a:t>Sent</a:t>
                      </a:r>
                      <a:r>
                        <a:rPr lang="zh-TW" altLang="en-US" dirty="0">
                          <a:latin typeface="Avenir Book" panose="02000503020000020003"/>
                        </a:rPr>
                        <a:t> </a:t>
                      </a:r>
                      <a:r>
                        <a:rPr lang="en-US" altLang="zh-TW" dirty="0">
                          <a:latin typeface="Avenir Book" panose="02000503020000020003"/>
                        </a:rPr>
                        <a:t>alert</a:t>
                      </a:r>
                      <a:r>
                        <a:rPr lang="zh-TW" altLang="en-US" dirty="0">
                          <a:latin typeface="Avenir Book" panose="02000503020000020003"/>
                        </a:rPr>
                        <a:t> </a:t>
                      </a:r>
                      <a:r>
                        <a:rPr lang="en-US" altLang="zh-TW" dirty="0">
                          <a:latin typeface="Avenir Book" panose="02000503020000020003"/>
                        </a:rPr>
                        <a:t>and</a:t>
                      </a:r>
                      <a:r>
                        <a:rPr lang="zh-TW" altLang="en-US" dirty="0">
                          <a:latin typeface="Avenir Book" panose="02000503020000020003"/>
                        </a:rPr>
                        <a:t> </a:t>
                      </a:r>
                      <a:r>
                        <a:rPr lang="en-US" altLang="zh-TW" dirty="0">
                          <a:latin typeface="Avenir Book" panose="02000503020000020003"/>
                        </a:rPr>
                        <a:t>guide</a:t>
                      </a:r>
                      <a:r>
                        <a:rPr lang="zh-TW" altLang="en-US" dirty="0">
                          <a:latin typeface="Avenir Book" panose="02000503020000020003"/>
                        </a:rPr>
                        <a:t> </a:t>
                      </a:r>
                      <a:r>
                        <a:rPr lang="en-US" altLang="zh-TW" dirty="0">
                          <a:latin typeface="Avenir Book" panose="02000503020000020003"/>
                        </a:rPr>
                        <a:t>user</a:t>
                      </a:r>
                      <a:r>
                        <a:rPr lang="zh-TW" altLang="en-US" dirty="0">
                          <a:latin typeface="Avenir Book" panose="02000503020000020003"/>
                        </a:rPr>
                        <a:t> </a:t>
                      </a:r>
                      <a:r>
                        <a:rPr lang="en-US" altLang="zh-TW" dirty="0">
                          <a:latin typeface="Avenir Book" panose="02000503020000020003"/>
                        </a:rPr>
                        <a:t>back</a:t>
                      </a:r>
                      <a:r>
                        <a:rPr lang="zh-TW" altLang="en-US" dirty="0">
                          <a:latin typeface="Avenir Book" panose="02000503020000020003"/>
                        </a:rPr>
                        <a:t> </a:t>
                      </a:r>
                      <a:r>
                        <a:rPr lang="en-US" altLang="zh-TW" dirty="0">
                          <a:latin typeface="Avenir Book" panose="02000503020000020003"/>
                        </a:rPr>
                        <a:t>to</a:t>
                      </a:r>
                      <a:r>
                        <a:rPr lang="zh-TW" altLang="en-US" dirty="0">
                          <a:latin typeface="Avenir Book" panose="02000503020000020003"/>
                        </a:rPr>
                        <a:t> </a:t>
                      </a:r>
                      <a:r>
                        <a:rPr lang="en-US" altLang="zh-TW" dirty="0">
                          <a:latin typeface="Avenir Book" panose="02000503020000020003"/>
                        </a:rPr>
                        <a:t>safe</a:t>
                      </a:r>
                      <a:r>
                        <a:rPr lang="zh-TW" altLang="en-US" dirty="0">
                          <a:latin typeface="Avenir Book" panose="02000503020000020003"/>
                        </a:rPr>
                        <a:t> </a:t>
                      </a:r>
                      <a:r>
                        <a:rPr lang="en-US" altLang="zh-TW" dirty="0">
                          <a:latin typeface="Avenir Book" panose="02000503020000020003"/>
                        </a:rPr>
                        <a:t>zone</a:t>
                      </a:r>
                      <a:endParaRPr lang="zh-TW" altLang="en-US" dirty="0">
                        <a:latin typeface="Avenir Book" panose="02000503020000020003"/>
                      </a:endParaRPr>
                    </a:p>
                  </a:txBody>
                  <a:tcPr anchor="ctr"/>
                </a:tc>
                <a:tc>
                  <a:txBody>
                    <a:bodyPr/>
                    <a:lstStyle/>
                    <a:p>
                      <a:pPr lvl="0" algn="ctr">
                        <a:lnSpc>
                          <a:spcPct val="100000"/>
                        </a:lnSpc>
                        <a:spcBef>
                          <a:spcPts val="0"/>
                        </a:spcBef>
                        <a:spcAft>
                          <a:spcPts val="0"/>
                        </a:spcAft>
                        <a:buNone/>
                      </a:pPr>
                      <a:r>
                        <a:rPr lang="en-US" sz="1800" b="0" i="0" u="none" strike="noStrike" noProof="0" dirty="0">
                          <a:solidFill>
                            <a:srgbClr val="000000"/>
                          </a:solidFill>
                          <a:latin typeface="Avenir Book"/>
                        </a:rPr>
                        <a:t>Sends alert when user is at an unfamiliar place</a:t>
                      </a:r>
                    </a:p>
                  </a:txBody>
                  <a:tcPr anchor="ctr"/>
                </a:tc>
                <a:tc>
                  <a:txBody>
                    <a:bodyPr/>
                    <a:lstStyle/>
                    <a:p>
                      <a:pPr lvl="0" algn="ctr">
                        <a:buNone/>
                      </a:pPr>
                      <a:r>
                        <a:rPr lang="en-US" altLang="zh-TW" dirty="0">
                          <a:latin typeface="Avenir Book" panose="02000503020000020003"/>
                        </a:rPr>
                        <a:t>Caregivers</a:t>
                      </a:r>
                      <a:r>
                        <a:rPr lang="zh-TW" altLang="en-US" dirty="0">
                          <a:latin typeface="Avenir Book" panose="02000503020000020003"/>
                        </a:rPr>
                        <a:t> </a:t>
                      </a:r>
                      <a:r>
                        <a:rPr lang="en-US" altLang="zh-TW" dirty="0">
                          <a:latin typeface="Avenir Book" panose="02000503020000020003"/>
                        </a:rPr>
                        <a:t>enable</a:t>
                      </a:r>
                      <a:r>
                        <a:rPr lang="zh-TW" altLang="en-US" dirty="0">
                          <a:latin typeface="Avenir Book" panose="02000503020000020003"/>
                        </a:rPr>
                        <a:t> </a:t>
                      </a:r>
                      <a:r>
                        <a:rPr lang="en-US" altLang="zh-TW" dirty="0">
                          <a:latin typeface="Avenir Book" panose="02000503020000020003"/>
                        </a:rPr>
                        <a:t>“Report</a:t>
                      </a:r>
                      <a:r>
                        <a:rPr lang="zh-TW" altLang="en-US" dirty="0">
                          <a:latin typeface="Avenir Book" panose="02000503020000020003"/>
                        </a:rPr>
                        <a:t> </a:t>
                      </a:r>
                      <a:r>
                        <a:rPr lang="en-US" altLang="zh-TW" dirty="0">
                          <a:latin typeface="Avenir Book" panose="02000503020000020003"/>
                        </a:rPr>
                        <a:t>Lost”</a:t>
                      </a:r>
                      <a:r>
                        <a:rPr lang="zh-TW" altLang="en-US" dirty="0">
                          <a:latin typeface="Avenir Book" panose="02000503020000020003"/>
                        </a:rPr>
                        <a:t> </a:t>
                      </a:r>
                      <a:r>
                        <a:rPr lang="en-US" altLang="zh-TW" dirty="0">
                          <a:latin typeface="Avenir Book" panose="02000503020000020003"/>
                        </a:rPr>
                        <a:t>to</a:t>
                      </a:r>
                      <a:r>
                        <a:rPr lang="zh-TW" altLang="en-US" dirty="0">
                          <a:latin typeface="Avenir Book" panose="02000503020000020003"/>
                        </a:rPr>
                        <a:t> </a:t>
                      </a:r>
                      <a:r>
                        <a:rPr lang="en-US" altLang="zh-TW" dirty="0">
                          <a:latin typeface="Avenir Book" panose="02000503020000020003"/>
                        </a:rPr>
                        <a:t>track</a:t>
                      </a:r>
                      <a:r>
                        <a:rPr lang="zh-TW" altLang="en-US" dirty="0">
                          <a:latin typeface="Avenir Book" panose="02000503020000020003"/>
                        </a:rPr>
                        <a:t> </a:t>
                      </a:r>
                      <a:r>
                        <a:rPr lang="en-US" altLang="zh-TW" dirty="0">
                          <a:latin typeface="Avenir Book" panose="02000503020000020003"/>
                        </a:rPr>
                        <a:t>the</a:t>
                      </a:r>
                      <a:r>
                        <a:rPr lang="zh-TW" altLang="en-US" dirty="0">
                          <a:latin typeface="Avenir Book" panose="02000503020000020003"/>
                        </a:rPr>
                        <a:t> </a:t>
                      </a:r>
                      <a:r>
                        <a:rPr lang="en-US" altLang="zh-TW" dirty="0">
                          <a:latin typeface="Avenir Book" panose="02000503020000020003"/>
                        </a:rPr>
                        <a:t>user’s</a:t>
                      </a:r>
                      <a:r>
                        <a:rPr lang="zh-TW" altLang="en-US" dirty="0">
                          <a:latin typeface="Avenir Book" panose="02000503020000020003"/>
                        </a:rPr>
                        <a:t> </a:t>
                      </a:r>
                      <a:r>
                        <a:rPr lang="en-US" altLang="zh-TW" dirty="0">
                          <a:latin typeface="Avenir Book" panose="02000503020000020003"/>
                        </a:rPr>
                        <a:t>location</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latin typeface="Avenir Book" panose="02000503020000020003"/>
                        </a:rPr>
                        <a:t>Staff</a:t>
                      </a:r>
                      <a:r>
                        <a:rPr lang="zh-TW" altLang="en-US" dirty="0">
                          <a:latin typeface="Avenir Book" panose="02000503020000020003"/>
                        </a:rPr>
                        <a:t> </a:t>
                      </a:r>
                      <a:r>
                        <a:rPr lang="en-US" altLang="zh-TW" dirty="0">
                          <a:latin typeface="Avenir Book" panose="02000503020000020003"/>
                        </a:rPr>
                        <a:t>will</a:t>
                      </a:r>
                      <a:r>
                        <a:rPr lang="zh-TW" altLang="en-US" dirty="0">
                          <a:latin typeface="Avenir Book" panose="02000503020000020003"/>
                        </a:rPr>
                        <a:t> </a:t>
                      </a:r>
                      <a:r>
                        <a:rPr lang="en-US" altLang="zh-TW" dirty="0">
                          <a:latin typeface="Avenir Book" panose="02000503020000020003"/>
                        </a:rPr>
                        <a:t>be</a:t>
                      </a:r>
                      <a:r>
                        <a:rPr lang="zh-TW" altLang="en-US" dirty="0">
                          <a:latin typeface="Avenir Book" panose="02000503020000020003"/>
                        </a:rPr>
                        <a:t> </a:t>
                      </a:r>
                      <a:r>
                        <a:rPr lang="en-US" altLang="zh-TW" dirty="0">
                          <a:latin typeface="Avenir Book" panose="02000503020000020003"/>
                        </a:rPr>
                        <a:t>taking</a:t>
                      </a:r>
                      <a:r>
                        <a:rPr lang="zh-TW" altLang="en-US" dirty="0">
                          <a:latin typeface="Avenir Book" panose="02000503020000020003"/>
                        </a:rPr>
                        <a:t> </a:t>
                      </a:r>
                      <a:r>
                        <a:rPr lang="en-US" altLang="zh-TW" dirty="0">
                          <a:latin typeface="Avenir Book" panose="02000503020000020003"/>
                        </a:rPr>
                        <a:t>care</a:t>
                      </a:r>
                      <a:r>
                        <a:rPr lang="zh-TW" altLang="en-US" dirty="0">
                          <a:latin typeface="Avenir Book" panose="02000503020000020003"/>
                        </a:rPr>
                        <a:t> </a:t>
                      </a:r>
                      <a:r>
                        <a:rPr lang="en-US" altLang="zh-TW" dirty="0">
                          <a:latin typeface="Avenir Book" panose="02000503020000020003"/>
                        </a:rPr>
                        <a:t>of</a:t>
                      </a:r>
                      <a:r>
                        <a:rPr lang="zh-TW" altLang="en-US" dirty="0">
                          <a:latin typeface="Avenir Book" panose="02000503020000020003"/>
                        </a:rPr>
                        <a:t> </a:t>
                      </a:r>
                      <a:r>
                        <a:rPr lang="en-US" altLang="zh-TW" dirty="0">
                          <a:latin typeface="Avenir Book" panose="02000503020000020003"/>
                        </a:rPr>
                        <a:t>the</a:t>
                      </a:r>
                      <a:r>
                        <a:rPr lang="zh-TW" altLang="en-US" dirty="0">
                          <a:latin typeface="Avenir Book" panose="02000503020000020003"/>
                        </a:rPr>
                        <a:t> </a:t>
                      </a:r>
                      <a:r>
                        <a:rPr lang="en-US" altLang="zh-TW" dirty="0">
                          <a:latin typeface="Avenir Book" panose="02000503020000020003"/>
                        </a:rPr>
                        <a:t>elderly</a:t>
                      </a:r>
                      <a:r>
                        <a:rPr lang="zh-TW" altLang="en-US" dirty="0">
                          <a:latin typeface="Avenir Book" panose="02000503020000020003"/>
                        </a:rPr>
                        <a:t> </a:t>
                      </a:r>
                      <a:r>
                        <a:rPr lang="en-US" altLang="zh-TW" dirty="0">
                          <a:latin typeface="Avenir Book" panose="02000503020000020003"/>
                        </a:rPr>
                        <a:t>24-7</a:t>
                      </a:r>
                      <a:endParaRPr lang="zh-TW" altLang="en-US" dirty="0">
                        <a:latin typeface="Avenir Book" panose="02000503020000020003"/>
                      </a:endParaRPr>
                    </a:p>
                  </a:txBody>
                  <a:tcPr anchor="ctr"/>
                </a:tc>
                <a:extLst>
                  <a:ext uri="{0D108BD9-81ED-4DB2-BD59-A6C34878D82A}">
                    <a16:rowId xmlns:a16="http://schemas.microsoft.com/office/drawing/2014/main" val="4149367533"/>
                  </a:ext>
                </a:extLst>
              </a:tr>
              <a:tr h="393976">
                <a:tc>
                  <a:txBody>
                    <a:bodyPr/>
                    <a:lstStyle/>
                    <a:p>
                      <a:r>
                        <a:rPr lang="zh-TW" altLang="en-US">
                          <a:latin typeface="Avenir Book" panose="02000503020000020003"/>
                        </a:rPr>
                        <a:t>Type of Gadget</a:t>
                      </a:r>
                    </a:p>
                  </a:txBody>
                  <a:tcPr anchor="ctr"/>
                </a:tc>
                <a:tc>
                  <a:txBody>
                    <a:bodyPr/>
                    <a:lstStyle/>
                    <a:p>
                      <a:pPr algn="ctr"/>
                      <a:r>
                        <a:rPr lang="en-US" altLang="zh-TW" dirty="0">
                          <a:latin typeface="Avenir Book" panose="02000503020000020003"/>
                        </a:rPr>
                        <a:t>Watch</a:t>
                      </a:r>
                      <a:endParaRPr lang="zh-TW" altLang="en-US">
                        <a:latin typeface="Avenir Book" panose="02000503020000020003"/>
                      </a:endParaRPr>
                    </a:p>
                  </a:txBody>
                  <a:tcPr anchor="ctr"/>
                </a:tc>
                <a:tc>
                  <a:txBody>
                    <a:bodyPr/>
                    <a:lstStyle/>
                    <a:p>
                      <a:pPr algn="ctr"/>
                      <a:r>
                        <a:rPr lang="en-US" altLang="zh-TW" dirty="0">
                          <a:latin typeface="Avenir Book" panose="02000503020000020003"/>
                        </a:rPr>
                        <a:t>Watch</a:t>
                      </a:r>
                    </a:p>
                  </a:txBody>
                  <a:tcPr anchor="ctr"/>
                </a:tc>
                <a:tc>
                  <a:txBody>
                    <a:bodyPr/>
                    <a:lstStyle/>
                    <a:p>
                      <a:pPr lvl="0" algn="ctr">
                        <a:buNone/>
                      </a:pPr>
                      <a:r>
                        <a:rPr lang="en-US" altLang="zh-TW" dirty="0">
                          <a:latin typeface="Avenir Book" panose="02000503020000020003"/>
                        </a:rPr>
                        <a:t>Mobile</a:t>
                      </a:r>
                      <a:r>
                        <a:rPr lang="zh-TW" altLang="en-US" dirty="0">
                          <a:latin typeface="Avenir Book" panose="02000503020000020003"/>
                        </a:rPr>
                        <a:t> </a:t>
                      </a:r>
                      <a:r>
                        <a:rPr lang="en-US" altLang="zh-TW" dirty="0">
                          <a:latin typeface="Avenir Book" panose="02000503020000020003"/>
                        </a:rPr>
                        <a:t>App</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a:latin typeface="Avenir Book" panose="02000503020000020003"/>
                        </a:rPr>
                        <a:t>N/A</a:t>
                      </a:r>
                    </a:p>
                  </a:txBody>
                  <a:tcPr anchor="ctr"/>
                </a:tc>
                <a:extLst>
                  <a:ext uri="{0D108BD9-81ED-4DB2-BD59-A6C34878D82A}">
                    <a16:rowId xmlns:a16="http://schemas.microsoft.com/office/drawing/2014/main" val="438382679"/>
                  </a:ext>
                </a:extLst>
              </a:tr>
              <a:tr h="865415">
                <a:tc>
                  <a:txBody>
                    <a:bodyPr/>
                    <a:lstStyle/>
                    <a:p>
                      <a:r>
                        <a:rPr lang="en-US" altLang="zh-TW" dirty="0">
                          <a:latin typeface="Avenir Book"/>
                        </a:rPr>
                        <a:t>User</a:t>
                      </a:r>
                      <a:r>
                        <a:rPr lang="zh-TW" altLang="en-US">
                          <a:latin typeface="Avenir Book"/>
                        </a:rPr>
                        <a:t> </a:t>
                      </a:r>
                      <a:r>
                        <a:rPr lang="en-US" altLang="zh-TW" dirty="0">
                          <a:latin typeface="Avenir Book"/>
                        </a:rPr>
                        <a:t>Target</a:t>
                      </a:r>
                      <a:endParaRPr lang="zh-TW" altLang="en-US">
                        <a:latin typeface="Avenir Book"/>
                      </a:endParaRPr>
                    </a:p>
                  </a:txBody>
                  <a:tcPr anchor="ctr"/>
                </a:tc>
                <a:tc>
                  <a:txBody>
                    <a:bodyPr/>
                    <a:lstStyle/>
                    <a:p>
                      <a:pPr algn="ctr"/>
                      <a:r>
                        <a:rPr lang="en-US" altLang="zh-TW" dirty="0">
                          <a:latin typeface="Avenir Book" panose="02000503020000020003"/>
                        </a:rPr>
                        <a:t>Dementia</a:t>
                      </a:r>
                      <a:r>
                        <a:rPr lang="zh-TW" altLang="en-US" dirty="0">
                          <a:latin typeface="Avenir Book" panose="02000503020000020003"/>
                        </a:rPr>
                        <a:t> </a:t>
                      </a:r>
                      <a:r>
                        <a:rPr lang="en-US" altLang="zh-TW" dirty="0">
                          <a:latin typeface="Avenir Book" panose="02000503020000020003"/>
                        </a:rPr>
                        <a:t>Patient</a:t>
                      </a:r>
                      <a:endParaRPr lang="zh-TW" altLang="en-US" dirty="0">
                        <a:latin typeface="Avenir Book" panose="02000503020000020003"/>
                      </a:endParaRPr>
                    </a:p>
                  </a:txBody>
                  <a:tcPr anchor="ctr"/>
                </a:tc>
                <a:tc>
                  <a:txBody>
                    <a:bodyPr/>
                    <a:lstStyle/>
                    <a:p>
                      <a:pPr algn="ctr"/>
                      <a:r>
                        <a:rPr lang="en-US" altLang="zh-TW" dirty="0">
                          <a:latin typeface="Avenir Book" panose="02000503020000020003"/>
                        </a:rPr>
                        <a:t>Children</a:t>
                      </a:r>
                    </a:p>
                  </a:txBody>
                  <a:tcPr anchor="ctr"/>
                </a:tc>
                <a:tc>
                  <a:txBody>
                    <a:bodyPr/>
                    <a:lstStyle/>
                    <a:p>
                      <a:pPr lvl="0" algn="ctr">
                        <a:buNone/>
                      </a:pPr>
                      <a:r>
                        <a:rPr lang="en-US" altLang="zh-TW" dirty="0">
                          <a:latin typeface="Avenir Book" panose="02000503020000020003"/>
                        </a:rPr>
                        <a:t>Dementia</a:t>
                      </a:r>
                      <a:r>
                        <a:rPr lang="zh-TW" altLang="en-US" dirty="0">
                          <a:latin typeface="Avenir Book" panose="02000503020000020003"/>
                        </a:rPr>
                        <a:t> </a:t>
                      </a:r>
                      <a:r>
                        <a:rPr lang="en-US" altLang="zh-TW" dirty="0">
                          <a:latin typeface="Avenir Book" panose="02000503020000020003"/>
                        </a:rPr>
                        <a:t>Patient</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Questionable Reputation / Social Stigma</a:t>
                      </a:r>
                    </a:p>
                  </a:txBody>
                  <a:tcPr anchor="ctr"/>
                </a:tc>
                <a:extLst>
                  <a:ext uri="{0D108BD9-81ED-4DB2-BD59-A6C34878D82A}">
                    <a16:rowId xmlns:a16="http://schemas.microsoft.com/office/drawing/2014/main" val="1856841042"/>
                  </a:ext>
                </a:extLst>
              </a:tr>
              <a:tr h="412894">
                <a:tc>
                  <a:txBody>
                    <a:bodyPr/>
                    <a:lstStyle/>
                    <a:p>
                      <a:r>
                        <a:rPr lang="en-US" altLang="zh-TW" dirty="0">
                          <a:latin typeface="Avenir Book" panose="02000503020000020003"/>
                        </a:rPr>
                        <a:t>Technology</a:t>
                      </a:r>
                      <a:endParaRPr lang="zh-TW" altLang="en-US">
                        <a:latin typeface="Avenir Book" panose="02000503020000020003"/>
                      </a:endParaRPr>
                    </a:p>
                  </a:txBody>
                  <a:tcPr anchor="ctr"/>
                </a:tc>
                <a:tc>
                  <a:txBody>
                    <a:bodyPr/>
                    <a:lstStyle/>
                    <a:p>
                      <a:pPr algn="ctr"/>
                      <a:r>
                        <a:rPr lang="en-US" altLang="zh-TW" dirty="0">
                          <a:latin typeface="Avenir Book" panose="02000503020000020003"/>
                        </a:rPr>
                        <a:t>Beidou</a:t>
                      </a:r>
                      <a:r>
                        <a:rPr lang="zh-TW" altLang="en-US" dirty="0">
                          <a:latin typeface="Avenir Book" panose="02000503020000020003"/>
                        </a:rPr>
                        <a:t> </a:t>
                      </a:r>
                      <a:r>
                        <a:rPr lang="en-US" altLang="zh-TW" dirty="0">
                          <a:latin typeface="Avenir Book" panose="02000503020000020003"/>
                        </a:rPr>
                        <a:t>/</a:t>
                      </a:r>
                      <a:r>
                        <a:rPr lang="zh-TW" altLang="en-US" dirty="0">
                          <a:latin typeface="Avenir Book" panose="02000503020000020003"/>
                        </a:rPr>
                        <a:t> </a:t>
                      </a:r>
                      <a:r>
                        <a:rPr lang="en-US" altLang="zh-TW" dirty="0">
                          <a:latin typeface="Avenir Book" panose="02000503020000020003"/>
                        </a:rPr>
                        <a:t>GPS</a:t>
                      </a:r>
                      <a:endParaRPr lang="zh-TW" altLang="en-US" dirty="0">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a:rPr>
                        <a:t>GPS</a:t>
                      </a:r>
                    </a:p>
                  </a:txBody>
                  <a:tcPr anchor="ctr"/>
                </a:tc>
                <a:tc>
                  <a:txBody>
                    <a:bodyPr/>
                    <a:lstStyle/>
                    <a:p>
                      <a:pPr marL="0" marR="0" lvl="0" indent="0" algn="ctr" rtl="0">
                        <a:lnSpc>
                          <a:spcPct val="100000"/>
                        </a:lnSpc>
                        <a:spcBef>
                          <a:spcPts val="0"/>
                        </a:spcBef>
                        <a:spcAft>
                          <a:spcPts val="0"/>
                        </a:spcAft>
                        <a:buClrTx/>
                        <a:buSzTx/>
                        <a:buFontTx/>
                        <a:buNone/>
                      </a:pPr>
                      <a:r>
                        <a:rPr lang="en-US" altLang="zh-TW" dirty="0">
                          <a:latin typeface="Avenir Book" panose="02000503020000020003"/>
                        </a:rPr>
                        <a:t>Crowdsourcing</a:t>
                      </a:r>
                      <a:r>
                        <a:rPr lang="zh-TW" altLang="en-US">
                          <a:latin typeface="Avenir Book" panose="02000503020000020003"/>
                        </a:rPr>
                        <a:t> </a:t>
                      </a:r>
                      <a:r>
                        <a:rPr lang="en-US" altLang="zh-TW" dirty="0">
                          <a:latin typeface="Avenir Book" panose="02000503020000020003"/>
                        </a:rPr>
                        <a:t>with</a:t>
                      </a:r>
                      <a:r>
                        <a:rPr lang="zh-TW" altLang="en-US">
                          <a:latin typeface="Avenir Book" panose="02000503020000020003"/>
                        </a:rPr>
                        <a:t> </a:t>
                      </a:r>
                      <a:r>
                        <a:rPr lang="en-US" altLang="zh-TW" dirty="0">
                          <a:latin typeface="Avenir Book" panose="02000503020000020003"/>
                        </a:rPr>
                        <a:t>Bluetooth</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panose="02000503020000020003"/>
                        </a:rPr>
                        <a:t>/</a:t>
                      </a:r>
                      <a:endParaRPr lang="zh-TW" altLang="en-US" dirty="0">
                        <a:latin typeface="Avenir Book" panose="02000503020000020003"/>
                      </a:endParaRPr>
                    </a:p>
                  </a:txBody>
                  <a:tcPr anchor="ctr"/>
                </a:tc>
                <a:extLst>
                  <a:ext uri="{0D108BD9-81ED-4DB2-BD59-A6C34878D82A}">
                    <a16:rowId xmlns:a16="http://schemas.microsoft.com/office/drawing/2014/main" val="1994389576"/>
                  </a:ext>
                </a:extLst>
              </a:tr>
              <a:tr h="686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Avenir Book" panose="02000503020000020003"/>
                        </a:rPr>
                        <a:t>Pricing</a:t>
                      </a:r>
                      <a:endParaRPr lang="zh-TW" altLang="en-US">
                        <a:latin typeface="Avenir Book" panose="02000503020000020003"/>
                      </a:endParaRPr>
                    </a:p>
                    <a:p>
                      <a:endParaRPr lang="zh-TW" altLang="en-US">
                        <a:latin typeface="Avenir Book" panose="02000503020000020003"/>
                      </a:endParaRPr>
                    </a:p>
                  </a:txBody>
                  <a:tcPr anchor="ctr"/>
                </a:tc>
                <a:tc>
                  <a:txBody>
                    <a:bodyPr/>
                    <a:lstStyle/>
                    <a:p>
                      <a:pPr algn="ctr"/>
                      <a:r>
                        <a:rPr lang="en-US" altLang="zh-TW" dirty="0">
                          <a:latin typeface="Avenir Book" panose="02000503020000020003"/>
                        </a:rPr>
                        <a:t>$200</a:t>
                      </a:r>
                    </a:p>
                  </a:txBody>
                  <a:tcPr anchor="ctr"/>
                </a:tc>
                <a:tc>
                  <a:txBody>
                    <a:bodyPr/>
                    <a:lstStyle/>
                    <a:p>
                      <a:pPr marL="0" marR="0" lvl="0" indent="0" algn="ctr" rtl="0" eaLnBrk="1" fontAlgn="auto" latinLnBrk="0" hangingPunct="1">
                        <a:lnSpc>
                          <a:spcPct val="100000"/>
                        </a:lnSpc>
                        <a:spcBef>
                          <a:spcPts val="0"/>
                        </a:spcBef>
                        <a:spcAft>
                          <a:spcPts val="0"/>
                        </a:spcAft>
                        <a:buClrTx/>
                        <a:buSzTx/>
                        <a:buFontTx/>
                        <a:buNone/>
                      </a:pPr>
                      <a:r>
                        <a:rPr lang="en-US" altLang="zh-TW" dirty="0">
                          <a:latin typeface="Avenir Book"/>
                        </a:rPr>
                        <a:t>$1792HKD + (350-500HKD monthly)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Avenir Book"/>
                        </a:rPr>
                        <a:t>Free</a:t>
                      </a:r>
                      <a:r>
                        <a:rPr lang="zh-TW" altLang="en-US">
                          <a:latin typeface="Avenir Book" panose="02000503020000020003"/>
                        </a:rPr>
                        <a:t> </a:t>
                      </a:r>
                      <a:r>
                        <a:rPr lang="en-US" altLang="zh-TW" dirty="0">
                          <a:latin typeface="Avenir Book"/>
                        </a:rPr>
                        <a:t>with</a:t>
                      </a:r>
                      <a:r>
                        <a:rPr lang="zh-TW" altLang="en-US">
                          <a:latin typeface="Avenir Book" panose="02000503020000020003"/>
                        </a:rPr>
                        <a:t> </a:t>
                      </a:r>
                      <a:r>
                        <a:rPr lang="en-US" altLang="zh-TW" dirty="0">
                          <a:latin typeface="Avenir Book"/>
                        </a:rPr>
                        <a:t>application</a:t>
                      </a:r>
                      <a:endParaRPr lang="zh-TW" altLang="en-US">
                        <a:latin typeface="Avenir Book" panose="02000503020000020003"/>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dirty="0">
                          <a:latin typeface="Avenir Book" panose="02000503020000020003"/>
                        </a:rPr>
                        <a:t>$9000HKD per month</a:t>
                      </a:r>
                    </a:p>
                  </a:txBody>
                  <a:tcPr anchor="ctr"/>
                </a:tc>
                <a:extLst>
                  <a:ext uri="{0D108BD9-81ED-4DB2-BD59-A6C34878D82A}">
                    <a16:rowId xmlns:a16="http://schemas.microsoft.com/office/drawing/2014/main" val="496507906"/>
                  </a:ext>
                </a:extLst>
              </a:tr>
            </a:tbl>
          </a:graphicData>
        </a:graphic>
      </p:graphicFrame>
      <p:sp>
        <p:nvSpPr>
          <p:cNvPr id="2" name="Rectangle 1">
            <a:extLst>
              <a:ext uri="{FF2B5EF4-FFF2-40B4-BE49-F238E27FC236}">
                <a16:creationId xmlns:a16="http://schemas.microsoft.com/office/drawing/2014/main" id="{B6D30D2C-55AC-B191-E7B9-75B933470A14}"/>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2">
            <a:extLst>
              <a:ext uri="{FF2B5EF4-FFF2-40B4-BE49-F238E27FC236}">
                <a16:creationId xmlns:a16="http://schemas.microsoft.com/office/drawing/2014/main" id="{13C79742-D7B8-864B-1278-ADC3FF70A544}"/>
              </a:ext>
            </a:extLst>
          </p:cNvPr>
          <p:cNvSpPr txBox="1">
            <a:spLocks noGrp="1"/>
          </p:cNvSpPr>
          <p:nvPr>
            <p:ph type="title" idx="4294967295"/>
          </p:nvPr>
        </p:nvSpPr>
        <p:spPr>
          <a:xfrm>
            <a:off x="375976" y="333593"/>
            <a:ext cx="3565403"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Competitor</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s</a:t>
            </a:r>
            <a:r>
              <a:rPr kumimoji="0" lang="en-US"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 analysis</a:t>
            </a:r>
            <a:endParaRPr kumimoji="0" lang="en-GB"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12" name="TextBox 11">
            <a:extLst>
              <a:ext uri="{FF2B5EF4-FFF2-40B4-BE49-F238E27FC236}">
                <a16:creationId xmlns:a16="http://schemas.microsoft.com/office/drawing/2014/main" id="{7DB5AD68-0F5B-52D3-900D-85863744869E}"/>
              </a:ext>
            </a:extLst>
          </p:cNvPr>
          <p:cNvSpPr txBox="1"/>
          <p:nvPr/>
        </p:nvSpPr>
        <p:spPr>
          <a:xfrm>
            <a:off x="9531979" y="333917"/>
            <a:ext cx="2257990" cy="369332"/>
          </a:xfrm>
          <a:prstGeom prst="rect">
            <a:avLst/>
          </a:prstGeom>
          <a:noFill/>
        </p:spPr>
        <p:txBody>
          <a:bodyPr wrap="square" rtlCol="0">
            <a:spAutoFit/>
          </a:bodyPr>
          <a:lstStyle/>
          <a:p>
            <a:pPr algn="ctr"/>
            <a:r>
              <a:rPr lang="en-US" altLang="zh-HK" dirty="0">
                <a:latin typeface="Avenir Book" panose="02000503020000020003"/>
              </a:rPr>
              <a:t>Indirect competitors</a:t>
            </a:r>
            <a:endParaRPr lang="zh-HK" altLang="en-US" dirty="0">
              <a:latin typeface="Avenir Book" panose="02000503020000020003"/>
            </a:endParaRPr>
          </a:p>
        </p:txBody>
      </p:sp>
      <p:sp>
        <p:nvSpPr>
          <p:cNvPr id="18" name="Left Bracket 17">
            <a:extLst>
              <a:ext uri="{FF2B5EF4-FFF2-40B4-BE49-F238E27FC236}">
                <a16:creationId xmlns:a16="http://schemas.microsoft.com/office/drawing/2014/main" id="{9A29957F-4771-50F7-C968-242BCE6D0E56}"/>
              </a:ext>
            </a:extLst>
          </p:cNvPr>
          <p:cNvSpPr/>
          <p:nvPr/>
        </p:nvSpPr>
        <p:spPr>
          <a:xfrm rot="5400000">
            <a:off x="10600213" y="-383632"/>
            <a:ext cx="121159" cy="2294985"/>
          </a:xfrm>
          <a:prstGeom prst="leftBracket">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Left Bracket 4">
            <a:extLst>
              <a:ext uri="{FF2B5EF4-FFF2-40B4-BE49-F238E27FC236}">
                <a16:creationId xmlns:a16="http://schemas.microsoft.com/office/drawing/2014/main" id="{6837BCE5-5E4D-3E04-DE53-A39C595908D5}"/>
              </a:ext>
            </a:extLst>
          </p:cNvPr>
          <p:cNvSpPr/>
          <p:nvPr/>
        </p:nvSpPr>
        <p:spPr>
          <a:xfrm rot="5400000">
            <a:off x="7006468" y="-1669407"/>
            <a:ext cx="121159" cy="4866533"/>
          </a:xfrm>
          <a:prstGeom prst="leftBracket">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TextBox 7">
            <a:extLst>
              <a:ext uri="{FF2B5EF4-FFF2-40B4-BE49-F238E27FC236}">
                <a16:creationId xmlns:a16="http://schemas.microsoft.com/office/drawing/2014/main" id="{17D5DDBC-0060-362F-2072-B3661D9352CA}"/>
              </a:ext>
            </a:extLst>
          </p:cNvPr>
          <p:cNvSpPr txBox="1"/>
          <p:nvPr/>
        </p:nvSpPr>
        <p:spPr>
          <a:xfrm>
            <a:off x="6084399" y="333917"/>
            <a:ext cx="2257990" cy="369332"/>
          </a:xfrm>
          <a:prstGeom prst="rect">
            <a:avLst/>
          </a:prstGeom>
          <a:noFill/>
        </p:spPr>
        <p:txBody>
          <a:bodyPr wrap="square" lIns="91440" tIns="45720" rIns="91440" bIns="45720" rtlCol="0" anchor="t">
            <a:spAutoFit/>
          </a:bodyPr>
          <a:lstStyle/>
          <a:p>
            <a:pPr algn="ctr"/>
            <a:r>
              <a:rPr lang="en-US" altLang="zh-HK" dirty="0">
                <a:latin typeface="Avenir Book" panose="02000503020000020003"/>
                <a:ea typeface="新細明體"/>
              </a:rPr>
              <a:t>Direct competitors</a:t>
            </a:r>
            <a:endParaRPr lang="zh-HK" altLang="en-US" dirty="0">
              <a:latin typeface="Avenir Book" panose="02000503020000020003"/>
              <a:ea typeface="新細明體"/>
            </a:endParaRPr>
          </a:p>
        </p:txBody>
      </p:sp>
      <p:sp>
        <p:nvSpPr>
          <p:cNvPr id="6" name="Rounded Rectangle 5">
            <a:extLst>
              <a:ext uri="{FF2B5EF4-FFF2-40B4-BE49-F238E27FC236}">
                <a16:creationId xmlns:a16="http://schemas.microsoft.com/office/drawing/2014/main" id="{70A5C605-FCAF-2ECE-8122-78CADDE8FD03}"/>
              </a:ext>
            </a:extLst>
          </p:cNvPr>
          <p:cNvSpPr/>
          <p:nvPr/>
        </p:nvSpPr>
        <p:spPr>
          <a:xfrm>
            <a:off x="2482694" y="758324"/>
            <a:ext cx="2151089" cy="5906802"/>
          </a:xfrm>
          <a:prstGeom prst="roundRect">
            <a:avLst>
              <a:gd name="adj" fmla="val 3912"/>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C1E7768-B056-5E07-78EE-8B69530FA4D1}"/>
              </a:ext>
            </a:extLst>
          </p:cNvPr>
          <p:cNvSpPr/>
          <p:nvPr/>
        </p:nvSpPr>
        <p:spPr>
          <a:xfrm>
            <a:off x="5292436" y="4391891"/>
            <a:ext cx="1281546" cy="4225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9" name="Rectangle 8">
            <a:extLst>
              <a:ext uri="{FF2B5EF4-FFF2-40B4-BE49-F238E27FC236}">
                <a16:creationId xmlns:a16="http://schemas.microsoft.com/office/drawing/2014/main" id="{E469F208-7F01-92CF-95C6-98389AB10501}"/>
              </a:ext>
            </a:extLst>
          </p:cNvPr>
          <p:cNvSpPr/>
          <p:nvPr/>
        </p:nvSpPr>
        <p:spPr>
          <a:xfrm>
            <a:off x="2895600" y="5756564"/>
            <a:ext cx="1115291" cy="546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0" name="Rectangle 9">
            <a:extLst>
              <a:ext uri="{FF2B5EF4-FFF2-40B4-BE49-F238E27FC236}">
                <a16:creationId xmlns:a16="http://schemas.microsoft.com/office/drawing/2014/main" id="{62F47099-5090-9F89-4094-774E750BAAFB}"/>
              </a:ext>
            </a:extLst>
          </p:cNvPr>
          <p:cNvSpPr/>
          <p:nvPr/>
        </p:nvSpPr>
        <p:spPr>
          <a:xfrm>
            <a:off x="9670473" y="4017818"/>
            <a:ext cx="2043545" cy="96981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13" name="TextBox 12">
            <a:extLst>
              <a:ext uri="{FF2B5EF4-FFF2-40B4-BE49-F238E27FC236}">
                <a16:creationId xmlns:a16="http://schemas.microsoft.com/office/drawing/2014/main" id="{EF5758B0-7BE8-61BA-5645-C251320222F1}"/>
              </a:ext>
            </a:extLst>
          </p:cNvPr>
          <p:cNvSpPr txBox="1"/>
          <p:nvPr/>
        </p:nvSpPr>
        <p:spPr>
          <a:xfrm>
            <a:off x="319041" y="6401074"/>
            <a:ext cx="8629479" cy="369332"/>
          </a:xfrm>
          <a:prstGeom prst="rect">
            <a:avLst/>
          </a:prstGeom>
          <a:noFill/>
        </p:spPr>
        <p:txBody>
          <a:bodyPr wrap="square" rtlCol="0">
            <a:spAutoFit/>
          </a:bodyPr>
          <a:lstStyle/>
          <a:p>
            <a:r>
              <a:rPr lang="en-HK" dirty="0"/>
              <a:t>https://www.alzproducts.co.uk/day-date-talking-watches-dementia-alzheimers</a:t>
            </a:r>
          </a:p>
        </p:txBody>
      </p:sp>
      <p:sp>
        <p:nvSpPr>
          <p:cNvPr id="15" name="TextBox 14">
            <a:extLst>
              <a:ext uri="{FF2B5EF4-FFF2-40B4-BE49-F238E27FC236}">
                <a16:creationId xmlns:a16="http://schemas.microsoft.com/office/drawing/2014/main" id="{E5752628-D8A8-CF9E-1D0B-40519137174F}"/>
              </a:ext>
            </a:extLst>
          </p:cNvPr>
          <p:cNvSpPr txBox="1"/>
          <p:nvPr/>
        </p:nvSpPr>
        <p:spPr>
          <a:xfrm>
            <a:off x="5353778" y="967418"/>
            <a:ext cx="7070894" cy="646331"/>
          </a:xfrm>
          <a:prstGeom prst="rect">
            <a:avLst/>
          </a:prstGeom>
          <a:noFill/>
        </p:spPr>
        <p:txBody>
          <a:bodyPr wrap="square" rtlCol="0">
            <a:spAutoFit/>
          </a:bodyPr>
          <a:lstStyle/>
          <a:p>
            <a:r>
              <a:rPr lang="en-HK" dirty="0"/>
              <a:t>https://www.ourparents.com/products-for-seniors/watches-for-seniors-with-dementia</a:t>
            </a:r>
          </a:p>
        </p:txBody>
      </p:sp>
    </p:spTree>
    <p:extLst>
      <p:ext uri="{BB962C8B-B14F-4D97-AF65-F5344CB8AC3E}">
        <p14:creationId xmlns:p14="http://schemas.microsoft.com/office/powerpoint/2010/main" val="3469395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CDECC1-CF14-7C06-FCEE-BBBA1D801C72}"/>
              </a:ext>
            </a:extLst>
          </p:cNvPr>
          <p:cNvPicPr>
            <a:picLocks noChangeAspect="1"/>
          </p:cNvPicPr>
          <p:nvPr/>
        </p:nvPicPr>
        <p:blipFill>
          <a:blip r:embed="rId2"/>
          <a:stretch>
            <a:fillRect/>
          </a:stretch>
        </p:blipFill>
        <p:spPr>
          <a:xfrm>
            <a:off x="526663" y="485385"/>
            <a:ext cx="3477110" cy="5582429"/>
          </a:xfrm>
          <a:prstGeom prst="rect">
            <a:avLst/>
          </a:prstGeom>
        </p:spPr>
      </p:pic>
      <p:pic>
        <p:nvPicPr>
          <p:cNvPr id="8" name="Picture 7">
            <a:extLst>
              <a:ext uri="{FF2B5EF4-FFF2-40B4-BE49-F238E27FC236}">
                <a16:creationId xmlns:a16="http://schemas.microsoft.com/office/drawing/2014/main" id="{F1919B09-1559-1C54-FDF1-1BE77BB63B1B}"/>
              </a:ext>
            </a:extLst>
          </p:cNvPr>
          <p:cNvPicPr>
            <a:picLocks noChangeAspect="1"/>
          </p:cNvPicPr>
          <p:nvPr/>
        </p:nvPicPr>
        <p:blipFill>
          <a:blip r:embed="rId3"/>
          <a:stretch>
            <a:fillRect/>
          </a:stretch>
        </p:blipFill>
        <p:spPr>
          <a:xfrm>
            <a:off x="4003773" y="0"/>
            <a:ext cx="3396651" cy="6858000"/>
          </a:xfrm>
          <a:prstGeom prst="rect">
            <a:avLst/>
          </a:prstGeom>
        </p:spPr>
      </p:pic>
      <p:sp>
        <p:nvSpPr>
          <p:cNvPr id="9" name="TextBox 8">
            <a:extLst>
              <a:ext uri="{FF2B5EF4-FFF2-40B4-BE49-F238E27FC236}">
                <a16:creationId xmlns:a16="http://schemas.microsoft.com/office/drawing/2014/main" id="{F891F64F-7243-C2AB-14F4-CFD628C5CE7E}"/>
              </a:ext>
            </a:extLst>
          </p:cNvPr>
          <p:cNvSpPr txBox="1"/>
          <p:nvPr/>
        </p:nvSpPr>
        <p:spPr>
          <a:xfrm>
            <a:off x="7761930" y="349008"/>
            <a:ext cx="3903407" cy="923330"/>
          </a:xfrm>
          <a:prstGeom prst="rect">
            <a:avLst/>
          </a:prstGeom>
          <a:noFill/>
        </p:spPr>
        <p:txBody>
          <a:bodyPr wrap="square" rtlCol="0">
            <a:spAutoFit/>
          </a:bodyPr>
          <a:lstStyle/>
          <a:p>
            <a:r>
              <a:rPr lang="en-HK" dirty="0"/>
              <a:t>https://www.alzstore.com/v/vspfiles/pdfs/Alzheimers_Store_GPS_Tracking_Watches.pdf</a:t>
            </a:r>
          </a:p>
        </p:txBody>
      </p:sp>
      <p:sp>
        <p:nvSpPr>
          <p:cNvPr id="2" name="TextBox 1">
            <a:extLst>
              <a:ext uri="{FF2B5EF4-FFF2-40B4-BE49-F238E27FC236}">
                <a16:creationId xmlns:a16="http://schemas.microsoft.com/office/drawing/2014/main" id="{6AFBCBB6-7613-AEAE-B9C0-84305E748295}"/>
              </a:ext>
            </a:extLst>
          </p:cNvPr>
          <p:cNvSpPr txBox="1"/>
          <p:nvPr/>
        </p:nvSpPr>
        <p:spPr>
          <a:xfrm>
            <a:off x="7536873" y="2244436"/>
            <a:ext cx="3823854" cy="646331"/>
          </a:xfrm>
          <a:prstGeom prst="rect">
            <a:avLst/>
          </a:prstGeom>
          <a:noFill/>
        </p:spPr>
        <p:txBody>
          <a:bodyPr wrap="square" rtlCol="0">
            <a:spAutoFit/>
          </a:bodyPr>
          <a:lstStyle/>
          <a:p>
            <a:r>
              <a:rPr lang="en-HK" dirty="0"/>
              <a:t>https://www.gftechnovation.com.hk/en/smart-care/anti-wandering</a:t>
            </a:r>
          </a:p>
        </p:txBody>
      </p:sp>
    </p:spTree>
    <p:extLst>
      <p:ext uri="{BB962C8B-B14F-4D97-AF65-F5344CB8AC3E}">
        <p14:creationId xmlns:p14="http://schemas.microsoft.com/office/powerpoint/2010/main" val="791183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7C52A6-62B6-7A4A-9E52-498F98A2A89D}"/>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2">
            <a:extLst>
              <a:ext uri="{FF2B5EF4-FFF2-40B4-BE49-F238E27FC236}">
                <a16:creationId xmlns:a16="http://schemas.microsoft.com/office/drawing/2014/main" id="{2F269DF3-2174-FABA-FB7F-E6B5A0CEF1B3}"/>
              </a:ext>
            </a:extLst>
          </p:cNvPr>
          <p:cNvSpPr txBox="1">
            <a:spLocks noGrp="1"/>
          </p:cNvSpPr>
          <p:nvPr>
            <p:ph type="title" idx="4294967295"/>
          </p:nvPr>
        </p:nvSpPr>
        <p:spPr>
          <a:xfrm>
            <a:off x="375976" y="333593"/>
            <a:ext cx="5310121"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Appendix</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references</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&amp;</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attributions</a:t>
            </a:r>
            <a:endParaRPr kumimoji="0" lang="en-GB"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4" name="TextBox 3">
            <a:extLst>
              <a:ext uri="{FF2B5EF4-FFF2-40B4-BE49-F238E27FC236}">
                <a16:creationId xmlns:a16="http://schemas.microsoft.com/office/drawing/2014/main" id="{627162A3-1CC5-5470-F09B-0A76A0CD73A1}"/>
              </a:ext>
            </a:extLst>
          </p:cNvPr>
          <p:cNvSpPr txBox="1"/>
          <p:nvPr/>
        </p:nvSpPr>
        <p:spPr>
          <a:xfrm>
            <a:off x="307853" y="781920"/>
            <a:ext cx="11595676"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400" dirty="0">
                <a:latin typeface="Avenir Book"/>
                <a:ea typeface="新細明體"/>
                <a:cs typeface="Calibri"/>
              </a:rPr>
              <a:t>Market</a:t>
            </a:r>
            <a:r>
              <a:rPr lang="zh-TW" altLang="en-US" sz="1400" dirty="0">
                <a:latin typeface="Avenir Book"/>
                <a:ea typeface="新細明體"/>
                <a:cs typeface="Calibri"/>
              </a:rPr>
              <a:t> </a:t>
            </a:r>
            <a:r>
              <a:rPr lang="en-US" altLang="zh-TW" sz="1400" dirty="0">
                <a:latin typeface="Avenir Book"/>
                <a:ea typeface="新細明體"/>
                <a:cs typeface="Calibri"/>
              </a:rPr>
              <a:t>Size</a:t>
            </a:r>
          </a:p>
          <a:p>
            <a:r>
              <a:rPr lang="en-US" sz="1400" dirty="0">
                <a:latin typeface="Avenir Book"/>
                <a:cs typeface="Calibri"/>
              </a:rPr>
              <a:t>A </a:t>
            </a:r>
            <a:r>
              <a:rPr lang="en-US" sz="1400" dirty="0">
                <a:latin typeface="Avenir Book"/>
                <a:cs typeface="Calibri"/>
                <a:hlinkClick r:id="rId2"/>
              </a:rPr>
              <a:t>https://www.statista.com/statistics/1172165/china-population-in-the-greater-bay-area-cities/</a:t>
            </a:r>
            <a:r>
              <a:rPr lang="en-US" sz="1400" dirty="0">
                <a:latin typeface="Avenir Book"/>
                <a:cs typeface="Calibri"/>
              </a:rPr>
              <a:t> </a:t>
            </a:r>
            <a:endParaRPr lang="en-US" sz="1400" dirty="0">
              <a:latin typeface="Avenir Book" panose="02000503020000020003" pitchFamily="2" charset="0"/>
              <a:cs typeface="Calibri"/>
            </a:endParaRPr>
          </a:p>
          <a:p>
            <a:r>
              <a:rPr lang="en-US" sz="1400" dirty="0">
                <a:latin typeface="Avenir Book"/>
                <a:cs typeface="Calibri"/>
              </a:rPr>
              <a:t>B </a:t>
            </a:r>
            <a:r>
              <a:rPr lang="en-HK" sz="1400" b="0" i="0" dirty="0">
                <a:solidFill>
                  <a:srgbClr val="242424"/>
                </a:solidFill>
                <a:effectLst/>
                <a:latin typeface="Calibri"/>
                <a:cs typeface="Calibri"/>
                <a:hlinkClick r:id="rId3"/>
              </a:rPr>
              <a:t>https://www.edb.gov.hk/attachment/en/curriculum-development/kla/pshe/references-and-resources/geography/Population_E.pdf</a:t>
            </a:r>
            <a:r>
              <a:rPr lang="en-HK" sz="1400" dirty="0">
                <a:solidFill>
                  <a:srgbClr val="242424"/>
                </a:solidFill>
                <a:latin typeface="Calibri"/>
                <a:cs typeface="Calibri"/>
              </a:rPr>
              <a:t> </a:t>
            </a:r>
            <a:endParaRPr lang="en-HK" sz="1400" b="0" i="0" dirty="0">
              <a:solidFill>
                <a:srgbClr val="242424"/>
              </a:solidFill>
              <a:effectLst/>
              <a:latin typeface="Calibri" panose="020F0502020204030204" pitchFamily="34" charset="0"/>
              <a:cs typeface="Calibri"/>
            </a:endParaRPr>
          </a:p>
          <a:p>
            <a:r>
              <a:rPr lang="en-US" sz="1400" dirty="0">
                <a:latin typeface="Avenir Book"/>
                <a:cs typeface="Calibri"/>
              </a:rPr>
              <a:t>C </a:t>
            </a:r>
            <a:r>
              <a:rPr lang="en-US" sz="1400" dirty="0">
                <a:latin typeface="Avenir Book"/>
                <a:cs typeface="Calibri"/>
                <a:hlinkClick r:id="rId4"/>
              </a:rPr>
              <a:t>https://www.sciencedirect.com/science/article/pii/S2468266720301857?via%3Dihub</a:t>
            </a:r>
            <a:r>
              <a:rPr lang="en-US" sz="1400" dirty="0">
                <a:latin typeface="Avenir Book"/>
                <a:cs typeface="Calibri"/>
              </a:rPr>
              <a:t> </a:t>
            </a:r>
            <a:endParaRPr lang="en-US" sz="1400" dirty="0">
              <a:latin typeface="Avenir Book" panose="02000503020000020003" pitchFamily="2" charset="0"/>
              <a:cs typeface="Calibri"/>
            </a:endParaRPr>
          </a:p>
          <a:p>
            <a:r>
              <a:rPr lang="en-US" sz="1400" dirty="0">
                <a:latin typeface="Avenir Book"/>
                <a:cs typeface="Calibri"/>
              </a:rPr>
              <a:t>D </a:t>
            </a:r>
            <a:r>
              <a:rPr lang="en-US" sz="1400" dirty="0">
                <a:latin typeface="Avenir Book"/>
                <a:cs typeface="Calibri"/>
                <a:hlinkClick r:id="rId5"/>
              </a:rPr>
              <a:t>https://www.qk.sjtu.edu.cn/jdcp/CN/10.16150/j.1671-2870.2021.04.001</a:t>
            </a:r>
            <a:endParaRPr lang="en-US" sz="1400" dirty="0">
              <a:latin typeface="Avenir Book"/>
              <a:cs typeface="Calibri"/>
            </a:endParaRPr>
          </a:p>
          <a:p>
            <a:r>
              <a:rPr lang="en-US" sz="1400" dirty="0">
                <a:latin typeface="Avenir Book"/>
                <a:cs typeface="Calibri"/>
              </a:rPr>
              <a:t>E </a:t>
            </a:r>
            <a:r>
              <a:rPr lang="en-US" sz="1400" dirty="0">
                <a:latin typeface="Avenir Book"/>
                <a:cs typeface="Calibri"/>
                <a:hlinkClick r:id="rId6"/>
              </a:rPr>
              <a:t>https://www.statista.com/statistics/316842/hong-kong-mid-year-population</a:t>
            </a:r>
            <a:endParaRPr lang="en-US" sz="1400" dirty="0">
              <a:latin typeface="Avenir Book"/>
              <a:cs typeface="Calibri"/>
            </a:endParaRPr>
          </a:p>
          <a:p>
            <a:r>
              <a:rPr lang="en-US" sz="1400" dirty="0">
                <a:latin typeface="Avenir Book"/>
                <a:cs typeface="Calibri"/>
              </a:rPr>
              <a:t>F </a:t>
            </a:r>
            <a:r>
              <a:rPr lang="en-US" sz="1400" dirty="0">
                <a:latin typeface="Avenir Book"/>
                <a:cs typeface="Calibri"/>
                <a:hlinkClick r:id="rId7"/>
              </a:rPr>
              <a:t>https://www.statista.com/statistics/604594/age-distribution-in-hong-kong</a:t>
            </a:r>
            <a:endParaRPr lang="en-US" sz="1400" dirty="0">
              <a:latin typeface="Avenir Book"/>
              <a:cs typeface="Calibri"/>
            </a:endParaRPr>
          </a:p>
          <a:p>
            <a:r>
              <a:rPr lang="en-US" sz="1400" dirty="0">
                <a:latin typeface="Avenir Book"/>
                <a:cs typeface="Calibri"/>
              </a:rPr>
              <a:t>G </a:t>
            </a:r>
            <a:r>
              <a:rPr lang="en-US" sz="1400" dirty="0">
                <a:latin typeface="Avenir Book"/>
                <a:cs typeface="Calibri"/>
                <a:hlinkClick r:id="rId8"/>
              </a:rPr>
              <a:t>https://www.openaccessgovernment.org/dementia-as-a-public-health-issue-in-hong-kong/80451</a:t>
            </a:r>
            <a:endParaRPr lang="en-US" sz="1400" dirty="0">
              <a:latin typeface="Avenir Book"/>
              <a:cs typeface="Calibri"/>
            </a:endParaRPr>
          </a:p>
          <a:p>
            <a:r>
              <a:rPr lang="en-US" sz="1400" dirty="0">
                <a:latin typeface="Avenir Book"/>
                <a:cs typeface="Calibri"/>
              </a:rPr>
              <a:t>H </a:t>
            </a:r>
            <a:r>
              <a:rPr lang="en-US" sz="1400" dirty="0">
                <a:latin typeface="Avenir Book"/>
                <a:cs typeface="Calibri"/>
                <a:hlinkClick r:id="rId9"/>
              </a:rPr>
              <a:t>https://www.statista.com/statistics/251529/share-of-persons-aged-60-and-older-in-the-chinese-population/</a:t>
            </a:r>
            <a:endParaRPr lang="en-US" sz="1400" dirty="0">
              <a:latin typeface="Avenir Book"/>
              <a:cs typeface="Calibri"/>
            </a:endParaRPr>
          </a:p>
          <a:p>
            <a:r>
              <a:rPr lang="en-US" sz="1400" dirty="0">
                <a:latin typeface="Avenir Book"/>
                <a:cs typeface="Calibri"/>
              </a:rPr>
              <a:t>I </a:t>
            </a:r>
            <a:r>
              <a:rPr lang="en-US" sz="1400" dirty="0">
                <a:latin typeface="Avenir Book"/>
                <a:cs typeface="Calibri"/>
                <a:hlinkClick r:id="rId10"/>
              </a:rPr>
              <a:t>https://database.earth/population/by-country/2050</a:t>
            </a:r>
            <a:r>
              <a:rPr lang="en-US" sz="1400" dirty="0">
                <a:latin typeface="Avenir Book"/>
                <a:cs typeface="Calibri"/>
              </a:rPr>
              <a:t> </a:t>
            </a:r>
          </a:p>
          <a:p>
            <a:r>
              <a:rPr lang="en-US" sz="1400" dirty="0">
                <a:latin typeface="Avenir Book"/>
                <a:cs typeface="Calibri"/>
              </a:rPr>
              <a:t>J </a:t>
            </a:r>
            <a:r>
              <a:rPr lang="en-US" sz="1400" b="1" dirty="0">
                <a:latin typeface="Avenir Book"/>
                <a:cs typeface="Calibri"/>
              </a:rPr>
              <a:t>Page 39 </a:t>
            </a:r>
            <a:r>
              <a:rPr lang="en-US" sz="1400" dirty="0">
                <a:latin typeface="Avenir Book"/>
                <a:cs typeface="Calibri"/>
                <a:hlinkClick r:id="rId11"/>
              </a:rPr>
              <a:t>https://iris.who.int/bitstream/handle/10665/344701/9789240033245-eng.pdf?sequence=1</a:t>
            </a:r>
            <a:endParaRPr lang="en-US" sz="1400" dirty="0">
              <a:latin typeface="Avenir Book"/>
              <a:cs typeface="Calibri"/>
            </a:endParaRPr>
          </a:p>
          <a:p>
            <a:endParaRPr lang="en-US" sz="1400" dirty="0">
              <a:latin typeface="Avenir Book" panose="02000503020000020003" pitchFamily="2" charset="0"/>
              <a:cs typeface="Calibri"/>
            </a:endParaRPr>
          </a:p>
          <a:p>
            <a:r>
              <a:rPr lang="en-US" altLang="zh-TW" sz="1400" dirty="0">
                <a:latin typeface="Avenir Book"/>
                <a:ea typeface="新細明體"/>
                <a:cs typeface="Calibri"/>
              </a:rPr>
              <a:t>Empathy</a:t>
            </a:r>
            <a:r>
              <a:rPr lang="zh-TW" altLang="en-US" sz="1400" dirty="0">
                <a:latin typeface="Avenir Book"/>
                <a:ea typeface="新細明體"/>
                <a:cs typeface="Calibri"/>
              </a:rPr>
              <a:t> </a:t>
            </a:r>
            <a:r>
              <a:rPr lang="en-US" altLang="zh-TW" sz="1400" dirty="0">
                <a:latin typeface="Avenir Book"/>
                <a:ea typeface="新細明體"/>
                <a:cs typeface="Calibri"/>
              </a:rPr>
              <a:t>Map</a:t>
            </a:r>
          </a:p>
          <a:p>
            <a:r>
              <a:rPr lang="en-US" altLang="zh-TW" sz="1400" dirty="0">
                <a:latin typeface="Avenir Book"/>
                <a:ea typeface="新細明體"/>
                <a:cs typeface="Calibri"/>
              </a:rPr>
              <a:t>1</a:t>
            </a:r>
            <a:r>
              <a:rPr lang="zh-TW" altLang="en-US" sz="1400" dirty="0">
                <a:latin typeface="Avenir Book"/>
                <a:ea typeface="新細明體"/>
                <a:cs typeface="Calibri"/>
              </a:rPr>
              <a:t> </a:t>
            </a:r>
            <a:r>
              <a:rPr lang="en-US" sz="1400" dirty="0">
                <a:latin typeface="Avenir Book"/>
                <a:ea typeface="+mn-lt"/>
                <a:cs typeface="+mn-lt"/>
                <a:hlinkClick r:id="rId12"/>
              </a:rPr>
              <a:t>https://www3.nhk.or.jp/nhkworld/en/tv/documentary/20200223/4001348/</a:t>
            </a:r>
            <a:r>
              <a:rPr lang="en-US" sz="1400" dirty="0">
                <a:latin typeface="Avenir Book"/>
                <a:ea typeface="+mn-lt"/>
                <a:cs typeface="+mn-lt"/>
              </a:rPr>
              <a:t> </a:t>
            </a:r>
          </a:p>
          <a:p>
            <a:r>
              <a:rPr lang="en-US" altLang="zh-TW" sz="1400" dirty="0">
                <a:latin typeface="Avenir Book"/>
                <a:ea typeface="+mn-lt"/>
                <a:cs typeface="+mn-lt"/>
              </a:rPr>
              <a:t>2</a:t>
            </a:r>
            <a:r>
              <a:rPr lang="en-US" sz="1400" dirty="0">
                <a:latin typeface="Avenir Book"/>
                <a:ea typeface="+mn-lt"/>
                <a:cs typeface="+mn-lt"/>
              </a:rPr>
              <a:t> </a:t>
            </a:r>
            <a:r>
              <a:rPr lang="en-US" sz="1400" dirty="0">
                <a:latin typeface="Avenir Book"/>
                <a:ea typeface="+mn-lt"/>
                <a:cs typeface="+mn-lt"/>
                <a:hlinkClick r:id="" action="ppaction://noaction"/>
              </a:rPr>
              <a:t>https://www.facebook.com/watch/?v=1361106411069820</a:t>
            </a:r>
            <a:endParaRPr lang="en-US" sz="1400" dirty="0">
              <a:latin typeface="Avenir Book"/>
              <a:ea typeface="+mn-lt"/>
              <a:cs typeface="+mn-lt"/>
            </a:endParaRPr>
          </a:p>
          <a:p>
            <a:r>
              <a:rPr lang="en-US" altLang="zh-TW" sz="1400" dirty="0">
                <a:latin typeface="Avenir Book"/>
                <a:ea typeface="+mn-lt"/>
                <a:cs typeface="+mn-lt"/>
              </a:rPr>
              <a:t>3</a:t>
            </a:r>
            <a:r>
              <a:rPr lang="en-US" sz="1400" dirty="0">
                <a:latin typeface="Avenir Book"/>
                <a:ea typeface="+mn-lt"/>
                <a:cs typeface="+mn-lt"/>
              </a:rPr>
              <a:t> </a:t>
            </a:r>
            <a:r>
              <a:rPr lang="en-US" sz="1400" dirty="0">
                <a:ea typeface="+mn-lt"/>
                <a:cs typeface="+mn-lt"/>
                <a:hlinkClick r:id="rId13"/>
              </a:rPr>
              <a:t>https://youtu.be/x9X75voKB5w?si=c1aIuR7oHC9u_zaz</a:t>
            </a:r>
            <a:endParaRPr lang="en-US" sz="1400" dirty="0">
              <a:latin typeface="Avenir Book" panose="02000503020000020003" pitchFamily="2" charset="0"/>
              <a:cs typeface="Calibri"/>
            </a:endParaRPr>
          </a:p>
          <a:p>
            <a:pPr marL="342900" indent="-342900">
              <a:buAutoNum type="arabicPeriod"/>
            </a:pPr>
            <a:endParaRPr lang="en-US" sz="1400" dirty="0">
              <a:latin typeface="Calibri"/>
              <a:ea typeface="新細明體" panose="02020500000000000000" pitchFamily="18" charset="-120"/>
              <a:cs typeface="Calibri"/>
            </a:endParaRPr>
          </a:p>
          <a:p>
            <a:endParaRPr lang="en-US" altLang="zh-TW" sz="1400" dirty="0">
              <a:latin typeface="Avenir Book" panose="02000503020000020003" pitchFamily="2" charset="0"/>
              <a:ea typeface="新細明體" panose="02020500000000000000" pitchFamily="18" charset="-120"/>
              <a:cs typeface="Calibri"/>
            </a:endParaRPr>
          </a:p>
          <a:p>
            <a:r>
              <a:rPr lang="en-US" altLang="zh-TW" sz="1400" dirty="0">
                <a:latin typeface="Avenir Book"/>
                <a:ea typeface="新細明體"/>
                <a:cs typeface="Calibri"/>
              </a:rPr>
              <a:t>I</a:t>
            </a:r>
            <a:r>
              <a:rPr lang="en-US" sz="1400" dirty="0">
                <a:latin typeface="Avenir Book"/>
                <a:cs typeface="Calibri"/>
              </a:rPr>
              <a:t>mage by qeaql-studio on Freepik</a:t>
            </a:r>
          </a:p>
          <a:p>
            <a:r>
              <a:rPr lang="en-US" sz="1400" dirty="0">
                <a:latin typeface="Avenir Book"/>
                <a:cs typeface="Calibri"/>
                <a:hlinkClick r:id="rId14"/>
              </a:rPr>
              <a:t>https://www.freepik.com/free-psd/smartwatch-presentation_869739.htm#fromView=search&amp;page=1&amp;position=7&amp;uuid=d33e79d3-02bb-4da8-bdf4-938fdfac308c</a:t>
            </a:r>
            <a:endParaRPr lang="en-US" sz="1400" dirty="0">
              <a:latin typeface="Avenir Book"/>
              <a:cs typeface="Calibri"/>
            </a:endParaRPr>
          </a:p>
          <a:p>
            <a:r>
              <a:rPr lang="en-US" sz="1400" dirty="0">
                <a:latin typeface="Avenir Book"/>
                <a:cs typeface="Calibri"/>
              </a:rPr>
              <a:t>Old icons created by Freepik - Flaticon</a:t>
            </a:r>
          </a:p>
          <a:p>
            <a:r>
              <a:rPr lang="en-US" sz="1400" dirty="0">
                <a:latin typeface="Avenir Book"/>
                <a:cs typeface="Calibri"/>
                <a:hlinkClick r:id="rId15"/>
              </a:rPr>
              <a:t>https://www.flaticon.com/free-icons/old</a:t>
            </a:r>
            <a:endParaRPr lang="en-US" sz="1400" dirty="0">
              <a:latin typeface="Avenir Book"/>
              <a:cs typeface="Calibri"/>
            </a:endParaRPr>
          </a:p>
          <a:p>
            <a:r>
              <a:rPr lang="en-US" sz="1400" dirty="0">
                <a:latin typeface="Avenir Book"/>
                <a:cs typeface="Calibri"/>
              </a:rPr>
              <a:t>Parents icons created by Freepik - Flaticon</a:t>
            </a:r>
          </a:p>
          <a:p>
            <a:r>
              <a:rPr lang="en-US" sz="1400" dirty="0">
                <a:latin typeface="Avenir Book"/>
                <a:cs typeface="Calibri"/>
                <a:hlinkClick r:id="rId16"/>
              </a:rPr>
              <a:t>https://www.flaticon.com/free-icons/parents</a:t>
            </a:r>
            <a:endParaRPr lang="en-US" sz="1400" dirty="0">
              <a:latin typeface="Avenir Book"/>
              <a:cs typeface="Calibri"/>
            </a:endParaRPr>
          </a:p>
          <a:p>
            <a:endParaRPr lang="en-US" sz="1400" dirty="0">
              <a:latin typeface="Avenir Book" panose="02000503020000020003" pitchFamily="2" charset="0"/>
              <a:cs typeface="Calibri"/>
            </a:endParaRPr>
          </a:p>
        </p:txBody>
      </p:sp>
    </p:spTree>
    <p:extLst>
      <p:ext uri="{BB962C8B-B14F-4D97-AF65-F5344CB8AC3E}">
        <p14:creationId xmlns:p14="http://schemas.microsoft.com/office/powerpoint/2010/main" val="2647283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50DEB4-E508-C914-B86F-30F399485DAB}"/>
              </a:ext>
            </a:extLst>
          </p:cNvPr>
          <p:cNvSpPr txBox="1"/>
          <p:nvPr/>
        </p:nvSpPr>
        <p:spPr>
          <a:xfrm>
            <a:off x="536028" y="483476"/>
            <a:ext cx="11288110" cy="5847755"/>
          </a:xfrm>
          <a:prstGeom prst="rect">
            <a:avLst/>
          </a:prstGeom>
          <a:noFill/>
        </p:spPr>
        <p:txBody>
          <a:bodyPr wrap="square" lIns="91440" tIns="45720" rIns="91440" bIns="45720" rtlCol="0" anchor="t">
            <a:spAutoFit/>
          </a:bodyPr>
          <a:lstStyle/>
          <a:p>
            <a:pPr algn="l"/>
            <a:r>
              <a:rPr lang="en-HK" sz="1200" b="0" i="0" dirty="0">
                <a:solidFill>
                  <a:srgbClr val="2D3B45"/>
                </a:solidFill>
                <a:effectLst/>
                <a:latin typeface="Lato Extended"/>
              </a:rPr>
              <a:t>Is the problem worth solving with good market potential? What is the target market?  What is the estimated size of the market (Use TAM, SAM and SOM with appropriate assumptions)? (20)</a:t>
            </a:r>
          </a:p>
          <a:p>
            <a:pPr algn="l"/>
            <a:br>
              <a:rPr lang="en-HK" sz="1200" b="0" i="0" dirty="0">
                <a:effectLst/>
                <a:highlight>
                  <a:srgbClr val="FFFF00"/>
                </a:highlight>
                <a:latin typeface="Lato Extended"/>
              </a:rPr>
            </a:br>
            <a:r>
              <a:rPr lang="en-HK" sz="1200" b="0" i="0" dirty="0">
                <a:solidFill>
                  <a:srgbClr val="2D3B45"/>
                </a:solidFill>
                <a:effectLst/>
                <a:latin typeface="Lato Extended"/>
              </a:rPr>
              <a:t>Present the customer profile (a detailed description of your current customers, including information such as purchasing behaviours, demographic data, and psychographic data (5).</a:t>
            </a:r>
          </a:p>
          <a:p>
            <a:pPr algn="l"/>
            <a:r>
              <a:rPr lang="en-HK" sz="1200" b="0" i="0" dirty="0">
                <a:solidFill>
                  <a:srgbClr val="2D3B45"/>
                </a:solidFill>
                <a:effectLst/>
                <a:latin typeface="Lato Extended"/>
              </a:rPr>
              <a:t>Show an empathy map (10)</a:t>
            </a:r>
          </a:p>
          <a:p>
            <a:pPr algn="l"/>
            <a:r>
              <a:rPr lang="en-HK" sz="1200" b="0" i="0" dirty="0">
                <a:solidFill>
                  <a:srgbClr val="2D3B45"/>
                </a:solidFill>
                <a:effectLst/>
                <a:latin typeface="Lato Extended"/>
              </a:rPr>
              <a:t>Synthesize your empathy findings into needs and gains. (15)</a:t>
            </a:r>
          </a:p>
          <a:p>
            <a:pPr algn="l"/>
            <a:br>
              <a:rPr lang="en-HK" sz="1200" b="0" i="0" dirty="0">
                <a:effectLst/>
                <a:highlight>
                  <a:srgbClr val="FFFF00"/>
                </a:highlight>
                <a:latin typeface="Lato Extended"/>
              </a:rPr>
            </a:br>
            <a:r>
              <a:rPr lang="en-HK" sz="1200" b="0" i="0" dirty="0">
                <a:solidFill>
                  <a:srgbClr val="2D3B45"/>
                </a:solidFill>
                <a:effectLst/>
                <a:latin typeface="Lato Extended"/>
              </a:rPr>
              <a:t>Define a HMW statement (How might we............?). (10)</a:t>
            </a:r>
          </a:p>
          <a:p>
            <a:pPr algn="l"/>
            <a:br>
              <a:rPr lang="en-HK" sz="1200" b="0" i="0" dirty="0">
                <a:effectLst/>
                <a:highlight>
                  <a:srgbClr val="FFFF00"/>
                </a:highlight>
                <a:latin typeface="Lato Extended"/>
              </a:rPr>
            </a:br>
            <a:r>
              <a:rPr lang="en-HK" sz="1200" b="0" i="0" dirty="0">
                <a:solidFill>
                  <a:srgbClr val="2D3B45"/>
                </a:solidFill>
                <a:effectLst/>
                <a:highlight>
                  <a:srgbClr val="FFFF00"/>
                </a:highlight>
                <a:latin typeface="Lato Extended"/>
              </a:rPr>
              <a:t>Describe your solution and list the product features. (20)</a:t>
            </a:r>
          </a:p>
          <a:p>
            <a:pPr algn="l"/>
            <a:r>
              <a:rPr lang="en-HK" sz="1200" b="0" i="0" dirty="0">
                <a:solidFill>
                  <a:srgbClr val="2D3B45"/>
                </a:solidFill>
                <a:effectLst/>
                <a:highlight>
                  <a:srgbClr val="FFFF00"/>
                </a:highlight>
                <a:latin typeface="Lato Extended"/>
              </a:rPr>
              <a:t>It would be useful us for to review your product idea if you provide some sketches of it. </a:t>
            </a:r>
          </a:p>
          <a:p>
            <a:pPr algn="l"/>
            <a:br>
              <a:rPr lang="en-HK" sz="1200" b="0" i="0" dirty="0">
                <a:effectLst/>
                <a:highlight>
                  <a:srgbClr val="FFFF00"/>
                </a:highlight>
                <a:latin typeface="Lato Extended"/>
              </a:rPr>
            </a:br>
            <a:r>
              <a:rPr lang="en-HK" sz="1200" b="0" i="0" dirty="0">
                <a:solidFill>
                  <a:srgbClr val="2D3B45"/>
                </a:solidFill>
                <a:effectLst/>
                <a:highlight>
                  <a:srgbClr val="FFFF00"/>
                </a:highlight>
                <a:latin typeface="Lato Extended"/>
              </a:rPr>
              <a:t>Explain how your product/service works in 3 to 4 simple steps. (20</a:t>
            </a:r>
            <a:r>
              <a:rPr lang="en-US" altLang="zh-TW" sz="1200" b="0" i="0" dirty="0">
                <a:solidFill>
                  <a:srgbClr val="2D3B45"/>
                </a:solidFill>
                <a:effectLst/>
                <a:highlight>
                  <a:srgbClr val="FFFF00"/>
                </a:highlight>
                <a:latin typeface="Lato Extended"/>
                <a:ea typeface="新細明體"/>
              </a:rPr>
              <a:t>)</a:t>
            </a:r>
          </a:p>
          <a:p>
            <a:pPr algn="l"/>
            <a:endParaRPr lang="en-US" sz="1200" dirty="0">
              <a:solidFill>
                <a:srgbClr val="2D3B45"/>
              </a:solidFill>
              <a:latin typeface="Lato Extended"/>
            </a:endParaRPr>
          </a:p>
          <a:p>
            <a:pPr algn="l"/>
            <a:r>
              <a:rPr lang="en-US" altLang="zh-TW" sz="1200" dirty="0">
                <a:solidFill>
                  <a:srgbClr val="2D3B45"/>
                </a:solidFill>
                <a:latin typeface="Lato Extended"/>
                <a:ea typeface="新細明體"/>
              </a:rPr>
              <a:t>Market size / potential:</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howard</a:t>
            </a:r>
          </a:p>
          <a:p>
            <a:pPr algn="l"/>
            <a:r>
              <a:rPr lang="en-US" altLang="zh-TW" sz="1200" b="0" i="0" dirty="0">
                <a:solidFill>
                  <a:srgbClr val="2D3B45"/>
                </a:solidFill>
                <a:effectLst/>
                <a:latin typeface="Lato Extended"/>
                <a:ea typeface="新細明體"/>
              </a:rPr>
              <a:t>Customer</a:t>
            </a:r>
            <a:r>
              <a:rPr lang="zh-TW" altLang="en-US" sz="1200" b="0" i="0" dirty="0">
                <a:solidFill>
                  <a:srgbClr val="2D3B45"/>
                </a:solidFill>
                <a:effectLst/>
                <a:latin typeface="Lato Extended"/>
                <a:ea typeface="新細明體"/>
              </a:rPr>
              <a:t> </a:t>
            </a:r>
            <a:r>
              <a:rPr lang="en-US" altLang="zh-TW" sz="1200" b="0" i="0" dirty="0">
                <a:solidFill>
                  <a:srgbClr val="2D3B45"/>
                </a:solidFill>
                <a:effectLst/>
                <a:latin typeface="Lato Extended"/>
                <a:ea typeface="新細明體"/>
              </a:rPr>
              <a:t>pro</a:t>
            </a:r>
            <a:r>
              <a:rPr lang="en-US" altLang="zh-TW" sz="1200" dirty="0">
                <a:solidFill>
                  <a:srgbClr val="2D3B45"/>
                </a:solidFill>
                <a:latin typeface="Lato Extended"/>
                <a:ea typeface="新細明體"/>
              </a:rPr>
              <a:t>file: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matthew</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(please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also</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research</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on</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some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ideas</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on</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why</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are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they</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not</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using</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cane)</a:t>
            </a:r>
          </a:p>
          <a:p>
            <a:pPr algn="l"/>
            <a:r>
              <a:rPr lang="en-US" altLang="zh-TW" sz="1200" b="0" i="0" dirty="0">
                <a:solidFill>
                  <a:srgbClr val="040C28"/>
                </a:solidFill>
                <a:effectLst/>
                <a:latin typeface="Google Sans"/>
                <a:ea typeface="新細明體"/>
              </a:rPr>
              <a:t>“</a:t>
            </a:r>
            <a:r>
              <a:rPr lang="en-HK" sz="1200" b="0" i="0" dirty="0">
                <a:solidFill>
                  <a:srgbClr val="040C28"/>
                </a:solidFill>
                <a:effectLst/>
                <a:latin typeface="Google Sans"/>
              </a:rPr>
              <a:t>Canes and walkers are associated with weakness, aging, and dependency</a:t>
            </a:r>
            <a:r>
              <a:rPr lang="en-HK" sz="1200" b="0" i="0" dirty="0">
                <a:solidFill>
                  <a:srgbClr val="202124"/>
                </a:solidFill>
                <a:effectLst/>
                <a:latin typeface="Google Sans"/>
              </a:rPr>
              <a:t>. That's often the last thing an elderly person wants to be associated with, especially as the realities of growing old become more intrusive every day for them. Many seniors would rather not go anywhere than to go with a mobility aid.</a:t>
            </a:r>
            <a:r>
              <a:rPr lang="en-US" altLang="zh-TW" sz="1200" b="0" i="0" dirty="0">
                <a:solidFill>
                  <a:srgbClr val="2D3B45"/>
                </a:solidFill>
                <a:effectLst/>
                <a:latin typeface="Lato Extended"/>
                <a:ea typeface="新細明體"/>
              </a:rPr>
              <a:t>”</a:t>
            </a:r>
            <a:endParaRPr lang="en-US" altLang="zh-TW" sz="1200" dirty="0">
              <a:solidFill>
                <a:srgbClr val="2D3B45"/>
              </a:solidFill>
              <a:latin typeface="Lato Extended"/>
              <a:ea typeface="新細明體"/>
            </a:endParaRPr>
          </a:p>
          <a:p>
            <a:pPr algn="l"/>
            <a:r>
              <a:rPr lang="en-US" altLang="zh-TW" sz="1200" b="0" i="0" dirty="0">
                <a:solidFill>
                  <a:srgbClr val="2D3B45"/>
                </a:solidFill>
                <a:effectLst/>
                <a:latin typeface="Lato Extended"/>
                <a:ea typeface="新細明體"/>
              </a:rPr>
              <a:t>Empathy</a:t>
            </a:r>
            <a:r>
              <a:rPr lang="zh-TW" altLang="en-US" sz="1200" b="0" i="0" dirty="0">
                <a:solidFill>
                  <a:srgbClr val="2D3B45"/>
                </a:solidFill>
                <a:effectLst/>
                <a:latin typeface="Lato Extended"/>
                <a:ea typeface="新細明體"/>
              </a:rPr>
              <a:t> </a:t>
            </a:r>
            <a:r>
              <a:rPr lang="en-US" altLang="zh-TW" sz="1200" b="0" i="0" dirty="0">
                <a:solidFill>
                  <a:srgbClr val="2D3B45"/>
                </a:solidFill>
                <a:effectLst/>
                <a:latin typeface="Lato Extended"/>
                <a:ea typeface="新細明體"/>
              </a:rPr>
              <a:t>map:</a:t>
            </a:r>
            <a:r>
              <a:rPr lang="zh-TW" altLang="en-US" sz="1200" b="0" i="0" dirty="0">
                <a:solidFill>
                  <a:srgbClr val="2D3B45"/>
                </a:solidFill>
                <a:effectLst/>
                <a:latin typeface="Lato Extended"/>
                <a:ea typeface="新細明體"/>
              </a:rPr>
              <a:t> </a:t>
            </a:r>
            <a:r>
              <a:rPr lang="en-US" altLang="zh-TW" sz="1200" dirty="0">
                <a:solidFill>
                  <a:srgbClr val="2D3B45"/>
                </a:solidFill>
                <a:latin typeface="Lato Extended"/>
                <a:ea typeface="新細明體"/>
              </a:rPr>
              <a:t>matthew</a:t>
            </a:r>
            <a:endParaRPr lang="en-US" altLang="zh-TW" sz="1200" b="0" i="0" dirty="0">
              <a:solidFill>
                <a:srgbClr val="2D3B45"/>
              </a:solidFill>
              <a:effectLst/>
              <a:latin typeface="Lato Extended"/>
              <a:ea typeface="新細明體"/>
            </a:endParaRPr>
          </a:p>
          <a:p>
            <a:r>
              <a:rPr lang="en-US" altLang="zh-TW" sz="1200" dirty="0">
                <a:solidFill>
                  <a:srgbClr val="2D3B45"/>
                </a:solidFill>
                <a:latin typeface="Lato Extended"/>
                <a:ea typeface="新細明體"/>
              </a:rPr>
              <a:t>Needs</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and</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gains:</a:t>
            </a:r>
            <a:r>
              <a:rPr lang="zh-TW" altLang="en-US" sz="1200" dirty="0">
                <a:solidFill>
                  <a:srgbClr val="2D3B45"/>
                </a:solidFill>
                <a:latin typeface="Lato Extended"/>
                <a:ea typeface="新細明體"/>
              </a:rPr>
              <a:t> </a:t>
            </a:r>
            <a:r>
              <a:rPr lang="en-US" sz="1200" dirty="0">
                <a:solidFill>
                  <a:srgbClr val="2D3B45"/>
                </a:solidFill>
                <a:ea typeface="+mn-lt"/>
                <a:cs typeface="+mn-lt"/>
              </a:rPr>
              <a:t>matthew,</a:t>
            </a:r>
            <a:r>
              <a:rPr lang="en-US" sz="1200" dirty="0">
                <a:solidFill>
                  <a:srgbClr val="2D3B45"/>
                </a:solidFill>
                <a:latin typeface="Calibri"/>
                <a:ea typeface="新細明體"/>
                <a:cs typeface="Calibri"/>
              </a:rPr>
              <a:t> </a:t>
            </a:r>
            <a:r>
              <a:rPr lang="en-US" altLang="zh-TW" sz="1200" dirty="0">
                <a:solidFill>
                  <a:srgbClr val="2D3B45"/>
                </a:solidFill>
                <a:latin typeface="Lato Extended"/>
                <a:ea typeface="新細明體"/>
              </a:rPr>
              <a:t>william</a:t>
            </a:r>
          </a:p>
          <a:p>
            <a:pPr algn="l"/>
            <a:r>
              <a:rPr lang="en-US" altLang="zh-TW" sz="1200" b="0" i="0" dirty="0">
                <a:solidFill>
                  <a:srgbClr val="2D3B45"/>
                </a:solidFill>
                <a:effectLst/>
                <a:latin typeface="Lato Extended"/>
                <a:ea typeface="新細明體"/>
              </a:rPr>
              <a:t>HMW:</a:t>
            </a:r>
            <a:r>
              <a:rPr lang="zh-TW" altLang="en-US" sz="1200" b="0" i="0" dirty="0">
                <a:solidFill>
                  <a:srgbClr val="2D3B45"/>
                </a:solidFill>
                <a:effectLst/>
                <a:latin typeface="Lato Extended"/>
                <a:ea typeface="新細明體"/>
              </a:rPr>
              <a:t> </a:t>
            </a:r>
            <a:r>
              <a:rPr lang="en-US" altLang="zh-TW" sz="1200" b="0" i="0" dirty="0">
                <a:solidFill>
                  <a:srgbClr val="2D3B45"/>
                </a:solidFill>
                <a:effectLst/>
                <a:latin typeface="Lato Extended"/>
                <a:ea typeface="新細明體"/>
              </a:rPr>
              <a:t>done</a:t>
            </a:r>
          </a:p>
          <a:p>
            <a:r>
              <a:rPr lang="en-US" altLang="zh-TW" sz="1200" dirty="0">
                <a:solidFill>
                  <a:srgbClr val="2D3B45"/>
                </a:solidFill>
                <a:latin typeface="Lato Extended"/>
                <a:ea typeface="新細明體"/>
              </a:rPr>
              <a:t>Solution</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and</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feature: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janice,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matthew, howard</a:t>
            </a:r>
          </a:p>
          <a:p>
            <a:r>
              <a:rPr lang="en-US" altLang="zh-TW" sz="1200" b="0" i="0" dirty="0">
                <a:solidFill>
                  <a:srgbClr val="2D3B45"/>
                </a:solidFill>
                <a:effectLst/>
                <a:latin typeface="Lato Extended"/>
                <a:ea typeface="新細明體"/>
              </a:rPr>
              <a:t>How</a:t>
            </a:r>
            <a:r>
              <a:rPr lang="zh-TW" altLang="en-US" sz="1200" b="0" i="0" dirty="0">
                <a:solidFill>
                  <a:srgbClr val="2D3B45"/>
                </a:solidFill>
                <a:effectLst/>
                <a:latin typeface="Lato Extended"/>
                <a:ea typeface="新細明體"/>
              </a:rPr>
              <a:t> </a:t>
            </a:r>
            <a:r>
              <a:rPr lang="en-US" altLang="zh-TW" sz="1200" b="0" i="0" dirty="0">
                <a:solidFill>
                  <a:srgbClr val="2D3B45"/>
                </a:solidFill>
                <a:effectLst/>
                <a:latin typeface="Lato Extended"/>
                <a:ea typeface="新細明體"/>
              </a:rPr>
              <a:t>to</a:t>
            </a:r>
            <a:r>
              <a:rPr lang="zh-TW" altLang="en-US" sz="1200" b="0" i="0" dirty="0">
                <a:solidFill>
                  <a:srgbClr val="2D3B45"/>
                </a:solidFill>
                <a:effectLst/>
                <a:latin typeface="Lato Extended"/>
                <a:ea typeface="新細明體"/>
              </a:rPr>
              <a:t> </a:t>
            </a:r>
            <a:r>
              <a:rPr lang="en-US" altLang="zh-TW" sz="1200" b="0" i="0" dirty="0">
                <a:solidFill>
                  <a:srgbClr val="2D3B45"/>
                </a:solidFill>
                <a:effectLst/>
                <a:latin typeface="Lato Extended"/>
                <a:ea typeface="新細明體"/>
              </a:rPr>
              <a:t>use</a:t>
            </a:r>
            <a:r>
              <a:rPr lang="en-US" altLang="zh-TW" sz="1200" dirty="0">
                <a:solidFill>
                  <a:srgbClr val="2D3B45"/>
                </a:solidFill>
                <a:latin typeface="Lato Extended"/>
                <a:ea typeface="新細明體"/>
              </a:rPr>
              <a:t>:</a:t>
            </a:r>
            <a:r>
              <a:rPr lang="zh-TW" altLang="en-US" sz="1200" dirty="0">
                <a:solidFill>
                  <a:srgbClr val="2D3B45"/>
                </a:solidFill>
                <a:latin typeface="Lato Extended"/>
                <a:ea typeface="新細明體"/>
              </a:rPr>
              <a:t> </a:t>
            </a:r>
            <a:r>
              <a:rPr lang="en-US" sz="1200" dirty="0">
                <a:solidFill>
                  <a:srgbClr val="2D3B45"/>
                </a:solidFill>
                <a:ea typeface="+mn-lt"/>
                <a:cs typeface="+mn-lt"/>
              </a:rPr>
              <a:t>matthew,</a:t>
            </a:r>
            <a:r>
              <a:rPr lang="en-US" sz="1200" dirty="0">
                <a:solidFill>
                  <a:srgbClr val="2D3B45"/>
                </a:solidFill>
                <a:latin typeface="Calibri"/>
                <a:ea typeface="新細明體"/>
                <a:cs typeface="Calibri"/>
              </a:rPr>
              <a:t> </a:t>
            </a:r>
            <a:r>
              <a:rPr lang="en-US" altLang="zh-TW" sz="1200" dirty="0">
                <a:solidFill>
                  <a:srgbClr val="2D3B45"/>
                </a:solidFill>
                <a:latin typeface="Lato Extended"/>
                <a:ea typeface="新細明體"/>
              </a:rPr>
              <a:t>janice,</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sac, howard</a:t>
            </a:r>
          </a:p>
          <a:p>
            <a:pPr algn="l"/>
            <a:endParaRPr lang="en-US" sz="1200" b="0" i="0" dirty="0">
              <a:solidFill>
                <a:srgbClr val="2D3B45"/>
              </a:solidFill>
              <a:effectLst/>
              <a:latin typeface="Lato Extended"/>
            </a:endParaRPr>
          </a:p>
          <a:p>
            <a:r>
              <a:rPr lang="en-US" altLang="zh-TW" sz="1200" dirty="0">
                <a:solidFill>
                  <a:srgbClr val="2D3B45"/>
                </a:solidFill>
                <a:latin typeface="Lato Extended"/>
                <a:ea typeface="新細明體"/>
              </a:rPr>
              <a:t>Competitor</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analysis:</a:t>
            </a:r>
            <a:r>
              <a:rPr lang="zh-TW" altLang="en-US" sz="1200" dirty="0">
                <a:solidFill>
                  <a:srgbClr val="2D3B45"/>
                </a:solidFill>
                <a:latin typeface="Lato Extended"/>
                <a:ea typeface="新細明體"/>
              </a:rPr>
              <a:t> </a:t>
            </a:r>
            <a:r>
              <a:rPr lang="en-US" altLang="zh-TW" sz="1200" dirty="0">
                <a:solidFill>
                  <a:srgbClr val="2D3B45"/>
                </a:solidFill>
                <a:latin typeface="Lato Extended"/>
                <a:ea typeface="新細明體"/>
              </a:rPr>
              <a:t>William, </a:t>
            </a:r>
            <a:r>
              <a:rPr lang="en-US" altLang="zh-TW" sz="1200" b="0" i="0" dirty="0">
                <a:solidFill>
                  <a:srgbClr val="2D3B45"/>
                </a:solidFill>
                <a:effectLst/>
                <a:latin typeface="Lato Extended"/>
                <a:ea typeface="新細明體"/>
              </a:rPr>
              <a:t>Sac</a:t>
            </a:r>
            <a:r>
              <a:rPr lang="zh-TW" altLang="en-US" sz="1200" dirty="0">
                <a:solidFill>
                  <a:srgbClr val="2D3B45"/>
                </a:solidFill>
                <a:latin typeface="Lato Extended"/>
                <a:ea typeface="新細明體"/>
              </a:rPr>
              <a:t> </a:t>
            </a:r>
            <a:endParaRPr lang="en-HK" altLang="zh-TW" sz="1200" dirty="0">
              <a:solidFill>
                <a:srgbClr val="2D3B45"/>
              </a:solidFill>
              <a:latin typeface="Lato Extended"/>
              <a:ea typeface="新細明體"/>
            </a:endParaRPr>
          </a:p>
          <a:p>
            <a:endParaRPr lang="en-US" sz="1200" dirty="0">
              <a:cs typeface="Calibri"/>
            </a:endParaRPr>
          </a:p>
          <a:p>
            <a:r>
              <a:rPr lang="en-US" sz="1200" dirty="0">
                <a:cs typeface="Calibri"/>
              </a:rPr>
              <a:t>Target customer (customer profie), Market (tam ,sam som)</a:t>
            </a:r>
            <a:br>
              <a:rPr lang="en-US" sz="1200" dirty="0"/>
            </a:br>
            <a:r>
              <a:rPr lang="en-US" sz="1200" dirty="0">
                <a:cs typeface="Calibri"/>
              </a:rPr>
              <a:t> -&gt; empathy -&gt; </a:t>
            </a:r>
            <a:r>
              <a:rPr lang="en-US" sz="1200" dirty="0">
                <a:highlight>
                  <a:srgbClr val="FFFF00"/>
                </a:highlight>
                <a:cs typeface="Calibri"/>
              </a:rPr>
              <a:t>solution </a:t>
            </a:r>
            <a:r>
              <a:rPr lang="en-US" altLang="zh-TW" sz="1200" dirty="0">
                <a:highlight>
                  <a:srgbClr val="FFFF00"/>
                </a:highlight>
                <a:cs typeface="Calibri"/>
              </a:rPr>
              <a:t>-&gt;</a:t>
            </a:r>
            <a:r>
              <a:rPr lang="zh-TW" altLang="en-US" sz="1200" dirty="0">
                <a:highlight>
                  <a:srgbClr val="FFFF00"/>
                </a:highlight>
                <a:cs typeface="Calibri"/>
              </a:rPr>
              <a:t> </a:t>
            </a:r>
            <a:r>
              <a:rPr lang="en-US" sz="1200" dirty="0">
                <a:highlight>
                  <a:srgbClr val="FFFF00"/>
                </a:highlight>
                <a:cs typeface="Calibri"/>
              </a:rPr>
              <a:t>pains and gains </a:t>
            </a:r>
            <a:r>
              <a:rPr lang="en-US" sz="1200" dirty="0">
                <a:cs typeface="Calibri"/>
              </a:rPr>
              <a:t>-&gt; how to use </a:t>
            </a:r>
            <a:br>
              <a:rPr lang="en-US" sz="1200" dirty="0">
                <a:cs typeface="Calibri"/>
              </a:rPr>
            </a:br>
            <a:r>
              <a:rPr lang="en-US" sz="1200" dirty="0">
                <a:cs typeface="Calibri"/>
              </a:rPr>
              <a:t>-&gt; competitor anlysis</a:t>
            </a:r>
          </a:p>
          <a:p>
            <a:endParaRPr lang="en-HK" sz="1400" b="0" i="0" dirty="0">
              <a:solidFill>
                <a:srgbClr val="2D3B45"/>
              </a:solidFill>
              <a:effectLst/>
              <a:latin typeface="Lato Extended"/>
            </a:endParaRPr>
          </a:p>
        </p:txBody>
      </p:sp>
    </p:spTree>
    <p:extLst>
      <p:ext uri="{BB962C8B-B14F-4D97-AF65-F5344CB8AC3E}">
        <p14:creationId xmlns:p14="http://schemas.microsoft.com/office/powerpoint/2010/main" val="383178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46FB1A-7F2C-1E2A-28A1-CE238C3AFC1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6B6A88-D908-1A5D-F1A7-54C655550526}"/>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EEDCBF55-F711-E6BD-A654-176353A75F25}"/>
              </a:ext>
            </a:extLst>
          </p:cNvPr>
          <p:cNvSpPr txBox="1">
            <a:spLocks noGrp="1"/>
          </p:cNvSpPr>
          <p:nvPr>
            <p:ph type="title" idx="4294967295"/>
          </p:nvPr>
        </p:nvSpPr>
        <p:spPr>
          <a:xfrm>
            <a:off x="375976" y="333593"/>
            <a:ext cx="548879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Target</a:t>
            </a:r>
            <a:r>
              <a:rPr kumimoji="0" lang="zh-TW" altLang="en-US" sz="2000" b="1" i="0" u="none" strike="noStrike" kern="1200" cap="none" spc="0" normalizeH="0" baseline="0" noProof="0">
                <a:ln>
                  <a:noFill/>
                </a:ln>
                <a:solidFill>
                  <a:schemeClr val="tx1"/>
                </a:solidFill>
                <a:effectLst/>
                <a:uLnTx/>
                <a:uFillTx/>
                <a:latin typeface="Avenir Book" panose="02000503020000020003" pitchFamily="2" charset="0"/>
                <a:ea typeface="+mn-ea"/>
                <a:cs typeface="Calibri"/>
              </a:rPr>
              <a:t> </a:t>
            </a: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Market</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2" name="Rectangle 1">
            <a:extLst>
              <a:ext uri="{FF2B5EF4-FFF2-40B4-BE49-F238E27FC236}">
                <a16:creationId xmlns:a16="http://schemas.microsoft.com/office/drawing/2014/main" id="{A1857312-E6ED-2975-5FF4-77FA74CF7E08}"/>
              </a:ext>
            </a:extLst>
          </p:cNvPr>
          <p:cNvSpPr/>
          <p:nvPr/>
        </p:nvSpPr>
        <p:spPr>
          <a:xfrm>
            <a:off x="486917" y="970157"/>
            <a:ext cx="2071752" cy="1814124"/>
          </a:xfrm>
          <a:prstGeom prst="rect">
            <a:avLst/>
          </a:prstGeom>
          <a:solidFill>
            <a:schemeClr val="accent1">
              <a:lumMod val="5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venir Book" panose="02000503020000020003" pitchFamily="2" charset="0"/>
              </a:rPr>
              <a:t>Target Segment</a:t>
            </a:r>
          </a:p>
        </p:txBody>
      </p:sp>
      <p:sp>
        <p:nvSpPr>
          <p:cNvPr id="4" name="Rectangle 3">
            <a:extLst>
              <a:ext uri="{FF2B5EF4-FFF2-40B4-BE49-F238E27FC236}">
                <a16:creationId xmlns:a16="http://schemas.microsoft.com/office/drawing/2014/main" id="{228AB417-55F3-052B-4FD0-59ACBF3E096E}"/>
              </a:ext>
            </a:extLst>
          </p:cNvPr>
          <p:cNvSpPr/>
          <p:nvPr/>
        </p:nvSpPr>
        <p:spPr>
          <a:xfrm>
            <a:off x="2655210" y="970157"/>
            <a:ext cx="9049873" cy="1814124"/>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Users: dementia patients, including Alzheimer Dementia(AD), Mild Cognitive Impairment(MCI), Vascular Dementia(VaD), etc. </a:t>
            </a:r>
          </a:p>
          <a:p>
            <a:pPr marL="742950" lvl="1" indent="-285750">
              <a:buFont typeface="Arial" panose="020B0604020202020204" pitchFamily="34" charset="0"/>
              <a:buChar char="•"/>
            </a:pPr>
            <a:r>
              <a:rPr lang="en-US" altLang="zh-TW" dirty="0">
                <a:solidFill>
                  <a:schemeClr val="accent1">
                    <a:lumMod val="50000"/>
                  </a:schemeClr>
                </a:solidFill>
                <a:latin typeface="Avenir Book"/>
                <a:ea typeface="新細明體"/>
              </a:rPr>
              <a:t>Most patients are elderly (age&gt;=65)</a:t>
            </a:r>
          </a:p>
          <a:p>
            <a:pPr marL="742950" lvl="1" indent="-285750">
              <a:buFont typeface="Arial" panose="020B0604020202020204" pitchFamily="34" charset="0"/>
              <a:buChar char="•"/>
            </a:pPr>
            <a:r>
              <a:rPr lang="en-US" altLang="zh-TW" dirty="0">
                <a:solidFill>
                  <a:schemeClr val="accent1">
                    <a:lumMod val="50000"/>
                  </a:schemeClr>
                </a:solidFill>
                <a:latin typeface="Avenir Book"/>
                <a:ea typeface="新細明體"/>
              </a:rPr>
              <a:t>In the age range of 30 to 64, prevalence is just about 0.1%, neglected in the estimation</a:t>
            </a:r>
          </a:p>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Buyers: caregivers, including elderly homes, hospitals and households</a:t>
            </a:r>
          </a:p>
        </p:txBody>
      </p:sp>
      <p:sp>
        <p:nvSpPr>
          <p:cNvPr id="8" name="Rectangle 7">
            <a:extLst>
              <a:ext uri="{FF2B5EF4-FFF2-40B4-BE49-F238E27FC236}">
                <a16:creationId xmlns:a16="http://schemas.microsoft.com/office/drawing/2014/main" id="{DEEEC560-9B41-A7EA-4192-CF7AA4199608}"/>
              </a:ext>
            </a:extLst>
          </p:cNvPr>
          <p:cNvSpPr/>
          <p:nvPr/>
        </p:nvSpPr>
        <p:spPr>
          <a:xfrm>
            <a:off x="486917" y="2891837"/>
            <a:ext cx="2071752" cy="1814124"/>
          </a:xfrm>
          <a:prstGeom prst="rect">
            <a:avLst/>
          </a:prstGeom>
          <a:solidFill>
            <a:schemeClr val="accent1">
              <a:lumMod val="75000"/>
            </a:schemeClr>
          </a:solidFill>
          <a:ln w="2857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venir Book" panose="02000503020000020003" pitchFamily="2" charset="0"/>
              </a:rPr>
              <a:t>Problems (details will be provided in later parts)</a:t>
            </a:r>
          </a:p>
        </p:txBody>
      </p:sp>
      <p:sp>
        <p:nvSpPr>
          <p:cNvPr id="9" name="Rectangle 8">
            <a:extLst>
              <a:ext uri="{FF2B5EF4-FFF2-40B4-BE49-F238E27FC236}">
                <a16:creationId xmlns:a16="http://schemas.microsoft.com/office/drawing/2014/main" id="{55FBC76A-6E31-9885-4784-24396AB24A88}"/>
              </a:ext>
            </a:extLst>
          </p:cNvPr>
          <p:cNvSpPr/>
          <p:nvPr/>
        </p:nvSpPr>
        <p:spPr>
          <a:xfrm>
            <a:off x="2655210" y="2891837"/>
            <a:ext cx="9049873" cy="1814124"/>
          </a:xfrm>
          <a:prstGeom prst="rect">
            <a:avLst/>
          </a:prstGeom>
          <a:no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Dementia patients: risk of getting lost when wandering</a:t>
            </a:r>
          </a:p>
          <a:p>
            <a:pPr marL="285750" indent="-285750">
              <a:buFont typeface="Arial" panose="020B0604020202020204" pitchFamily="34" charset="0"/>
              <a:buChar char="•"/>
            </a:pPr>
            <a:r>
              <a:rPr lang="en-US" altLang="zh-TW" dirty="0">
                <a:solidFill>
                  <a:schemeClr val="accent1">
                    <a:lumMod val="50000"/>
                  </a:schemeClr>
                </a:solidFill>
                <a:latin typeface="Avenir Book"/>
                <a:ea typeface="新細明體"/>
              </a:rPr>
              <a:t>Caregiver: being restricted to stay near patients to ensure their safety</a:t>
            </a:r>
            <a:endParaRPr lang="zh-TW" altLang="en-US">
              <a:solidFill>
                <a:schemeClr val="accent1">
                  <a:lumMod val="50000"/>
                </a:schemeClr>
              </a:solidFill>
              <a:latin typeface="Avenir Book"/>
              <a:ea typeface="新細明體"/>
            </a:endParaRPr>
          </a:p>
        </p:txBody>
      </p:sp>
      <p:sp>
        <p:nvSpPr>
          <p:cNvPr id="10" name="Rectangle 9">
            <a:extLst>
              <a:ext uri="{FF2B5EF4-FFF2-40B4-BE49-F238E27FC236}">
                <a16:creationId xmlns:a16="http://schemas.microsoft.com/office/drawing/2014/main" id="{8E8BE48E-D748-086D-B4FD-BF6E80FBB498}"/>
              </a:ext>
            </a:extLst>
          </p:cNvPr>
          <p:cNvSpPr/>
          <p:nvPr/>
        </p:nvSpPr>
        <p:spPr>
          <a:xfrm>
            <a:off x="486917" y="4813517"/>
            <a:ext cx="2071752" cy="1814124"/>
          </a:xfrm>
          <a:prstGeom prst="rect">
            <a:avLst/>
          </a:prstGeom>
          <a:solidFill>
            <a:schemeClr val="accent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venir Book" panose="02000503020000020003" pitchFamily="2" charset="0"/>
              </a:rPr>
              <a:t>Demand</a:t>
            </a:r>
          </a:p>
        </p:txBody>
      </p:sp>
      <p:sp>
        <p:nvSpPr>
          <p:cNvPr id="11" name="Rectangle 10">
            <a:extLst>
              <a:ext uri="{FF2B5EF4-FFF2-40B4-BE49-F238E27FC236}">
                <a16:creationId xmlns:a16="http://schemas.microsoft.com/office/drawing/2014/main" id="{5DD81944-DC41-BFB9-77CD-FC8394CD842A}"/>
              </a:ext>
            </a:extLst>
          </p:cNvPr>
          <p:cNvSpPr/>
          <p:nvPr/>
        </p:nvSpPr>
        <p:spPr>
          <a:xfrm>
            <a:off x="2655210" y="4813517"/>
            <a:ext cx="9049873" cy="181412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dirty="0">
                <a:solidFill>
                  <a:schemeClr val="accent1">
                    <a:lumMod val="50000"/>
                  </a:schemeClr>
                </a:solidFill>
                <a:latin typeface="Avenir Book" panose="02000503020000020003" pitchFamily="2" charset="0"/>
              </a:rPr>
              <a:t>Caregivers demand to ensure the safety and security of dementia patients</a:t>
            </a:r>
          </a:p>
          <a:p>
            <a:pPr marL="285750" indent="-285750">
              <a:buFont typeface="Arial" panose="020B0604020202020204" pitchFamily="34" charset="0"/>
              <a:buChar char="•"/>
            </a:pPr>
            <a:r>
              <a:rPr lang="en-GB" dirty="0">
                <a:solidFill>
                  <a:schemeClr val="accent1">
                    <a:lumMod val="50000"/>
                  </a:schemeClr>
                </a:solidFill>
                <a:latin typeface="Avenir Book" panose="02000503020000020003" pitchFamily="2" charset="0"/>
              </a:rPr>
              <a:t>Dementia patients maybe also don’t want to be a burden to caregivers, especially when they are their family</a:t>
            </a:r>
          </a:p>
          <a:p>
            <a:pPr marL="285750" indent="-285750">
              <a:buFont typeface="Arial" panose="020B0604020202020204" pitchFamily="34" charset="0"/>
              <a:buChar char="•"/>
            </a:pPr>
            <a:r>
              <a:rPr lang="en-GB" dirty="0">
                <a:solidFill>
                  <a:schemeClr val="accent1">
                    <a:lumMod val="50000"/>
                  </a:schemeClr>
                </a:solidFill>
                <a:latin typeface="Avenir Book" panose="02000503020000020003" pitchFamily="2" charset="0"/>
              </a:rPr>
              <a:t>Caregivers demand effective channels to synchronize the status of patients, e.g. location</a:t>
            </a:r>
          </a:p>
        </p:txBody>
      </p:sp>
    </p:spTree>
    <p:extLst>
      <p:ext uri="{BB962C8B-B14F-4D97-AF65-F5344CB8AC3E}">
        <p14:creationId xmlns:p14="http://schemas.microsoft.com/office/powerpoint/2010/main" val="1301057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91E0B-2002-1F41-FB84-1D83728CFDB3}"/>
              </a:ext>
            </a:extLst>
          </p:cNvPr>
          <p:cNvSpPr>
            <a:spLocks noGrp="1"/>
          </p:cNvSpPr>
          <p:nvPr>
            <p:ph type="title"/>
          </p:nvPr>
        </p:nvSpPr>
        <p:spPr/>
        <p:txBody>
          <a:bodyPr/>
          <a:lstStyle/>
          <a:p>
            <a:r>
              <a:rPr lang="en-US" dirty="0">
                <a:cs typeface="Calibri Light"/>
              </a:rPr>
              <a:t>Target User</a:t>
            </a:r>
            <a:endParaRPr lang="en-US" dirty="0"/>
          </a:p>
        </p:txBody>
      </p:sp>
      <p:sp>
        <p:nvSpPr>
          <p:cNvPr id="3" name="Content Placeholder 2">
            <a:extLst>
              <a:ext uri="{FF2B5EF4-FFF2-40B4-BE49-F238E27FC236}">
                <a16:creationId xmlns:a16="http://schemas.microsoft.com/office/drawing/2014/main" id="{AF66ECF0-F27E-B1D8-5CE1-CE4A0A11F65C}"/>
              </a:ext>
            </a:extLst>
          </p:cNvPr>
          <p:cNvSpPr>
            <a:spLocks noGrp="1"/>
          </p:cNvSpPr>
          <p:nvPr>
            <p:ph idx="1"/>
          </p:nvPr>
        </p:nvSpPr>
        <p:spPr>
          <a:xfrm>
            <a:off x="485274" y="1536867"/>
            <a:ext cx="10515600" cy="4351338"/>
          </a:xfrm>
        </p:spPr>
        <p:txBody>
          <a:bodyPr vert="horz" lIns="91440" tIns="45720" rIns="91440" bIns="45720" rtlCol="0" anchor="t">
            <a:normAutofit/>
          </a:bodyPr>
          <a:lstStyle/>
          <a:p>
            <a:pPr marL="0" indent="0">
              <a:buNone/>
            </a:pPr>
            <a:endParaRPr lang="en-US" dirty="0">
              <a:cs typeface="Calibri"/>
            </a:endParaRPr>
          </a:p>
          <a:p>
            <a:endParaRPr lang="en-US" dirty="0"/>
          </a:p>
        </p:txBody>
      </p:sp>
      <p:sp>
        <p:nvSpPr>
          <p:cNvPr id="5" name="Content Placeholder 2">
            <a:extLst>
              <a:ext uri="{FF2B5EF4-FFF2-40B4-BE49-F238E27FC236}">
                <a16:creationId xmlns:a16="http://schemas.microsoft.com/office/drawing/2014/main" id="{DE6372D4-943A-F296-A8E0-28A59B7692C8}"/>
              </a:ext>
            </a:extLst>
          </p:cNvPr>
          <p:cNvSpPr txBox="1">
            <a:spLocks/>
          </p:cNvSpPr>
          <p:nvPr/>
        </p:nvSpPr>
        <p:spPr>
          <a:xfrm>
            <a:off x="838200" y="1536867"/>
            <a:ext cx="10515600" cy="4351338"/>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cs typeface="Calibri"/>
              </a:rPr>
              <a:t> elderly individuals with dementia</a:t>
            </a:r>
            <a:br>
              <a:rPr lang="en-US" b="1" dirty="0">
                <a:cs typeface="Calibri"/>
              </a:rPr>
            </a:br>
            <a:br>
              <a:rPr lang="en-US" b="1" dirty="0">
                <a:cs typeface="Calibri"/>
              </a:rPr>
            </a:br>
            <a:r>
              <a:rPr lang="en-US" sz="2000" u="sng" dirty="0">
                <a:cs typeface="Calibri"/>
              </a:rPr>
              <a:t>Key Psychographics:</a:t>
            </a:r>
            <a:endParaRPr lang="en-US" u="sng" dirty="0">
              <a:cs typeface="Calibri"/>
            </a:endParaRPr>
          </a:p>
          <a:p>
            <a:r>
              <a:rPr lang="en-US" sz="1800" dirty="0">
                <a:cs typeface="Calibri"/>
              </a:rPr>
              <a:t>have a close relationship with the person they are caring for.</a:t>
            </a:r>
            <a:endParaRPr lang="en-US" dirty="0">
              <a:cs typeface="Calibri"/>
            </a:endParaRPr>
          </a:p>
          <a:p>
            <a:r>
              <a:rPr lang="en-US" sz="1800" dirty="0">
                <a:cs typeface="Calibri"/>
              </a:rPr>
              <a:t>They are concerned about the safety and well-being of their loved ones and are actively seeking solutions to assist in their care. They have a moderate to high level of technological literacy and are open to using innovative products to address their needs. </a:t>
            </a:r>
            <a:endParaRPr lang="en-GB" sz="1800" dirty="0">
              <a:cs typeface="Calibri"/>
            </a:endParaRPr>
          </a:p>
          <a:p>
            <a:r>
              <a:rPr lang="en-GB" dirty="0">
                <a:cs typeface="Calibri"/>
              </a:rPr>
              <a:t>Living alone 
 Living with their children
• What are their deposable income? 
• Are they competent with technology? 
• What are their key problems/needs?</a:t>
            </a:r>
            <a:endParaRPr lang="en-US" dirty="0">
              <a:cs typeface="Calibri"/>
            </a:endParaRPr>
          </a:p>
          <a:p>
            <a:r>
              <a:rPr lang="en-US" sz="1800" dirty="0">
                <a:cs typeface="Calibri"/>
              </a:rPr>
              <a:t>value peace of mind, convenience, and effective communication.</a:t>
            </a:r>
            <a:endParaRPr lang="en-US" dirty="0">
              <a:cs typeface="Calibri"/>
            </a:endParaRPr>
          </a:p>
          <a:p>
            <a:pPr marL="0" indent="0">
              <a:buFont typeface="Arial" panose="020B0604020202020204" pitchFamily="34" charset="0"/>
              <a:buNone/>
            </a:pPr>
            <a:r>
              <a:rPr lang="en-US" sz="2000" u="sng" dirty="0">
                <a:cs typeface="Calibri"/>
              </a:rPr>
              <a:t>Key Demographics:</a:t>
            </a:r>
          </a:p>
          <a:p>
            <a:pPr marL="342900" indent="-342900"/>
            <a:r>
              <a:rPr lang="en-US" sz="2000" b="1" dirty="0">
                <a:cs typeface="Calibri"/>
              </a:rPr>
              <a:t>Age Range</a:t>
            </a:r>
            <a:r>
              <a:rPr lang="en-US" sz="2000" dirty="0">
                <a:cs typeface="Calibri"/>
              </a:rPr>
              <a:t>: above 65</a:t>
            </a:r>
            <a:endParaRPr lang="en-US" sz="2000" u="sng" dirty="0">
              <a:cs typeface="Calibri"/>
            </a:endParaRPr>
          </a:p>
          <a:p>
            <a:pPr marL="342900" indent="-342900"/>
            <a:r>
              <a:rPr lang="en-US" sz="2000" b="1" dirty="0">
                <a:cs typeface="Calibri"/>
              </a:rPr>
              <a:t>Gender</a:t>
            </a:r>
            <a:r>
              <a:rPr lang="en-US" sz="2000" dirty="0">
                <a:cs typeface="Calibri"/>
              </a:rPr>
              <a:t>: All</a:t>
            </a:r>
          </a:p>
          <a:p>
            <a:pPr marL="342900" indent="-342900"/>
            <a:r>
              <a:rPr lang="en-US" sz="2000" dirty="0">
                <a:cs typeface="Calibri"/>
              </a:rPr>
              <a:t>Income Level</a:t>
            </a:r>
          </a:p>
          <a:p>
            <a:pPr marL="0" indent="0">
              <a:buFont typeface="Arial" panose="020B0604020202020204" pitchFamily="34" charset="0"/>
              <a:buNone/>
            </a:pPr>
            <a:endParaRPr lang="en-US" sz="2000" dirty="0">
              <a:cs typeface="Calibri"/>
            </a:endParaRPr>
          </a:p>
          <a:p>
            <a:endParaRPr lang="en-US" dirty="0">
              <a:cs typeface="Calibri"/>
            </a:endParaRPr>
          </a:p>
          <a:p>
            <a:endParaRPr lang="en-US" dirty="0">
              <a:cs typeface="Calibri"/>
            </a:endParaRPr>
          </a:p>
        </p:txBody>
      </p:sp>
    </p:spTree>
    <p:extLst>
      <p:ext uri="{BB962C8B-B14F-4D97-AF65-F5344CB8AC3E}">
        <p14:creationId xmlns:p14="http://schemas.microsoft.com/office/powerpoint/2010/main" val="3395495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CD9B6-5C25-75CA-2C32-02D115816E2A}"/>
              </a:ext>
            </a:extLst>
          </p:cNvPr>
          <p:cNvSpPr>
            <a:spLocks noGrp="1"/>
          </p:cNvSpPr>
          <p:nvPr>
            <p:ph type="title"/>
          </p:nvPr>
        </p:nvSpPr>
        <p:spPr/>
        <p:txBody>
          <a:bodyPr>
            <a:normAutofit/>
          </a:bodyPr>
          <a:lstStyle/>
          <a:p>
            <a:r>
              <a:rPr lang="en-US" sz="2000" dirty="0">
                <a:ea typeface="+mj-lt"/>
                <a:cs typeface="+mj-lt"/>
              </a:rPr>
              <a:t>Empathy Findings - Needs and Gains:</a:t>
            </a:r>
            <a:endParaRPr lang="en-US" sz="2000" dirty="0"/>
          </a:p>
        </p:txBody>
      </p:sp>
      <p:sp>
        <p:nvSpPr>
          <p:cNvPr id="3" name="Content Placeholder 2">
            <a:extLst>
              <a:ext uri="{FF2B5EF4-FFF2-40B4-BE49-F238E27FC236}">
                <a16:creationId xmlns:a16="http://schemas.microsoft.com/office/drawing/2014/main" id="{78E48B3C-7135-FE47-A3AA-581C155E753E}"/>
              </a:ext>
            </a:extLst>
          </p:cNvPr>
          <p:cNvSpPr>
            <a:spLocks noGrp="1"/>
          </p:cNvSpPr>
          <p:nvPr>
            <p:ph idx="1"/>
          </p:nvPr>
        </p:nvSpPr>
        <p:spPr/>
        <p:txBody>
          <a:bodyPr vert="horz" lIns="91440" tIns="45720" rIns="91440" bIns="45720" rtlCol="0" anchor="t">
            <a:noAutofit/>
          </a:bodyPr>
          <a:lstStyle/>
          <a:p>
            <a:endParaRPr lang="en-US" sz="1800" dirty="0">
              <a:ea typeface="+mn-lt"/>
              <a:cs typeface="+mn-lt"/>
            </a:endParaRPr>
          </a:p>
          <a:p>
            <a:r>
              <a:rPr lang="en-US" sz="1800" dirty="0">
                <a:ea typeface="+mn-lt"/>
                <a:cs typeface="+mn-lt"/>
              </a:rPr>
              <a:t>Need for Safety and Security: Caregivers need a solution that helps ensure the safety and security of their loved ones with dementia, particularly when they are at risk of wandering or getting lost. (done)</a:t>
            </a:r>
          </a:p>
          <a:p>
            <a:r>
              <a:rPr lang="en-US" sz="1800" dirty="0">
                <a:ea typeface="+mn-lt"/>
                <a:cs typeface="+mn-lt"/>
              </a:rPr>
              <a:t>Need for Communication: Caregivers seek effective communication channels to stay connected with the elderly individual, providing reassurance and immediate assistance when needed. (done)</a:t>
            </a:r>
          </a:p>
          <a:p>
            <a:r>
              <a:rPr lang="en-US" sz="1800" dirty="0">
                <a:ea typeface="+mn-lt"/>
                <a:cs typeface="+mn-lt"/>
              </a:rPr>
              <a:t>Gain Peace of Mind: Caregivers desire a sense of peace of mind, knowing that they have a reliable tool to monitor and support their loved ones with dementia, even from a distance. (done)</a:t>
            </a:r>
          </a:p>
          <a:p>
            <a:r>
              <a:rPr lang="en-US" sz="1800" dirty="0">
                <a:ea typeface="+mn-lt"/>
                <a:cs typeface="+mn-lt"/>
              </a:rPr>
              <a:t>Gain Convenience and Ease of Use: Caregivers value a user-friendly and convenient solution that integrates easily into their daily routine, simplifying the caregiving process.</a:t>
            </a:r>
          </a:p>
          <a:p>
            <a:r>
              <a:rPr lang="en-US" sz="1800" dirty="0">
                <a:ea typeface="+mn-lt"/>
                <a:cs typeface="+mn-lt"/>
              </a:rPr>
              <a:t>Gain Efficient Location Tracking: Caregivers need accurate and real-time location tracking to promptly respond to any potential safety concerns or emergencies.</a:t>
            </a:r>
            <a:endParaRPr lang="en-US" sz="1800" dirty="0"/>
          </a:p>
        </p:txBody>
      </p:sp>
    </p:spTree>
    <p:extLst>
      <p:ext uri="{BB962C8B-B14F-4D97-AF65-F5344CB8AC3E}">
        <p14:creationId xmlns:p14="http://schemas.microsoft.com/office/powerpoint/2010/main" val="3833695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CC2BD0-0D5C-8842-DAC8-47EF743262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35FFBB6-6693-E040-F8D4-8C312356874C}"/>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260A13F-7F07-0743-1835-59A6B1737061}"/>
              </a:ext>
            </a:extLst>
          </p:cNvPr>
          <p:cNvSpPr txBox="1">
            <a:spLocks noGrp="1"/>
          </p:cNvSpPr>
          <p:nvPr>
            <p:ph type="title" idx="4294967295"/>
          </p:nvPr>
        </p:nvSpPr>
        <p:spPr>
          <a:xfrm>
            <a:off x="375976" y="333593"/>
            <a:ext cx="2506282"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Solution - Features</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2" name="Content Placeholder 2">
            <a:extLst>
              <a:ext uri="{FF2B5EF4-FFF2-40B4-BE49-F238E27FC236}">
                <a16:creationId xmlns:a16="http://schemas.microsoft.com/office/drawing/2014/main" id="{0FD77E16-45B9-95BE-60CA-CFEF0ACFFEC5}"/>
              </a:ext>
            </a:extLst>
          </p:cNvPr>
          <p:cNvSpPr txBox="1">
            <a:spLocks/>
          </p:cNvSpPr>
          <p:nvPr/>
        </p:nvSpPr>
        <p:spPr>
          <a:xfrm>
            <a:off x="838200" y="1253331"/>
            <a:ext cx="10515600" cy="435133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venir Book" panose="02000503020000020003"/>
                <a:ea typeface="+mn-lt"/>
                <a:cs typeface="+mn-lt"/>
              </a:rPr>
              <a:t>Our solution is a GPS watch designed specifically for elderly individuals with dementia. It offers multiple features to address the needs of caregivers and enhance the safety of the patients. The key features include: (help dementia patients who want to go out their home to prevent them get lost and reduce the inconvenience caused to the caregiver)</a:t>
            </a:r>
          </a:p>
          <a:p>
            <a:r>
              <a:rPr lang="en-US" sz="2000" dirty="0">
                <a:latin typeface="Avenir Book" panose="02000503020000020003"/>
                <a:ea typeface="+mn-lt"/>
                <a:cs typeface="+mn-lt"/>
              </a:rPr>
              <a:t>Real-time Location Tracking: The GPS watch utilizes advanced GPS technology to provide precise real-time location information of the elderly individual. Caregivers can monitor their loved one's whereabouts through a dedicated mobile app or web portal.</a:t>
            </a:r>
          </a:p>
          <a:p>
            <a:r>
              <a:rPr lang="en-US" sz="2000" dirty="0">
                <a:latin typeface="Avenir Book" panose="02000503020000020003"/>
                <a:ea typeface="+mn-lt"/>
                <a:cs typeface="+mn-lt"/>
              </a:rPr>
              <a:t>Two-Way Communication: The watch acts as a phone, allowing caregivers to make calls directly to the watch. This enables easy and immediate communication with the elderly individual, promoting reassurance and quick assistance if needed.</a:t>
            </a:r>
          </a:p>
          <a:p>
            <a:r>
              <a:rPr lang="en-US" sz="2000" dirty="0">
                <a:latin typeface="Avenir Book" panose="02000503020000020003"/>
                <a:ea typeface="+mn-lt"/>
                <a:cs typeface="+mn-lt"/>
              </a:rPr>
              <a:t>Geo-fencing and Alerts: Caregivers can set up virtual boundaries or safe zones through the mobile app. If the elderly person moves outside of the defined area, caregivers receive instant alerts on their smartphones, ensuring prompt action to prevent wandering or getting lost.</a:t>
            </a:r>
          </a:p>
          <a:p>
            <a:r>
              <a:rPr lang="en-US" sz="2000" dirty="0">
                <a:latin typeface="Avenir Book" panose="02000503020000020003"/>
                <a:ea typeface="+mn-lt"/>
                <a:cs typeface="+mn-lt"/>
              </a:rPr>
              <a:t>Guided Navigation: In cases where the GPS watch detects that the elderly individual is at risk of getting lost, it can connect to Google Maps for guided navigation. Caregivers can remotely initiate the guidance feature, providing step-by-step directions to help the individual return to a safe location.</a:t>
            </a:r>
          </a:p>
          <a:p>
            <a:endParaRPr lang="en-US" dirty="0">
              <a:ea typeface="Calibri"/>
              <a:cs typeface="Calibri"/>
            </a:endParaRPr>
          </a:p>
        </p:txBody>
      </p:sp>
    </p:spTree>
    <p:extLst>
      <p:ext uri="{BB962C8B-B14F-4D97-AF65-F5344CB8AC3E}">
        <p14:creationId xmlns:p14="http://schemas.microsoft.com/office/powerpoint/2010/main" val="697009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A2AC-2DE5-88D9-CB27-30844CD7800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83B7072-8463-DB96-1765-146A868A0E7E}"/>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To increase battery life: simple system, solar </a:t>
            </a:r>
          </a:p>
          <a:p>
            <a:pPr marL="0" indent="0">
              <a:buNone/>
            </a:pPr>
            <a:r>
              <a:rPr lang="en-US" dirty="0">
                <a:cs typeface="Calibri"/>
              </a:rPr>
              <a:t>The watch need to connect to the internet + gps, to enable the </a:t>
            </a:r>
            <a:r>
              <a:rPr lang="ja-JP" altLang="en-US" dirty="0">
                <a:ea typeface="游ゴシック"/>
                <a:cs typeface="Calibri"/>
              </a:rPr>
              <a:t>高德 guiding to home function, able to receive call and dial for umergency </a:t>
            </a:r>
            <a:endParaRPr lang="en-US" dirty="0">
              <a:cs typeface="Calibri"/>
            </a:endParaRPr>
          </a:p>
        </p:txBody>
      </p:sp>
    </p:spTree>
    <p:extLst>
      <p:ext uri="{BB962C8B-B14F-4D97-AF65-F5344CB8AC3E}">
        <p14:creationId xmlns:p14="http://schemas.microsoft.com/office/powerpoint/2010/main" val="34555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0648FB-B56B-4E92-ED13-19EECAB7362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6C6F75F-1F06-04C9-B719-E9122F6D97BF}"/>
              </a:ext>
            </a:extLst>
          </p:cNvPr>
          <p:cNvSpPr/>
          <p:nvPr/>
        </p:nvSpPr>
        <p:spPr>
          <a:xfrm>
            <a:off x="1939" y="286897"/>
            <a:ext cx="305914" cy="495023"/>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323DE6AD-97EA-0165-0FC5-B30056772F18}"/>
              </a:ext>
            </a:extLst>
          </p:cNvPr>
          <p:cNvSpPr txBox="1">
            <a:spLocks noGrp="1"/>
          </p:cNvSpPr>
          <p:nvPr>
            <p:ph type="title" idx="4294967295"/>
          </p:nvPr>
        </p:nvSpPr>
        <p:spPr>
          <a:xfrm>
            <a:off x="375976" y="333593"/>
            <a:ext cx="2506282"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schemeClr val="tx1"/>
                </a:solidFill>
                <a:effectLst/>
                <a:uLnTx/>
                <a:uFillTx/>
                <a:latin typeface="Avenir Book" panose="02000503020000020003" pitchFamily="2" charset="0"/>
                <a:ea typeface="+mn-ea"/>
                <a:cs typeface="Calibri"/>
              </a:rPr>
              <a:t>How to work</a:t>
            </a:r>
            <a:endParaRPr kumimoji="0" lang="en-US" sz="1800" b="0" i="0" u="none" strike="noStrike" kern="1200" cap="none" spc="0" normalizeH="0" baseline="0" noProof="0" dirty="0">
              <a:ln>
                <a:noFill/>
              </a:ln>
              <a:solidFill>
                <a:schemeClr val="tx1"/>
              </a:solidFill>
              <a:effectLst/>
              <a:uLnTx/>
              <a:uFillTx/>
              <a:latin typeface="Avenir Book" panose="02000503020000020003" pitchFamily="2" charset="0"/>
              <a:ea typeface="+mn-ea"/>
              <a:cs typeface="+mn-cs"/>
            </a:endParaRPr>
          </a:p>
        </p:txBody>
      </p:sp>
      <p:sp>
        <p:nvSpPr>
          <p:cNvPr id="3" name="Content Placeholder 2">
            <a:extLst>
              <a:ext uri="{FF2B5EF4-FFF2-40B4-BE49-F238E27FC236}">
                <a16:creationId xmlns:a16="http://schemas.microsoft.com/office/drawing/2014/main" id="{3170B89B-1BBD-E9B8-665B-67A9ED316DF1}"/>
              </a:ext>
            </a:extLst>
          </p:cNvPr>
          <p:cNvSpPr txBox="1">
            <a:spLocks/>
          </p:cNvSpPr>
          <p:nvPr/>
        </p:nvSpPr>
        <p:spPr>
          <a:xfrm>
            <a:off x="838200" y="1893580"/>
            <a:ext cx="10515600" cy="307084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ea typeface="+mn-lt"/>
                <a:cs typeface="+mn-lt"/>
              </a:rPr>
              <a:t>Caregivers set up the GPS watch by connecting it to the dedicated mobile app and configuring the desired settings, such as safe zones and emergency contacts.</a:t>
            </a:r>
          </a:p>
          <a:p>
            <a:r>
              <a:rPr lang="en-US" sz="1800" dirty="0">
                <a:ea typeface="+mn-lt"/>
                <a:cs typeface="+mn-lt"/>
              </a:rPr>
              <a:t>The elderly individual wears the GPS watch, which continuously tracks their location using GPS technology and relays the information to the mobile app in real-time.</a:t>
            </a:r>
          </a:p>
          <a:p>
            <a:r>
              <a:rPr lang="en-US" sz="1800" dirty="0">
                <a:ea typeface="+mn-lt"/>
                <a:cs typeface="+mn-lt"/>
              </a:rPr>
              <a:t>Caregivers can monitor the location of their loved one through the mobile app or web portal, ensuring their safety and receiving immediate notifications if the person moves outside the designated safe zone.</a:t>
            </a:r>
          </a:p>
          <a:p>
            <a:r>
              <a:rPr lang="en-US" sz="1800" dirty="0">
                <a:ea typeface="+mn-lt"/>
                <a:cs typeface="+mn-lt"/>
              </a:rPr>
              <a:t>In the event that the elderly person is at risk of getting lost, caregivers can activate the guided navigation feature, which connects to Google Maps and provides step-by-step directions to guide them back to safety.</a:t>
            </a:r>
          </a:p>
        </p:txBody>
      </p:sp>
    </p:spTree>
    <p:extLst>
      <p:ext uri="{BB962C8B-B14F-4D97-AF65-F5344CB8AC3E}">
        <p14:creationId xmlns:p14="http://schemas.microsoft.com/office/powerpoint/2010/main" val="1500646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TotalTime>
  <Words>3520</Words>
  <Application>Microsoft Office PowerPoint</Application>
  <PresentationFormat>Widescreen</PresentationFormat>
  <Paragraphs>365</Paragraphs>
  <Slides>24</Slides>
  <Notes>4</Notes>
  <HiddenSlides>7</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Avenir Book</vt:lpstr>
      <vt:lpstr>Google Sans</vt:lpstr>
      <vt:lpstr>Lato Extended</vt:lpstr>
      <vt:lpstr>新細明體</vt:lpstr>
      <vt:lpstr>游ゴシック</vt:lpstr>
      <vt:lpstr>Arial</vt:lpstr>
      <vt:lpstr>Calibri</vt:lpstr>
      <vt:lpstr>Calibri Light</vt:lpstr>
      <vt:lpstr>Poppins</vt:lpstr>
      <vt:lpstr>Office Theme</vt:lpstr>
      <vt:lpstr>How Might We help families to get a peace of mind from dementia patients?</vt:lpstr>
      <vt:lpstr>Target Market</vt:lpstr>
      <vt:lpstr>PowerPoint Presentation</vt:lpstr>
      <vt:lpstr>Market size – Greater Bay Area &amp; Hong Kong</vt:lpstr>
      <vt:lpstr>PowerPoint Presentation</vt:lpstr>
      <vt:lpstr>Market size – TAM SAM SOM*</vt:lpstr>
      <vt:lpstr>Market potential – Increasing elderly fraction and amount with dementia</vt:lpstr>
      <vt:lpstr>PowerPoint Presentation</vt:lpstr>
      <vt:lpstr>PowerPoint Presentation</vt:lpstr>
      <vt:lpstr>Needs and Gains</vt:lpstr>
      <vt:lpstr>Solution</vt:lpstr>
      <vt:lpstr>PowerPoint Presentation</vt:lpstr>
      <vt:lpstr>PowerPoint Presentation</vt:lpstr>
      <vt:lpstr>Solution – How it works?</vt:lpstr>
      <vt:lpstr>Competitors analysis</vt:lpstr>
      <vt:lpstr>PowerPoint Presentation</vt:lpstr>
      <vt:lpstr>Appendix – references &amp; attributions</vt:lpstr>
      <vt:lpstr>PowerPoint Presentation</vt:lpstr>
      <vt:lpstr>Target Market</vt:lpstr>
      <vt:lpstr>Target User</vt:lpstr>
      <vt:lpstr>Empathy Findings - Needs and Gains:</vt:lpstr>
      <vt:lpstr>Solution - Features</vt:lpstr>
      <vt:lpstr>PowerPoint Presentation</vt:lpstr>
      <vt:lpstr>How to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TAI Wai Ming</dc:creator>
  <cp:lastModifiedBy>Chi Ming CHAN</cp:lastModifiedBy>
  <cp:revision>8</cp:revision>
  <dcterms:created xsi:type="dcterms:W3CDTF">2024-02-23T00:55:48Z</dcterms:created>
  <dcterms:modified xsi:type="dcterms:W3CDTF">2024-03-10T02:20:49Z</dcterms:modified>
</cp:coreProperties>
</file>
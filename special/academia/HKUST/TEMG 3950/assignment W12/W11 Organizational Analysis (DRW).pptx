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61" r:id="rId2"/>
    <p:sldId id="256" r:id="rId3"/>
    <p:sldId id="257" r:id="rId4"/>
    <p:sldId id="260" r:id="rId5"/>
    <p:sldId id="258" r:id="rId6"/>
    <p:sldId id="259" r:id="rId7"/>
  </p:sldIdLst>
  <p:sldSz cx="12192000" cy="6858000"/>
  <p:notesSz cx="6858000" cy="9144000"/>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700"/>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79" d="100"/>
          <a:sy n="79" d="100"/>
        </p:scale>
        <p:origin x="835"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HK"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9E21C8-8908-4BD4-8661-2A47E8F4249E}" type="datetimeFigureOut">
              <a:rPr lang="zh-HK" altLang="en-US" smtClean="0"/>
              <a:t>21/4/2024</a:t>
            </a:fld>
            <a:endParaRPr lang="zh-HK"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HK"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HK"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A39461-E568-4055-B8B0-A964C13A017B}" type="slidenum">
              <a:rPr lang="zh-HK" altLang="en-US" smtClean="0"/>
              <a:t>‹#›</a:t>
            </a:fld>
            <a:endParaRPr lang="zh-HK" altLang="en-US"/>
          </a:p>
        </p:txBody>
      </p:sp>
    </p:spTree>
    <p:extLst>
      <p:ext uri="{BB962C8B-B14F-4D97-AF65-F5344CB8AC3E}">
        <p14:creationId xmlns:p14="http://schemas.microsoft.com/office/powerpoint/2010/main" val="2052462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HK" altLang="en-US" dirty="0"/>
          </a:p>
        </p:txBody>
      </p:sp>
      <p:sp>
        <p:nvSpPr>
          <p:cNvPr id="4" name="Slide Number Placeholder 3"/>
          <p:cNvSpPr>
            <a:spLocks noGrp="1"/>
          </p:cNvSpPr>
          <p:nvPr>
            <p:ph type="sldNum" sz="quarter" idx="5"/>
          </p:nvPr>
        </p:nvSpPr>
        <p:spPr/>
        <p:txBody>
          <a:bodyPr/>
          <a:lstStyle/>
          <a:p>
            <a:fld id="{53A39461-E568-4055-B8B0-A964C13A017B}" type="slidenum">
              <a:rPr lang="zh-HK" altLang="en-US" smtClean="0"/>
              <a:t>3</a:t>
            </a:fld>
            <a:endParaRPr lang="zh-HK" altLang="en-US"/>
          </a:p>
        </p:txBody>
      </p:sp>
    </p:spTree>
    <p:extLst>
      <p:ext uri="{BB962C8B-B14F-4D97-AF65-F5344CB8AC3E}">
        <p14:creationId xmlns:p14="http://schemas.microsoft.com/office/powerpoint/2010/main" val="3756913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HK" altLang="en-US" dirty="0"/>
          </a:p>
        </p:txBody>
      </p:sp>
      <p:sp>
        <p:nvSpPr>
          <p:cNvPr id="4" name="Slide Number Placeholder 3"/>
          <p:cNvSpPr>
            <a:spLocks noGrp="1"/>
          </p:cNvSpPr>
          <p:nvPr>
            <p:ph type="sldNum" sz="quarter" idx="5"/>
          </p:nvPr>
        </p:nvSpPr>
        <p:spPr/>
        <p:txBody>
          <a:bodyPr/>
          <a:lstStyle/>
          <a:p>
            <a:fld id="{53A39461-E568-4055-B8B0-A964C13A017B}" type="slidenum">
              <a:rPr lang="zh-HK" altLang="en-US" smtClean="0"/>
              <a:t>4</a:t>
            </a:fld>
            <a:endParaRPr lang="zh-HK" altLang="en-US"/>
          </a:p>
        </p:txBody>
      </p:sp>
    </p:spTree>
    <p:extLst>
      <p:ext uri="{BB962C8B-B14F-4D97-AF65-F5344CB8AC3E}">
        <p14:creationId xmlns:p14="http://schemas.microsoft.com/office/powerpoint/2010/main" val="2445091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F141C-74D3-25CF-9F81-25CC34941B00}"/>
              </a:ext>
            </a:extLst>
          </p:cNvPr>
          <p:cNvSpPr>
            <a:spLocks noGrp="1"/>
          </p:cNvSpPr>
          <p:nvPr>
            <p:ph type="ctrTitle"/>
          </p:nvPr>
        </p:nvSpPr>
        <p:spPr>
          <a:xfrm>
            <a:off x="1524000" y="1122363"/>
            <a:ext cx="9144000" cy="2387600"/>
          </a:xfrm>
        </p:spPr>
        <p:txBody>
          <a:bodyPr anchor="b"/>
          <a:lstStyle>
            <a:lvl1pPr algn="ctr">
              <a:defRPr sz="6000"/>
            </a:lvl1pPr>
          </a:lstStyle>
          <a:p>
            <a:r>
              <a:rPr lang="en-US" altLang="zh-HK"/>
              <a:t>Click to edit Master title style</a:t>
            </a:r>
            <a:endParaRPr lang="zh-HK" altLang="en-US"/>
          </a:p>
        </p:txBody>
      </p:sp>
      <p:sp>
        <p:nvSpPr>
          <p:cNvPr id="3" name="Subtitle 2">
            <a:extLst>
              <a:ext uri="{FF2B5EF4-FFF2-40B4-BE49-F238E27FC236}">
                <a16:creationId xmlns:a16="http://schemas.microsoft.com/office/drawing/2014/main" id="{3F8C1B15-B430-38EE-7C17-2D88532A70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HK"/>
              <a:t>Click to edit Master subtitle style</a:t>
            </a:r>
            <a:endParaRPr lang="zh-HK" altLang="en-US"/>
          </a:p>
        </p:txBody>
      </p:sp>
      <p:sp>
        <p:nvSpPr>
          <p:cNvPr id="4" name="Date Placeholder 3">
            <a:extLst>
              <a:ext uri="{FF2B5EF4-FFF2-40B4-BE49-F238E27FC236}">
                <a16:creationId xmlns:a16="http://schemas.microsoft.com/office/drawing/2014/main" id="{7370E2AF-13DB-4673-C6FB-7E639A4E9D9A}"/>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5" name="Footer Placeholder 4">
            <a:extLst>
              <a:ext uri="{FF2B5EF4-FFF2-40B4-BE49-F238E27FC236}">
                <a16:creationId xmlns:a16="http://schemas.microsoft.com/office/drawing/2014/main" id="{6EC5D44E-9E40-A24C-35E5-B9A9553B1AB1}"/>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C7CF09CD-F673-C7C8-8A30-2BDE1AC7C24E}"/>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1194943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8DA47-810C-203D-2BBC-3415F57C9A59}"/>
              </a:ext>
            </a:extLst>
          </p:cNvPr>
          <p:cNvSpPr>
            <a:spLocks noGrp="1"/>
          </p:cNvSpPr>
          <p:nvPr>
            <p:ph type="title"/>
          </p:nvPr>
        </p:nvSpPr>
        <p:spPr/>
        <p:txBody>
          <a:bodyPr/>
          <a:lstStyle/>
          <a:p>
            <a:r>
              <a:rPr lang="en-US" altLang="zh-HK"/>
              <a:t>Click to edit Master title style</a:t>
            </a:r>
            <a:endParaRPr lang="zh-HK" altLang="en-US"/>
          </a:p>
        </p:txBody>
      </p:sp>
      <p:sp>
        <p:nvSpPr>
          <p:cNvPr id="3" name="Content Placeholder 2">
            <a:extLst>
              <a:ext uri="{FF2B5EF4-FFF2-40B4-BE49-F238E27FC236}">
                <a16:creationId xmlns:a16="http://schemas.microsoft.com/office/drawing/2014/main" id="{8672B620-280E-2765-6731-806B46C99EC0}"/>
              </a:ext>
            </a:extLst>
          </p:cNvPr>
          <p:cNvSpPr>
            <a:spLocks noGrp="1"/>
          </p:cNvSpPr>
          <p:nvPr>
            <p:ph idx="1"/>
          </p:nvPr>
        </p:nvSpPr>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98FFE744-AAF3-27B1-6629-EC864B87A9FD}"/>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5" name="Footer Placeholder 4">
            <a:extLst>
              <a:ext uri="{FF2B5EF4-FFF2-40B4-BE49-F238E27FC236}">
                <a16:creationId xmlns:a16="http://schemas.microsoft.com/office/drawing/2014/main" id="{47EA4479-6C64-36E8-B545-9B119BBFA6AF}"/>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BF3DDA31-7812-A7B4-821F-0F33392B3273}"/>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2958801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9BC1-6011-C68E-8708-C16A11E07623}"/>
              </a:ext>
            </a:extLst>
          </p:cNvPr>
          <p:cNvSpPr>
            <a:spLocks noGrp="1"/>
          </p:cNvSpPr>
          <p:nvPr>
            <p:ph type="title"/>
          </p:nvPr>
        </p:nvSpPr>
        <p:spPr>
          <a:xfrm>
            <a:off x="831850" y="1709738"/>
            <a:ext cx="10515600" cy="2852737"/>
          </a:xfrm>
        </p:spPr>
        <p:txBody>
          <a:bodyPr anchor="b"/>
          <a:lstStyle>
            <a:lvl1pPr>
              <a:defRPr sz="6000"/>
            </a:lvl1pPr>
          </a:lstStyle>
          <a:p>
            <a:r>
              <a:rPr lang="en-US" altLang="zh-HK"/>
              <a:t>Click to edit Master title style</a:t>
            </a:r>
            <a:endParaRPr lang="zh-HK" altLang="en-US"/>
          </a:p>
        </p:txBody>
      </p:sp>
      <p:sp>
        <p:nvSpPr>
          <p:cNvPr id="3" name="Text Placeholder 2">
            <a:extLst>
              <a:ext uri="{FF2B5EF4-FFF2-40B4-BE49-F238E27FC236}">
                <a16:creationId xmlns:a16="http://schemas.microsoft.com/office/drawing/2014/main" id="{6E542353-0504-96C7-5B86-73A64C5245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HK"/>
              <a:t>Click to edit Master text styles</a:t>
            </a:r>
          </a:p>
        </p:txBody>
      </p:sp>
      <p:sp>
        <p:nvSpPr>
          <p:cNvPr id="4" name="Date Placeholder 3">
            <a:extLst>
              <a:ext uri="{FF2B5EF4-FFF2-40B4-BE49-F238E27FC236}">
                <a16:creationId xmlns:a16="http://schemas.microsoft.com/office/drawing/2014/main" id="{1B74EF01-2F77-0C23-C963-A416A2AE6E00}"/>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5" name="Footer Placeholder 4">
            <a:extLst>
              <a:ext uri="{FF2B5EF4-FFF2-40B4-BE49-F238E27FC236}">
                <a16:creationId xmlns:a16="http://schemas.microsoft.com/office/drawing/2014/main" id="{45D37CFA-10DC-FD56-6229-30C99C300B03}"/>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097BE295-1389-29FB-31BF-547BA350F6ED}"/>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2743951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311BE-AB0E-16CD-F4F9-15B7816DD94D}"/>
              </a:ext>
            </a:extLst>
          </p:cNvPr>
          <p:cNvSpPr>
            <a:spLocks noGrp="1"/>
          </p:cNvSpPr>
          <p:nvPr>
            <p:ph type="title"/>
          </p:nvPr>
        </p:nvSpPr>
        <p:spPr/>
        <p:txBody>
          <a:bodyPr/>
          <a:lstStyle/>
          <a:p>
            <a:r>
              <a:rPr lang="en-US" altLang="zh-HK"/>
              <a:t>Click to edit Master title style</a:t>
            </a:r>
            <a:endParaRPr lang="zh-HK" altLang="en-US"/>
          </a:p>
        </p:txBody>
      </p:sp>
      <p:sp>
        <p:nvSpPr>
          <p:cNvPr id="3" name="Content Placeholder 2">
            <a:extLst>
              <a:ext uri="{FF2B5EF4-FFF2-40B4-BE49-F238E27FC236}">
                <a16:creationId xmlns:a16="http://schemas.microsoft.com/office/drawing/2014/main" id="{009269B2-FFC9-2338-857E-C1E16934653D}"/>
              </a:ext>
            </a:extLst>
          </p:cNvPr>
          <p:cNvSpPr>
            <a:spLocks noGrp="1"/>
          </p:cNvSpPr>
          <p:nvPr>
            <p:ph sz="half" idx="1"/>
          </p:nvPr>
        </p:nvSpPr>
        <p:spPr>
          <a:xfrm>
            <a:off x="838200" y="1825625"/>
            <a:ext cx="5181600" cy="4351338"/>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Content Placeholder 3">
            <a:extLst>
              <a:ext uri="{FF2B5EF4-FFF2-40B4-BE49-F238E27FC236}">
                <a16:creationId xmlns:a16="http://schemas.microsoft.com/office/drawing/2014/main" id="{79F8C9CD-6AB4-0006-0216-D2921DE1BE98}"/>
              </a:ext>
            </a:extLst>
          </p:cNvPr>
          <p:cNvSpPr>
            <a:spLocks noGrp="1"/>
          </p:cNvSpPr>
          <p:nvPr>
            <p:ph sz="half" idx="2"/>
          </p:nvPr>
        </p:nvSpPr>
        <p:spPr>
          <a:xfrm>
            <a:off x="6172200" y="1825625"/>
            <a:ext cx="5181600" cy="4351338"/>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5" name="Date Placeholder 4">
            <a:extLst>
              <a:ext uri="{FF2B5EF4-FFF2-40B4-BE49-F238E27FC236}">
                <a16:creationId xmlns:a16="http://schemas.microsoft.com/office/drawing/2014/main" id="{E05E363E-A41B-D5F4-41B3-51477A43E9BF}"/>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6" name="Footer Placeholder 5">
            <a:extLst>
              <a:ext uri="{FF2B5EF4-FFF2-40B4-BE49-F238E27FC236}">
                <a16:creationId xmlns:a16="http://schemas.microsoft.com/office/drawing/2014/main" id="{5294A09F-225E-D7C9-3CC0-6D2BEB7C4935}"/>
              </a:ext>
            </a:extLst>
          </p:cNvPr>
          <p:cNvSpPr>
            <a:spLocks noGrp="1"/>
          </p:cNvSpPr>
          <p:nvPr>
            <p:ph type="ftr" sz="quarter" idx="11"/>
          </p:nvPr>
        </p:nvSpPr>
        <p:spPr/>
        <p:txBody>
          <a:bodyPr/>
          <a:lstStyle/>
          <a:p>
            <a:endParaRPr lang="zh-HK" altLang="en-US"/>
          </a:p>
        </p:txBody>
      </p:sp>
      <p:sp>
        <p:nvSpPr>
          <p:cNvPr id="7" name="Slide Number Placeholder 6">
            <a:extLst>
              <a:ext uri="{FF2B5EF4-FFF2-40B4-BE49-F238E27FC236}">
                <a16:creationId xmlns:a16="http://schemas.microsoft.com/office/drawing/2014/main" id="{6337394F-D9A3-17E3-08FD-505FDF5243AA}"/>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934243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5ABA5-8D85-9C64-F82D-F62A3FA40030}"/>
              </a:ext>
            </a:extLst>
          </p:cNvPr>
          <p:cNvSpPr>
            <a:spLocks noGrp="1"/>
          </p:cNvSpPr>
          <p:nvPr>
            <p:ph type="title"/>
          </p:nvPr>
        </p:nvSpPr>
        <p:spPr>
          <a:xfrm>
            <a:off x="839788" y="365125"/>
            <a:ext cx="10515600" cy="1325563"/>
          </a:xfrm>
        </p:spPr>
        <p:txBody>
          <a:bodyPr/>
          <a:lstStyle/>
          <a:p>
            <a:r>
              <a:rPr lang="en-US" altLang="zh-HK"/>
              <a:t>Click to edit Master title style</a:t>
            </a:r>
            <a:endParaRPr lang="zh-HK" altLang="en-US"/>
          </a:p>
        </p:txBody>
      </p:sp>
      <p:sp>
        <p:nvSpPr>
          <p:cNvPr id="3" name="Text Placeholder 2">
            <a:extLst>
              <a:ext uri="{FF2B5EF4-FFF2-40B4-BE49-F238E27FC236}">
                <a16:creationId xmlns:a16="http://schemas.microsoft.com/office/drawing/2014/main" id="{19E6F7AA-7D42-EF66-9092-831944B778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HK"/>
              <a:t>Click to edit Master text styles</a:t>
            </a:r>
          </a:p>
        </p:txBody>
      </p:sp>
      <p:sp>
        <p:nvSpPr>
          <p:cNvPr id="4" name="Content Placeholder 3">
            <a:extLst>
              <a:ext uri="{FF2B5EF4-FFF2-40B4-BE49-F238E27FC236}">
                <a16:creationId xmlns:a16="http://schemas.microsoft.com/office/drawing/2014/main" id="{907260F6-C282-EBE5-71C3-CDD1A9B75D7C}"/>
              </a:ext>
            </a:extLst>
          </p:cNvPr>
          <p:cNvSpPr>
            <a:spLocks noGrp="1"/>
          </p:cNvSpPr>
          <p:nvPr>
            <p:ph sz="half" idx="2"/>
          </p:nvPr>
        </p:nvSpPr>
        <p:spPr>
          <a:xfrm>
            <a:off x="839788" y="2505075"/>
            <a:ext cx="5157787" cy="3684588"/>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5" name="Text Placeholder 4">
            <a:extLst>
              <a:ext uri="{FF2B5EF4-FFF2-40B4-BE49-F238E27FC236}">
                <a16:creationId xmlns:a16="http://schemas.microsoft.com/office/drawing/2014/main" id="{1C8C532F-BD81-60B3-ECA9-745EB6D69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HK"/>
              <a:t>Click to edit Master text styles</a:t>
            </a:r>
          </a:p>
        </p:txBody>
      </p:sp>
      <p:sp>
        <p:nvSpPr>
          <p:cNvPr id="6" name="Content Placeholder 5">
            <a:extLst>
              <a:ext uri="{FF2B5EF4-FFF2-40B4-BE49-F238E27FC236}">
                <a16:creationId xmlns:a16="http://schemas.microsoft.com/office/drawing/2014/main" id="{A42348A9-4962-CFFD-A400-28935CE64D81}"/>
              </a:ext>
            </a:extLst>
          </p:cNvPr>
          <p:cNvSpPr>
            <a:spLocks noGrp="1"/>
          </p:cNvSpPr>
          <p:nvPr>
            <p:ph sz="quarter" idx="4"/>
          </p:nvPr>
        </p:nvSpPr>
        <p:spPr>
          <a:xfrm>
            <a:off x="6172200" y="2505075"/>
            <a:ext cx="5183188" cy="3684588"/>
          </a:xfrm>
        </p:spPr>
        <p:txBody>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7" name="Date Placeholder 6">
            <a:extLst>
              <a:ext uri="{FF2B5EF4-FFF2-40B4-BE49-F238E27FC236}">
                <a16:creationId xmlns:a16="http://schemas.microsoft.com/office/drawing/2014/main" id="{368E4157-6FC2-E3E8-1268-EB66E19C5DAA}"/>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8" name="Footer Placeholder 7">
            <a:extLst>
              <a:ext uri="{FF2B5EF4-FFF2-40B4-BE49-F238E27FC236}">
                <a16:creationId xmlns:a16="http://schemas.microsoft.com/office/drawing/2014/main" id="{49DD4D23-A9B4-54EE-A38C-A05477A3BFA0}"/>
              </a:ext>
            </a:extLst>
          </p:cNvPr>
          <p:cNvSpPr>
            <a:spLocks noGrp="1"/>
          </p:cNvSpPr>
          <p:nvPr>
            <p:ph type="ftr" sz="quarter" idx="11"/>
          </p:nvPr>
        </p:nvSpPr>
        <p:spPr/>
        <p:txBody>
          <a:bodyPr/>
          <a:lstStyle/>
          <a:p>
            <a:endParaRPr lang="zh-HK" altLang="en-US"/>
          </a:p>
        </p:txBody>
      </p:sp>
      <p:sp>
        <p:nvSpPr>
          <p:cNvPr id="9" name="Slide Number Placeholder 8">
            <a:extLst>
              <a:ext uri="{FF2B5EF4-FFF2-40B4-BE49-F238E27FC236}">
                <a16:creationId xmlns:a16="http://schemas.microsoft.com/office/drawing/2014/main" id="{E848918D-1583-0728-5550-96978B01F133}"/>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3789068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3B44B-2495-0B7E-2CC0-7CC08B93D5F2}"/>
              </a:ext>
            </a:extLst>
          </p:cNvPr>
          <p:cNvSpPr>
            <a:spLocks noGrp="1"/>
          </p:cNvSpPr>
          <p:nvPr>
            <p:ph type="title"/>
          </p:nvPr>
        </p:nvSpPr>
        <p:spPr/>
        <p:txBody>
          <a:bodyPr/>
          <a:lstStyle/>
          <a:p>
            <a:r>
              <a:rPr lang="en-US" altLang="zh-HK"/>
              <a:t>Click to edit Master title style</a:t>
            </a:r>
            <a:endParaRPr lang="zh-HK" altLang="en-US"/>
          </a:p>
        </p:txBody>
      </p:sp>
      <p:sp>
        <p:nvSpPr>
          <p:cNvPr id="3" name="Date Placeholder 2">
            <a:extLst>
              <a:ext uri="{FF2B5EF4-FFF2-40B4-BE49-F238E27FC236}">
                <a16:creationId xmlns:a16="http://schemas.microsoft.com/office/drawing/2014/main" id="{50FA9234-EF24-D71D-1523-5723A0CEEB78}"/>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4" name="Footer Placeholder 3">
            <a:extLst>
              <a:ext uri="{FF2B5EF4-FFF2-40B4-BE49-F238E27FC236}">
                <a16:creationId xmlns:a16="http://schemas.microsoft.com/office/drawing/2014/main" id="{CCE93F32-1F61-442D-F4B8-3D96D60FF15A}"/>
              </a:ext>
            </a:extLst>
          </p:cNvPr>
          <p:cNvSpPr>
            <a:spLocks noGrp="1"/>
          </p:cNvSpPr>
          <p:nvPr>
            <p:ph type="ftr" sz="quarter" idx="11"/>
          </p:nvPr>
        </p:nvSpPr>
        <p:spPr/>
        <p:txBody>
          <a:bodyPr/>
          <a:lstStyle/>
          <a:p>
            <a:endParaRPr lang="zh-HK" altLang="en-US"/>
          </a:p>
        </p:txBody>
      </p:sp>
      <p:sp>
        <p:nvSpPr>
          <p:cNvPr id="5" name="Slide Number Placeholder 4">
            <a:extLst>
              <a:ext uri="{FF2B5EF4-FFF2-40B4-BE49-F238E27FC236}">
                <a16:creationId xmlns:a16="http://schemas.microsoft.com/office/drawing/2014/main" id="{47F9FE13-9EF7-A9D0-64DE-F38C02147260}"/>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434623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0B4059-9CD9-C9CC-FDA7-342942A83E32}"/>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3" name="Footer Placeholder 2">
            <a:extLst>
              <a:ext uri="{FF2B5EF4-FFF2-40B4-BE49-F238E27FC236}">
                <a16:creationId xmlns:a16="http://schemas.microsoft.com/office/drawing/2014/main" id="{093D8AF7-2322-3B6C-7B7D-9AAF61D64592}"/>
              </a:ext>
            </a:extLst>
          </p:cNvPr>
          <p:cNvSpPr>
            <a:spLocks noGrp="1"/>
          </p:cNvSpPr>
          <p:nvPr>
            <p:ph type="ftr" sz="quarter" idx="11"/>
          </p:nvPr>
        </p:nvSpPr>
        <p:spPr/>
        <p:txBody>
          <a:bodyPr/>
          <a:lstStyle/>
          <a:p>
            <a:endParaRPr lang="zh-HK" altLang="en-US"/>
          </a:p>
        </p:txBody>
      </p:sp>
      <p:sp>
        <p:nvSpPr>
          <p:cNvPr id="4" name="Slide Number Placeholder 3">
            <a:extLst>
              <a:ext uri="{FF2B5EF4-FFF2-40B4-BE49-F238E27FC236}">
                <a16:creationId xmlns:a16="http://schemas.microsoft.com/office/drawing/2014/main" id="{5A0E124A-8439-30D0-4423-0DC1FA6FF768}"/>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3500405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F185C-A5CA-90D1-3065-A6DF38675E4A}"/>
              </a:ext>
            </a:extLst>
          </p:cNvPr>
          <p:cNvSpPr>
            <a:spLocks noGrp="1"/>
          </p:cNvSpPr>
          <p:nvPr>
            <p:ph type="title"/>
          </p:nvPr>
        </p:nvSpPr>
        <p:spPr>
          <a:xfrm>
            <a:off x="839788" y="457200"/>
            <a:ext cx="3932237" cy="1600200"/>
          </a:xfrm>
        </p:spPr>
        <p:txBody>
          <a:bodyPr anchor="b"/>
          <a:lstStyle>
            <a:lvl1pPr>
              <a:defRPr sz="3200"/>
            </a:lvl1pPr>
          </a:lstStyle>
          <a:p>
            <a:r>
              <a:rPr lang="en-US" altLang="zh-HK"/>
              <a:t>Click to edit Master title style</a:t>
            </a:r>
            <a:endParaRPr lang="zh-HK" altLang="en-US"/>
          </a:p>
        </p:txBody>
      </p:sp>
      <p:sp>
        <p:nvSpPr>
          <p:cNvPr id="3" name="Content Placeholder 2">
            <a:extLst>
              <a:ext uri="{FF2B5EF4-FFF2-40B4-BE49-F238E27FC236}">
                <a16:creationId xmlns:a16="http://schemas.microsoft.com/office/drawing/2014/main" id="{96218BF7-8E5D-1D80-BE1F-0033397F2C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Text Placeholder 3">
            <a:extLst>
              <a:ext uri="{FF2B5EF4-FFF2-40B4-BE49-F238E27FC236}">
                <a16:creationId xmlns:a16="http://schemas.microsoft.com/office/drawing/2014/main" id="{030CE25A-A2C4-0791-5BF1-613D5ECFD4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HK"/>
              <a:t>Click to edit Master text styles</a:t>
            </a:r>
          </a:p>
        </p:txBody>
      </p:sp>
      <p:sp>
        <p:nvSpPr>
          <p:cNvPr id="5" name="Date Placeholder 4">
            <a:extLst>
              <a:ext uri="{FF2B5EF4-FFF2-40B4-BE49-F238E27FC236}">
                <a16:creationId xmlns:a16="http://schemas.microsoft.com/office/drawing/2014/main" id="{26CA0F4B-CE6B-D45A-E405-A9E3CD7ED85D}"/>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6" name="Footer Placeholder 5">
            <a:extLst>
              <a:ext uri="{FF2B5EF4-FFF2-40B4-BE49-F238E27FC236}">
                <a16:creationId xmlns:a16="http://schemas.microsoft.com/office/drawing/2014/main" id="{A9839556-F383-689D-1C3C-225623A0761B}"/>
              </a:ext>
            </a:extLst>
          </p:cNvPr>
          <p:cNvSpPr>
            <a:spLocks noGrp="1"/>
          </p:cNvSpPr>
          <p:nvPr>
            <p:ph type="ftr" sz="quarter" idx="11"/>
          </p:nvPr>
        </p:nvSpPr>
        <p:spPr/>
        <p:txBody>
          <a:bodyPr/>
          <a:lstStyle/>
          <a:p>
            <a:endParaRPr lang="zh-HK" altLang="en-US"/>
          </a:p>
        </p:txBody>
      </p:sp>
      <p:sp>
        <p:nvSpPr>
          <p:cNvPr id="7" name="Slide Number Placeholder 6">
            <a:extLst>
              <a:ext uri="{FF2B5EF4-FFF2-40B4-BE49-F238E27FC236}">
                <a16:creationId xmlns:a16="http://schemas.microsoft.com/office/drawing/2014/main" id="{4126C017-A00F-4E90-9981-AAE96295F1CD}"/>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32835234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57A46-C545-5A10-ED11-A74A51B608B4}"/>
              </a:ext>
            </a:extLst>
          </p:cNvPr>
          <p:cNvSpPr>
            <a:spLocks noGrp="1"/>
          </p:cNvSpPr>
          <p:nvPr>
            <p:ph type="title"/>
          </p:nvPr>
        </p:nvSpPr>
        <p:spPr>
          <a:xfrm>
            <a:off x="839788" y="457200"/>
            <a:ext cx="3932237" cy="1600200"/>
          </a:xfrm>
        </p:spPr>
        <p:txBody>
          <a:bodyPr anchor="b"/>
          <a:lstStyle>
            <a:lvl1pPr>
              <a:defRPr sz="3200"/>
            </a:lvl1pPr>
          </a:lstStyle>
          <a:p>
            <a:r>
              <a:rPr lang="en-US" altLang="zh-HK"/>
              <a:t>Click to edit Master title style</a:t>
            </a:r>
            <a:endParaRPr lang="zh-HK" altLang="en-US"/>
          </a:p>
        </p:txBody>
      </p:sp>
      <p:sp>
        <p:nvSpPr>
          <p:cNvPr id="3" name="Picture Placeholder 2">
            <a:extLst>
              <a:ext uri="{FF2B5EF4-FFF2-40B4-BE49-F238E27FC236}">
                <a16:creationId xmlns:a16="http://schemas.microsoft.com/office/drawing/2014/main" id="{F0EE0361-5F4A-6F1F-3D68-2567B12B20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HK" altLang="en-US"/>
          </a:p>
        </p:txBody>
      </p:sp>
      <p:sp>
        <p:nvSpPr>
          <p:cNvPr id="4" name="Text Placeholder 3">
            <a:extLst>
              <a:ext uri="{FF2B5EF4-FFF2-40B4-BE49-F238E27FC236}">
                <a16:creationId xmlns:a16="http://schemas.microsoft.com/office/drawing/2014/main" id="{9D7400EF-690F-EF76-1C28-9D7B91943B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HK"/>
              <a:t>Click to edit Master text styles</a:t>
            </a:r>
          </a:p>
        </p:txBody>
      </p:sp>
      <p:sp>
        <p:nvSpPr>
          <p:cNvPr id="5" name="Date Placeholder 4">
            <a:extLst>
              <a:ext uri="{FF2B5EF4-FFF2-40B4-BE49-F238E27FC236}">
                <a16:creationId xmlns:a16="http://schemas.microsoft.com/office/drawing/2014/main" id="{CF81FBCB-0DE1-C2E8-FCD8-803617B7C14A}"/>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6" name="Footer Placeholder 5">
            <a:extLst>
              <a:ext uri="{FF2B5EF4-FFF2-40B4-BE49-F238E27FC236}">
                <a16:creationId xmlns:a16="http://schemas.microsoft.com/office/drawing/2014/main" id="{04B8D52F-CCD7-75D3-A335-15B721E35ECA}"/>
              </a:ext>
            </a:extLst>
          </p:cNvPr>
          <p:cNvSpPr>
            <a:spLocks noGrp="1"/>
          </p:cNvSpPr>
          <p:nvPr>
            <p:ph type="ftr" sz="quarter" idx="11"/>
          </p:nvPr>
        </p:nvSpPr>
        <p:spPr/>
        <p:txBody>
          <a:bodyPr/>
          <a:lstStyle/>
          <a:p>
            <a:endParaRPr lang="zh-HK" altLang="en-US"/>
          </a:p>
        </p:txBody>
      </p:sp>
      <p:sp>
        <p:nvSpPr>
          <p:cNvPr id="7" name="Slide Number Placeholder 6">
            <a:extLst>
              <a:ext uri="{FF2B5EF4-FFF2-40B4-BE49-F238E27FC236}">
                <a16:creationId xmlns:a16="http://schemas.microsoft.com/office/drawing/2014/main" id="{B25EA4C5-A06C-BE37-A8D9-6A32302F99D5}"/>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480832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ECF63-7A43-36BE-47FC-A2D388346983}"/>
              </a:ext>
            </a:extLst>
          </p:cNvPr>
          <p:cNvSpPr>
            <a:spLocks noGrp="1"/>
          </p:cNvSpPr>
          <p:nvPr>
            <p:ph type="title"/>
          </p:nvPr>
        </p:nvSpPr>
        <p:spPr/>
        <p:txBody>
          <a:bodyPr/>
          <a:lstStyle/>
          <a:p>
            <a:r>
              <a:rPr lang="en-US" altLang="zh-HK"/>
              <a:t>Click to edit Master title style</a:t>
            </a:r>
            <a:endParaRPr lang="zh-HK" altLang="en-US"/>
          </a:p>
        </p:txBody>
      </p:sp>
      <p:sp>
        <p:nvSpPr>
          <p:cNvPr id="3" name="Vertical Text Placeholder 2">
            <a:extLst>
              <a:ext uri="{FF2B5EF4-FFF2-40B4-BE49-F238E27FC236}">
                <a16:creationId xmlns:a16="http://schemas.microsoft.com/office/drawing/2014/main" id="{EE7077BD-E50A-73F6-F949-21C7466C4A77}"/>
              </a:ext>
            </a:extLst>
          </p:cNvPr>
          <p:cNvSpPr>
            <a:spLocks noGrp="1"/>
          </p:cNvSpPr>
          <p:nvPr>
            <p:ph type="body" orient="vert" idx="1"/>
          </p:nvPr>
        </p:nvSpPr>
        <p:spPr/>
        <p:txBody>
          <a:bodyPr vert="eaVert"/>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9F4A4FC4-3C2E-FBC1-E73E-53CEFD0C78B7}"/>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5" name="Footer Placeholder 4">
            <a:extLst>
              <a:ext uri="{FF2B5EF4-FFF2-40B4-BE49-F238E27FC236}">
                <a16:creationId xmlns:a16="http://schemas.microsoft.com/office/drawing/2014/main" id="{C9598F0E-63FB-1A13-0768-82F3A7AF7678}"/>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3AC2377D-2365-4A47-F169-FA1E39F85CCA}"/>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3251629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B86C1-6B93-0B21-E1F4-E74778B781BC}"/>
              </a:ext>
            </a:extLst>
          </p:cNvPr>
          <p:cNvSpPr>
            <a:spLocks noGrp="1"/>
          </p:cNvSpPr>
          <p:nvPr>
            <p:ph type="title" orient="vert"/>
          </p:nvPr>
        </p:nvSpPr>
        <p:spPr>
          <a:xfrm>
            <a:off x="8724900" y="365125"/>
            <a:ext cx="2628900" cy="5811838"/>
          </a:xfrm>
        </p:spPr>
        <p:txBody>
          <a:bodyPr vert="eaVert"/>
          <a:lstStyle/>
          <a:p>
            <a:r>
              <a:rPr lang="en-US" altLang="zh-HK"/>
              <a:t>Click to edit Master title style</a:t>
            </a:r>
            <a:endParaRPr lang="zh-HK" altLang="en-US"/>
          </a:p>
        </p:txBody>
      </p:sp>
      <p:sp>
        <p:nvSpPr>
          <p:cNvPr id="3" name="Vertical Text Placeholder 2">
            <a:extLst>
              <a:ext uri="{FF2B5EF4-FFF2-40B4-BE49-F238E27FC236}">
                <a16:creationId xmlns:a16="http://schemas.microsoft.com/office/drawing/2014/main" id="{C0EA89F7-68F3-81BC-76B0-7EA1A74B6F16}"/>
              </a:ext>
            </a:extLst>
          </p:cNvPr>
          <p:cNvSpPr>
            <a:spLocks noGrp="1"/>
          </p:cNvSpPr>
          <p:nvPr>
            <p:ph type="body" orient="vert" idx="1"/>
          </p:nvPr>
        </p:nvSpPr>
        <p:spPr>
          <a:xfrm>
            <a:off x="838200" y="365125"/>
            <a:ext cx="7734300" cy="5811838"/>
          </a:xfrm>
        </p:spPr>
        <p:txBody>
          <a:bodyPr vert="eaVert"/>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372C4FE3-5FF9-D936-BE69-778A951EF7E2}"/>
              </a:ext>
            </a:extLst>
          </p:cNvPr>
          <p:cNvSpPr>
            <a:spLocks noGrp="1"/>
          </p:cNvSpPr>
          <p:nvPr>
            <p:ph type="dt" sz="half" idx="10"/>
          </p:nvPr>
        </p:nvSpPr>
        <p:spPr/>
        <p:txBody>
          <a:bodyPr/>
          <a:lstStyle/>
          <a:p>
            <a:fld id="{2C7C8946-FA19-4747-8649-F6BD4CD27D46}" type="datetimeFigureOut">
              <a:rPr lang="zh-HK" altLang="en-US" smtClean="0"/>
              <a:t>21/4/2024</a:t>
            </a:fld>
            <a:endParaRPr lang="zh-HK" altLang="en-US"/>
          </a:p>
        </p:txBody>
      </p:sp>
      <p:sp>
        <p:nvSpPr>
          <p:cNvPr id="5" name="Footer Placeholder 4">
            <a:extLst>
              <a:ext uri="{FF2B5EF4-FFF2-40B4-BE49-F238E27FC236}">
                <a16:creationId xmlns:a16="http://schemas.microsoft.com/office/drawing/2014/main" id="{9CF69846-4A7E-2BA1-8BEE-B357FD765615}"/>
              </a:ext>
            </a:extLst>
          </p:cNvPr>
          <p:cNvSpPr>
            <a:spLocks noGrp="1"/>
          </p:cNvSpPr>
          <p:nvPr>
            <p:ph type="ftr" sz="quarter" idx="11"/>
          </p:nvPr>
        </p:nvSpPr>
        <p:spPr/>
        <p:txBody>
          <a:bodyPr/>
          <a:lstStyle/>
          <a:p>
            <a:endParaRPr lang="zh-HK" altLang="en-US"/>
          </a:p>
        </p:txBody>
      </p:sp>
      <p:sp>
        <p:nvSpPr>
          <p:cNvPr id="6" name="Slide Number Placeholder 5">
            <a:extLst>
              <a:ext uri="{FF2B5EF4-FFF2-40B4-BE49-F238E27FC236}">
                <a16:creationId xmlns:a16="http://schemas.microsoft.com/office/drawing/2014/main" id="{9339731F-4289-AD43-96BC-4922503EE8B0}"/>
              </a:ext>
            </a:extLst>
          </p:cNvPr>
          <p:cNvSpPr>
            <a:spLocks noGrp="1"/>
          </p:cNvSpPr>
          <p:nvPr>
            <p:ph type="sldNum" sz="quarter" idx="12"/>
          </p:nvPr>
        </p:nvSpPr>
        <p:spPr/>
        <p:txBody>
          <a:body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11491634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63927C-EF42-2DB3-F9F5-AF1C147D76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HK"/>
              <a:t>Click to edit Master title style</a:t>
            </a:r>
            <a:endParaRPr lang="zh-HK" altLang="en-US"/>
          </a:p>
        </p:txBody>
      </p:sp>
      <p:sp>
        <p:nvSpPr>
          <p:cNvPr id="3" name="Text Placeholder 2">
            <a:extLst>
              <a:ext uri="{FF2B5EF4-FFF2-40B4-BE49-F238E27FC236}">
                <a16:creationId xmlns:a16="http://schemas.microsoft.com/office/drawing/2014/main" id="{51C58861-F222-7193-0C3C-A78F01A92E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HK"/>
              <a:t>Click to edit Master text styles</a:t>
            </a:r>
          </a:p>
          <a:p>
            <a:pPr lvl="1"/>
            <a:r>
              <a:rPr lang="en-US" altLang="zh-HK"/>
              <a:t>Second level</a:t>
            </a:r>
          </a:p>
          <a:p>
            <a:pPr lvl="2"/>
            <a:r>
              <a:rPr lang="en-US" altLang="zh-HK"/>
              <a:t>Third level</a:t>
            </a:r>
          </a:p>
          <a:p>
            <a:pPr lvl="3"/>
            <a:r>
              <a:rPr lang="en-US" altLang="zh-HK"/>
              <a:t>Fourth level</a:t>
            </a:r>
          </a:p>
          <a:p>
            <a:pPr lvl="4"/>
            <a:r>
              <a:rPr lang="en-US" altLang="zh-HK"/>
              <a:t>Fifth level</a:t>
            </a:r>
            <a:endParaRPr lang="zh-HK" altLang="en-US"/>
          </a:p>
        </p:txBody>
      </p:sp>
      <p:sp>
        <p:nvSpPr>
          <p:cNvPr id="4" name="Date Placeholder 3">
            <a:extLst>
              <a:ext uri="{FF2B5EF4-FFF2-40B4-BE49-F238E27FC236}">
                <a16:creationId xmlns:a16="http://schemas.microsoft.com/office/drawing/2014/main" id="{B6C7A412-3AD6-73D3-20D9-D33F1FFA21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7C8946-FA19-4747-8649-F6BD4CD27D46}" type="datetimeFigureOut">
              <a:rPr lang="zh-HK" altLang="en-US" smtClean="0"/>
              <a:t>21/4/2024</a:t>
            </a:fld>
            <a:endParaRPr lang="zh-HK" altLang="en-US"/>
          </a:p>
        </p:txBody>
      </p:sp>
      <p:sp>
        <p:nvSpPr>
          <p:cNvPr id="5" name="Footer Placeholder 4">
            <a:extLst>
              <a:ext uri="{FF2B5EF4-FFF2-40B4-BE49-F238E27FC236}">
                <a16:creationId xmlns:a16="http://schemas.microsoft.com/office/drawing/2014/main" id="{232245FB-A7C8-EE69-3440-C23193A876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HK" altLang="en-US"/>
          </a:p>
        </p:txBody>
      </p:sp>
      <p:sp>
        <p:nvSpPr>
          <p:cNvPr id="6" name="Slide Number Placeholder 5">
            <a:extLst>
              <a:ext uri="{FF2B5EF4-FFF2-40B4-BE49-F238E27FC236}">
                <a16:creationId xmlns:a16="http://schemas.microsoft.com/office/drawing/2014/main" id="{1992AA4E-2966-8B92-169C-8ED6F30656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2318DA-434D-49F3-B339-CFB4CF3A9B93}" type="slidenum">
              <a:rPr lang="zh-HK" altLang="en-US" smtClean="0"/>
              <a:t>‹#›</a:t>
            </a:fld>
            <a:endParaRPr lang="zh-HK" altLang="en-US"/>
          </a:p>
        </p:txBody>
      </p:sp>
    </p:spTree>
    <p:extLst>
      <p:ext uri="{BB962C8B-B14F-4D97-AF65-F5344CB8AC3E}">
        <p14:creationId xmlns:p14="http://schemas.microsoft.com/office/powerpoint/2010/main" val="2187025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AC2FA-1F29-4772-D5DB-5A58776E6783}"/>
              </a:ext>
            </a:extLst>
          </p:cNvPr>
          <p:cNvSpPr>
            <a:spLocks noGrp="1"/>
          </p:cNvSpPr>
          <p:nvPr>
            <p:ph type="ctrTitle"/>
          </p:nvPr>
        </p:nvSpPr>
        <p:spPr/>
        <p:txBody>
          <a:bodyPr/>
          <a:lstStyle/>
          <a:p>
            <a:r>
              <a:rPr lang="en-US" altLang="zh-HK" dirty="0"/>
              <a:t>W11 Organizational Analysis (DRW)</a:t>
            </a:r>
            <a:endParaRPr lang="zh-HK" altLang="en-US" dirty="0"/>
          </a:p>
        </p:txBody>
      </p:sp>
      <p:sp>
        <p:nvSpPr>
          <p:cNvPr id="3" name="Subtitle 2">
            <a:extLst>
              <a:ext uri="{FF2B5EF4-FFF2-40B4-BE49-F238E27FC236}">
                <a16:creationId xmlns:a16="http://schemas.microsoft.com/office/drawing/2014/main" id="{32B47560-9125-DD73-350E-FDF9B37A1131}"/>
              </a:ext>
            </a:extLst>
          </p:cNvPr>
          <p:cNvSpPr>
            <a:spLocks noGrp="1"/>
          </p:cNvSpPr>
          <p:nvPr>
            <p:ph type="subTitle" idx="1"/>
          </p:nvPr>
        </p:nvSpPr>
        <p:spPr/>
        <p:txBody>
          <a:bodyPr/>
          <a:lstStyle/>
          <a:p>
            <a:r>
              <a:rPr lang="en-US" altLang="zh-HK" dirty="0"/>
              <a:t>So</a:t>
            </a:r>
            <a:r>
              <a:rPr lang="zh-TW" altLang="en-US" dirty="0"/>
              <a:t> </a:t>
            </a:r>
            <a:r>
              <a:rPr lang="en-US" altLang="zh-TW" dirty="0"/>
              <a:t>Chun</a:t>
            </a:r>
            <a:r>
              <a:rPr lang="zh-TW" altLang="en-US" dirty="0"/>
              <a:t> </a:t>
            </a:r>
            <a:r>
              <a:rPr lang="en-US" altLang="zh-TW" dirty="0"/>
              <a:t>Hin</a:t>
            </a:r>
            <a:endParaRPr lang="zh-HK" altLang="en-US" dirty="0"/>
          </a:p>
        </p:txBody>
      </p:sp>
    </p:spTree>
    <p:extLst>
      <p:ext uri="{BB962C8B-B14F-4D97-AF65-F5344CB8AC3E}">
        <p14:creationId xmlns:p14="http://schemas.microsoft.com/office/powerpoint/2010/main" val="2718522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EC12B-AE96-B794-7BDE-D3C65965571F}"/>
              </a:ext>
            </a:extLst>
          </p:cNvPr>
          <p:cNvSpPr>
            <a:spLocks noGrp="1"/>
          </p:cNvSpPr>
          <p:nvPr>
            <p:ph type="title"/>
          </p:nvPr>
        </p:nvSpPr>
        <p:spPr>
          <a:xfrm>
            <a:off x="1371599" y="294538"/>
            <a:ext cx="9895951" cy="1033669"/>
          </a:xfrm>
        </p:spPr>
        <p:txBody>
          <a:bodyPr>
            <a:normAutofit/>
          </a:bodyPr>
          <a:lstStyle/>
          <a:p>
            <a:r>
              <a:rPr lang="en-US" altLang="zh-HK" sz="3400" dirty="0">
                <a:solidFill>
                  <a:srgbClr val="FFFFFF"/>
                </a:solidFill>
              </a:rPr>
              <a:t>Q1. Root Cause Analysis in Cause Mapping notation</a:t>
            </a:r>
            <a:endParaRPr lang="zh-HK" altLang="en-US" sz="3400" dirty="0">
              <a:solidFill>
                <a:srgbClr val="FFFFFF"/>
              </a:solidFill>
            </a:endParaRPr>
          </a:p>
        </p:txBody>
      </p:sp>
      <p:sp>
        <p:nvSpPr>
          <p:cNvPr id="98" name="Rectangle: Rounded Corners 97">
            <a:extLst>
              <a:ext uri="{FF2B5EF4-FFF2-40B4-BE49-F238E27FC236}">
                <a16:creationId xmlns:a16="http://schemas.microsoft.com/office/drawing/2014/main" id="{8F7D9169-CB5E-C6A1-16AE-EE6B1A023471}"/>
              </a:ext>
            </a:extLst>
          </p:cNvPr>
          <p:cNvSpPr/>
          <p:nvPr/>
        </p:nvSpPr>
        <p:spPr>
          <a:xfrm>
            <a:off x="2992698" y="1875427"/>
            <a:ext cx="880535" cy="38990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Contracts are time-sensitive</a:t>
            </a:r>
            <a:endParaRPr lang="zh-HK" altLang="en-US" sz="800" dirty="0"/>
          </a:p>
        </p:txBody>
      </p:sp>
      <p:sp>
        <p:nvSpPr>
          <p:cNvPr id="100" name="Rectangle: Rounded Corners 99">
            <a:extLst>
              <a:ext uri="{FF2B5EF4-FFF2-40B4-BE49-F238E27FC236}">
                <a16:creationId xmlns:a16="http://schemas.microsoft.com/office/drawing/2014/main" id="{84FBBDF9-0313-5B7E-E3D0-D1506A25E3D1}"/>
              </a:ext>
            </a:extLst>
          </p:cNvPr>
          <p:cNvSpPr/>
          <p:nvPr/>
        </p:nvSpPr>
        <p:spPr>
          <a:xfrm>
            <a:off x="2942766" y="2855031"/>
            <a:ext cx="1207107" cy="4915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Wrong person is hired for the position in the company</a:t>
            </a:r>
            <a:endParaRPr lang="zh-HK" altLang="en-US" sz="800" dirty="0"/>
          </a:p>
        </p:txBody>
      </p:sp>
      <p:sp>
        <p:nvSpPr>
          <p:cNvPr id="102" name="Rectangle: Rounded Corners 101">
            <a:extLst>
              <a:ext uri="{FF2B5EF4-FFF2-40B4-BE49-F238E27FC236}">
                <a16:creationId xmlns:a16="http://schemas.microsoft.com/office/drawing/2014/main" id="{5C17D2D9-6742-4667-79B6-E1A31F9825A3}"/>
              </a:ext>
            </a:extLst>
          </p:cNvPr>
          <p:cNvSpPr/>
          <p:nvPr/>
        </p:nvSpPr>
        <p:spPr>
          <a:xfrm>
            <a:off x="100996" y="1746553"/>
            <a:ext cx="1031118" cy="653142"/>
          </a:xfrm>
          <a:prstGeom prst="round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solidFill>
                  <a:schemeClr val="bg1"/>
                </a:solidFill>
              </a:rPr>
              <a:t>Failure of implementing new procurement policy</a:t>
            </a:r>
            <a:endParaRPr lang="zh-HK" altLang="en-US" sz="800" dirty="0">
              <a:solidFill>
                <a:schemeClr val="bg1"/>
              </a:solidFill>
            </a:endParaRPr>
          </a:p>
        </p:txBody>
      </p:sp>
      <p:sp>
        <p:nvSpPr>
          <p:cNvPr id="104" name="Rectangle: Rounded Corners 103">
            <a:extLst>
              <a:ext uri="{FF2B5EF4-FFF2-40B4-BE49-F238E27FC236}">
                <a16:creationId xmlns:a16="http://schemas.microsoft.com/office/drawing/2014/main" id="{85110D37-45D2-E996-4BBE-CD8A88ACE713}"/>
              </a:ext>
            </a:extLst>
          </p:cNvPr>
          <p:cNvSpPr/>
          <p:nvPr/>
        </p:nvSpPr>
        <p:spPr>
          <a:xfrm>
            <a:off x="1313541" y="1821075"/>
            <a:ext cx="1207107" cy="4915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managers not reporting contracts over $250k in advance of 2 weeks</a:t>
            </a:r>
            <a:endParaRPr lang="zh-HK" altLang="en-US" sz="800" dirty="0"/>
          </a:p>
        </p:txBody>
      </p:sp>
      <p:sp>
        <p:nvSpPr>
          <p:cNvPr id="110" name="Rectangle: Rounded Corners 109">
            <a:extLst>
              <a:ext uri="{FF2B5EF4-FFF2-40B4-BE49-F238E27FC236}">
                <a16:creationId xmlns:a16="http://schemas.microsoft.com/office/drawing/2014/main" id="{B84F5C11-CEAD-7B93-0CC5-24716CDD5A03}"/>
              </a:ext>
            </a:extLst>
          </p:cNvPr>
          <p:cNvSpPr/>
          <p:nvPr/>
        </p:nvSpPr>
        <p:spPr>
          <a:xfrm>
            <a:off x="2942766" y="4949714"/>
            <a:ext cx="1207107" cy="4915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has not adapted to the company management culture</a:t>
            </a:r>
            <a:endParaRPr lang="zh-HK" altLang="en-US" sz="800" dirty="0"/>
          </a:p>
        </p:txBody>
      </p:sp>
      <p:sp>
        <p:nvSpPr>
          <p:cNvPr id="112" name="Rectangle: Rounded Corners 111">
            <a:extLst>
              <a:ext uri="{FF2B5EF4-FFF2-40B4-BE49-F238E27FC236}">
                <a16:creationId xmlns:a16="http://schemas.microsoft.com/office/drawing/2014/main" id="{1D7328F4-215F-B1C8-BDF2-9E1609B2CB72}"/>
              </a:ext>
            </a:extLst>
          </p:cNvPr>
          <p:cNvSpPr/>
          <p:nvPr/>
        </p:nvSpPr>
        <p:spPr>
          <a:xfrm>
            <a:off x="4515689" y="1706509"/>
            <a:ext cx="1524297" cy="20791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There are external rush orders</a:t>
            </a:r>
            <a:endParaRPr lang="zh-HK" altLang="en-US" sz="800" dirty="0"/>
          </a:p>
        </p:txBody>
      </p:sp>
      <p:sp>
        <p:nvSpPr>
          <p:cNvPr id="113" name="Rectangle: Rounded Corners 112">
            <a:extLst>
              <a:ext uri="{FF2B5EF4-FFF2-40B4-BE49-F238E27FC236}">
                <a16:creationId xmlns:a16="http://schemas.microsoft.com/office/drawing/2014/main" id="{66524575-FD5A-F4FC-F9D1-ED1192E6DAAB}"/>
              </a:ext>
            </a:extLst>
          </p:cNvPr>
          <p:cNvSpPr/>
          <p:nvPr/>
        </p:nvSpPr>
        <p:spPr>
          <a:xfrm>
            <a:off x="7459346" y="1664377"/>
            <a:ext cx="1427247" cy="38990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External rush orders are by high-priority customers</a:t>
            </a:r>
            <a:endParaRPr lang="zh-HK" altLang="en-US" sz="800" dirty="0"/>
          </a:p>
        </p:txBody>
      </p:sp>
      <p:sp>
        <p:nvSpPr>
          <p:cNvPr id="114" name="Rectangle: Rounded Corners 113">
            <a:extLst>
              <a:ext uri="{FF2B5EF4-FFF2-40B4-BE49-F238E27FC236}">
                <a16:creationId xmlns:a16="http://schemas.microsoft.com/office/drawing/2014/main" id="{ECD1BE1A-7710-0EAC-DE74-E295C7691F39}"/>
              </a:ext>
            </a:extLst>
          </p:cNvPr>
          <p:cNvSpPr/>
          <p:nvPr/>
        </p:nvSpPr>
        <p:spPr>
          <a:xfrm>
            <a:off x="7483923" y="2085807"/>
            <a:ext cx="1427247" cy="3973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Maintain relationships with high-priority customers</a:t>
            </a:r>
            <a:endParaRPr lang="zh-HK" altLang="en-US" sz="800" dirty="0"/>
          </a:p>
        </p:txBody>
      </p:sp>
      <p:sp>
        <p:nvSpPr>
          <p:cNvPr id="115" name="Rectangle: Rounded Corners 114">
            <a:extLst>
              <a:ext uri="{FF2B5EF4-FFF2-40B4-BE49-F238E27FC236}">
                <a16:creationId xmlns:a16="http://schemas.microsoft.com/office/drawing/2014/main" id="{B6B66BB5-7C4B-EA39-FE1A-C953837D71DD}"/>
              </a:ext>
            </a:extLst>
          </p:cNvPr>
          <p:cNvSpPr/>
          <p:nvPr/>
        </p:nvSpPr>
        <p:spPr>
          <a:xfrm>
            <a:off x="9941082" y="2081501"/>
            <a:ext cx="880535" cy="38990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To retain loyal customers</a:t>
            </a:r>
            <a:endParaRPr lang="zh-HK" altLang="en-US" sz="800" dirty="0"/>
          </a:p>
        </p:txBody>
      </p:sp>
      <p:sp>
        <p:nvSpPr>
          <p:cNvPr id="116" name="Rectangle: Rounded Corners 115">
            <a:extLst>
              <a:ext uri="{FF2B5EF4-FFF2-40B4-BE49-F238E27FC236}">
                <a16:creationId xmlns:a16="http://schemas.microsoft.com/office/drawing/2014/main" id="{38CF36CF-6EDE-4DC1-025D-50CC2E892D66}"/>
              </a:ext>
            </a:extLst>
          </p:cNvPr>
          <p:cNvSpPr/>
          <p:nvPr/>
        </p:nvSpPr>
        <p:spPr>
          <a:xfrm>
            <a:off x="4614914" y="2839641"/>
            <a:ext cx="1554423" cy="49276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is not the most suitable for the position in the company</a:t>
            </a:r>
            <a:endParaRPr lang="zh-HK" altLang="en-US" sz="800" dirty="0"/>
          </a:p>
        </p:txBody>
      </p:sp>
      <p:sp>
        <p:nvSpPr>
          <p:cNvPr id="117" name="Rectangle: Rounded Corners 116">
            <a:extLst>
              <a:ext uri="{FF2B5EF4-FFF2-40B4-BE49-F238E27FC236}">
                <a16:creationId xmlns:a16="http://schemas.microsoft.com/office/drawing/2014/main" id="{7DEC2B59-5C8E-BE87-DC63-1C4B884F2180}"/>
              </a:ext>
            </a:extLst>
          </p:cNvPr>
          <p:cNvSpPr/>
          <p:nvPr/>
        </p:nvSpPr>
        <p:spPr>
          <a:xfrm>
            <a:off x="4614914" y="4212143"/>
            <a:ext cx="2205298" cy="30178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Dagmar Hilgard did not consider hiring Ed Claiborne thoroughly</a:t>
            </a:r>
            <a:endParaRPr lang="zh-HK" altLang="en-US" sz="800" dirty="0"/>
          </a:p>
        </p:txBody>
      </p:sp>
      <p:sp>
        <p:nvSpPr>
          <p:cNvPr id="118" name="Rectangle: Rounded Corners 117">
            <a:extLst>
              <a:ext uri="{FF2B5EF4-FFF2-40B4-BE49-F238E27FC236}">
                <a16:creationId xmlns:a16="http://schemas.microsoft.com/office/drawing/2014/main" id="{5775E6F8-A610-FDB8-6F1F-DF52722F0918}"/>
              </a:ext>
            </a:extLst>
          </p:cNvPr>
          <p:cNvSpPr/>
          <p:nvPr/>
        </p:nvSpPr>
        <p:spPr>
          <a:xfrm>
            <a:off x="7440990" y="2894841"/>
            <a:ext cx="1101885" cy="3899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company chain of command is lax</a:t>
            </a:r>
            <a:endParaRPr lang="zh-HK" altLang="en-US" sz="800" dirty="0"/>
          </a:p>
        </p:txBody>
      </p:sp>
      <p:sp>
        <p:nvSpPr>
          <p:cNvPr id="119" name="Rectangle: Rounded Corners 118">
            <a:extLst>
              <a:ext uri="{FF2B5EF4-FFF2-40B4-BE49-F238E27FC236}">
                <a16:creationId xmlns:a16="http://schemas.microsoft.com/office/drawing/2014/main" id="{8CD2C558-5EF9-515D-DBB9-BB21E0DC386D}"/>
              </a:ext>
            </a:extLst>
          </p:cNvPr>
          <p:cNvSpPr/>
          <p:nvPr/>
        </p:nvSpPr>
        <p:spPr>
          <a:xfrm>
            <a:off x="7511745" y="3351438"/>
            <a:ext cx="1207107" cy="4915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had been working for a firm with a strict chain of command</a:t>
            </a:r>
            <a:endParaRPr lang="zh-HK" altLang="en-US" sz="800" dirty="0"/>
          </a:p>
        </p:txBody>
      </p:sp>
      <p:sp>
        <p:nvSpPr>
          <p:cNvPr id="120" name="Rectangle: Rounded Corners 119">
            <a:extLst>
              <a:ext uri="{FF2B5EF4-FFF2-40B4-BE49-F238E27FC236}">
                <a16:creationId xmlns:a16="http://schemas.microsoft.com/office/drawing/2014/main" id="{41E5EA84-36E1-4ABF-F9E5-064621B3D65C}"/>
              </a:ext>
            </a:extLst>
          </p:cNvPr>
          <p:cNvSpPr/>
          <p:nvPr/>
        </p:nvSpPr>
        <p:spPr>
          <a:xfrm>
            <a:off x="7445085" y="4081807"/>
            <a:ext cx="1427247" cy="56331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Dagmar Hilgard has a primarily finance background instead of management background</a:t>
            </a:r>
            <a:endParaRPr lang="zh-HK" altLang="en-US" sz="800" dirty="0"/>
          </a:p>
        </p:txBody>
      </p:sp>
      <p:sp>
        <p:nvSpPr>
          <p:cNvPr id="121" name="Rectangle: Rounded Corners 120">
            <a:extLst>
              <a:ext uri="{FF2B5EF4-FFF2-40B4-BE49-F238E27FC236}">
                <a16:creationId xmlns:a16="http://schemas.microsoft.com/office/drawing/2014/main" id="{747AF637-D9C9-9E87-D3E7-A53600FB6F2A}"/>
              </a:ext>
            </a:extLst>
          </p:cNvPr>
          <p:cNvSpPr/>
          <p:nvPr/>
        </p:nvSpPr>
        <p:spPr>
          <a:xfrm>
            <a:off x="4800420" y="4994038"/>
            <a:ext cx="1399911" cy="44721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requires assistance to adapt to the company culture</a:t>
            </a:r>
            <a:endParaRPr lang="zh-HK" altLang="en-US" sz="800" dirty="0"/>
          </a:p>
        </p:txBody>
      </p:sp>
      <p:sp>
        <p:nvSpPr>
          <p:cNvPr id="122" name="Rectangle: Rounded Corners 121">
            <a:extLst>
              <a:ext uri="{FF2B5EF4-FFF2-40B4-BE49-F238E27FC236}">
                <a16:creationId xmlns:a16="http://schemas.microsoft.com/office/drawing/2014/main" id="{1CCCF22A-D21C-54C2-A375-2CB89BB3B23F}"/>
              </a:ext>
            </a:extLst>
          </p:cNvPr>
          <p:cNvSpPr/>
          <p:nvPr/>
        </p:nvSpPr>
        <p:spPr>
          <a:xfrm>
            <a:off x="4885045" y="5947910"/>
            <a:ext cx="1352704" cy="34664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Insufficient assistance for Ed Claiborne</a:t>
            </a:r>
            <a:endParaRPr lang="zh-HK" altLang="en-US" sz="800" dirty="0"/>
          </a:p>
        </p:txBody>
      </p:sp>
      <p:sp>
        <p:nvSpPr>
          <p:cNvPr id="123" name="Rectangle: Rounded Corners 122">
            <a:extLst>
              <a:ext uri="{FF2B5EF4-FFF2-40B4-BE49-F238E27FC236}">
                <a16:creationId xmlns:a16="http://schemas.microsoft.com/office/drawing/2014/main" id="{B9F176C0-BBDC-15C5-089B-D716EEF20D34}"/>
              </a:ext>
            </a:extLst>
          </p:cNvPr>
          <p:cNvSpPr/>
          <p:nvPr/>
        </p:nvSpPr>
        <p:spPr>
          <a:xfrm>
            <a:off x="7049148" y="5095854"/>
            <a:ext cx="1263299" cy="3077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company culture is decentralization</a:t>
            </a:r>
            <a:endParaRPr lang="zh-HK" altLang="en-US" sz="800" dirty="0"/>
          </a:p>
        </p:txBody>
      </p:sp>
      <p:sp>
        <p:nvSpPr>
          <p:cNvPr id="124" name="Rectangle: Rounded Corners 123">
            <a:extLst>
              <a:ext uri="{FF2B5EF4-FFF2-40B4-BE49-F238E27FC236}">
                <a16:creationId xmlns:a16="http://schemas.microsoft.com/office/drawing/2014/main" id="{D03E1812-BF46-F9E0-6B32-5D1C4B711886}"/>
              </a:ext>
            </a:extLst>
          </p:cNvPr>
          <p:cNvSpPr/>
          <p:nvPr/>
        </p:nvSpPr>
        <p:spPr>
          <a:xfrm>
            <a:off x="7037112" y="5521862"/>
            <a:ext cx="1207107" cy="4915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had been working for a hierarchical firm</a:t>
            </a:r>
            <a:endParaRPr lang="zh-HK" altLang="en-US" sz="800" dirty="0"/>
          </a:p>
        </p:txBody>
      </p:sp>
      <p:sp>
        <p:nvSpPr>
          <p:cNvPr id="125" name="Rectangle: Rounded Corners 124">
            <a:extLst>
              <a:ext uri="{FF2B5EF4-FFF2-40B4-BE49-F238E27FC236}">
                <a16:creationId xmlns:a16="http://schemas.microsoft.com/office/drawing/2014/main" id="{E9E8902A-9BF4-FC1F-EA8D-0126E0E883E3}"/>
              </a:ext>
            </a:extLst>
          </p:cNvPr>
          <p:cNvSpPr/>
          <p:nvPr/>
        </p:nvSpPr>
        <p:spPr>
          <a:xfrm>
            <a:off x="6917318" y="6179413"/>
            <a:ext cx="1625557" cy="27035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Dagmar Hilgard trusts Ed Claiborne too much</a:t>
            </a:r>
            <a:endParaRPr lang="zh-HK" altLang="en-US" sz="800" dirty="0"/>
          </a:p>
        </p:txBody>
      </p:sp>
      <p:cxnSp>
        <p:nvCxnSpPr>
          <p:cNvPr id="129" name="Connector: Elbow 128">
            <a:extLst>
              <a:ext uri="{FF2B5EF4-FFF2-40B4-BE49-F238E27FC236}">
                <a16:creationId xmlns:a16="http://schemas.microsoft.com/office/drawing/2014/main" id="{3329717A-8BF1-9012-6C4A-15935F9F0ECD}"/>
              </a:ext>
            </a:extLst>
          </p:cNvPr>
          <p:cNvCxnSpPr>
            <a:stCxn id="104" idx="1"/>
            <a:endCxn id="102" idx="3"/>
          </p:cNvCxnSpPr>
          <p:nvPr/>
        </p:nvCxnSpPr>
        <p:spPr>
          <a:xfrm rot="10800000" flipV="1">
            <a:off x="1132115" y="2066842"/>
            <a:ext cx="181427" cy="628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1" name="Connector: Elbow 130">
            <a:extLst>
              <a:ext uri="{FF2B5EF4-FFF2-40B4-BE49-F238E27FC236}">
                <a16:creationId xmlns:a16="http://schemas.microsoft.com/office/drawing/2014/main" id="{5EF3E7A3-C34D-7591-80F6-015D1134AF09}"/>
              </a:ext>
            </a:extLst>
          </p:cNvPr>
          <p:cNvCxnSpPr>
            <a:stCxn id="98" idx="1"/>
            <a:endCxn id="104" idx="3"/>
          </p:cNvCxnSpPr>
          <p:nvPr/>
        </p:nvCxnSpPr>
        <p:spPr>
          <a:xfrm rot="10800000">
            <a:off x="2520648" y="2066843"/>
            <a:ext cx="472050" cy="353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3" name="Connector: Elbow 132">
            <a:extLst>
              <a:ext uri="{FF2B5EF4-FFF2-40B4-BE49-F238E27FC236}">
                <a16:creationId xmlns:a16="http://schemas.microsoft.com/office/drawing/2014/main" id="{7F4E284B-3D83-63B7-A1CB-28166E6076AA}"/>
              </a:ext>
            </a:extLst>
          </p:cNvPr>
          <p:cNvCxnSpPr>
            <a:stCxn id="100" idx="1"/>
            <a:endCxn id="104" idx="3"/>
          </p:cNvCxnSpPr>
          <p:nvPr/>
        </p:nvCxnSpPr>
        <p:spPr>
          <a:xfrm rot="10800000">
            <a:off x="2520648" y="2066842"/>
            <a:ext cx="422118" cy="103395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5" name="Connector: Elbow 134">
            <a:extLst>
              <a:ext uri="{FF2B5EF4-FFF2-40B4-BE49-F238E27FC236}">
                <a16:creationId xmlns:a16="http://schemas.microsoft.com/office/drawing/2014/main" id="{5611748B-334A-CC18-4391-072544FC9A59}"/>
              </a:ext>
            </a:extLst>
          </p:cNvPr>
          <p:cNvCxnSpPr>
            <a:stCxn id="110" idx="1"/>
            <a:endCxn id="104" idx="3"/>
          </p:cNvCxnSpPr>
          <p:nvPr/>
        </p:nvCxnSpPr>
        <p:spPr>
          <a:xfrm rot="10800000">
            <a:off x="2520648" y="2066843"/>
            <a:ext cx="422118" cy="312863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8" name="Connector: Elbow 137">
            <a:extLst>
              <a:ext uri="{FF2B5EF4-FFF2-40B4-BE49-F238E27FC236}">
                <a16:creationId xmlns:a16="http://schemas.microsoft.com/office/drawing/2014/main" id="{19966F91-5C5E-0D01-9104-0B2EE4F5EE3C}"/>
              </a:ext>
            </a:extLst>
          </p:cNvPr>
          <p:cNvCxnSpPr>
            <a:cxnSpLocks/>
            <a:stCxn id="112" idx="1"/>
            <a:endCxn id="98" idx="3"/>
          </p:cNvCxnSpPr>
          <p:nvPr/>
        </p:nvCxnSpPr>
        <p:spPr>
          <a:xfrm rot="10800000" flipV="1">
            <a:off x="3873233" y="1810465"/>
            <a:ext cx="642456" cy="25991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0" name="Connector: Elbow 139">
            <a:extLst>
              <a:ext uri="{FF2B5EF4-FFF2-40B4-BE49-F238E27FC236}">
                <a16:creationId xmlns:a16="http://schemas.microsoft.com/office/drawing/2014/main" id="{7C9160ED-DDD7-FF2C-F499-106A3027EA72}"/>
              </a:ext>
            </a:extLst>
          </p:cNvPr>
          <p:cNvCxnSpPr>
            <a:cxnSpLocks/>
            <a:stCxn id="113" idx="1"/>
            <a:endCxn id="112" idx="3"/>
          </p:cNvCxnSpPr>
          <p:nvPr/>
        </p:nvCxnSpPr>
        <p:spPr>
          <a:xfrm rot="10800000">
            <a:off x="6039986" y="1810465"/>
            <a:ext cx="1419360" cy="4886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2" name="Connector: Elbow 141">
            <a:extLst>
              <a:ext uri="{FF2B5EF4-FFF2-40B4-BE49-F238E27FC236}">
                <a16:creationId xmlns:a16="http://schemas.microsoft.com/office/drawing/2014/main" id="{1D58469F-920B-B330-17EF-FFC2F3557DEA}"/>
              </a:ext>
            </a:extLst>
          </p:cNvPr>
          <p:cNvCxnSpPr>
            <a:cxnSpLocks/>
            <a:stCxn id="114" idx="1"/>
            <a:endCxn id="112" idx="3"/>
          </p:cNvCxnSpPr>
          <p:nvPr/>
        </p:nvCxnSpPr>
        <p:spPr>
          <a:xfrm rot="10800000">
            <a:off x="6039987" y="1810466"/>
            <a:ext cx="1443937" cy="47400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4" name="Connector: Elbow 143">
            <a:extLst>
              <a:ext uri="{FF2B5EF4-FFF2-40B4-BE49-F238E27FC236}">
                <a16:creationId xmlns:a16="http://schemas.microsoft.com/office/drawing/2014/main" id="{1289AC84-C438-C87E-065A-690A772B85E5}"/>
              </a:ext>
            </a:extLst>
          </p:cNvPr>
          <p:cNvCxnSpPr>
            <a:cxnSpLocks/>
            <a:stCxn id="115" idx="1"/>
            <a:endCxn id="114" idx="3"/>
          </p:cNvCxnSpPr>
          <p:nvPr/>
        </p:nvCxnSpPr>
        <p:spPr>
          <a:xfrm rot="10800000" flipV="1">
            <a:off x="8911170" y="2276452"/>
            <a:ext cx="1029912" cy="8013"/>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6" name="Connector: Elbow 145">
            <a:extLst>
              <a:ext uri="{FF2B5EF4-FFF2-40B4-BE49-F238E27FC236}">
                <a16:creationId xmlns:a16="http://schemas.microsoft.com/office/drawing/2014/main" id="{E63FB35E-21A5-3F4D-3FDC-4C4E86FD53BC}"/>
              </a:ext>
            </a:extLst>
          </p:cNvPr>
          <p:cNvCxnSpPr>
            <a:cxnSpLocks/>
            <a:stCxn id="116" idx="1"/>
            <a:endCxn id="100" idx="3"/>
          </p:cNvCxnSpPr>
          <p:nvPr/>
        </p:nvCxnSpPr>
        <p:spPr>
          <a:xfrm rot="10800000" flipV="1">
            <a:off x="4149874" y="3086020"/>
            <a:ext cx="465041" cy="1477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8" name="Connector: Elbow 147">
            <a:extLst>
              <a:ext uri="{FF2B5EF4-FFF2-40B4-BE49-F238E27FC236}">
                <a16:creationId xmlns:a16="http://schemas.microsoft.com/office/drawing/2014/main" id="{A836C9D3-BE43-FD51-7FA6-988737A18CC3}"/>
              </a:ext>
            </a:extLst>
          </p:cNvPr>
          <p:cNvCxnSpPr>
            <a:cxnSpLocks/>
            <a:stCxn id="117" idx="1"/>
            <a:endCxn id="100" idx="3"/>
          </p:cNvCxnSpPr>
          <p:nvPr/>
        </p:nvCxnSpPr>
        <p:spPr>
          <a:xfrm rot="10800000">
            <a:off x="4149874" y="3100798"/>
            <a:ext cx="465041" cy="126224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0" name="Connector: Elbow 149">
            <a:extLst>
              <a:ext uri="{FF2B5EF4-FFF2-40B4-BE49-F238E27FC236}">
                <a16:creationId xmlns:a16="http://schemas.microsoft.com/office/drawing/2014/main" id="{D42A1401-F79C-1679-8B70-F44AFC9D5540}"/>
              </a:ext>
            </a:extLst>
          </p:cNvPr>
          <p:cNvCxnSpPr>
            <a:cxnSpLocks/>
            <a:stCxn id="121" idx="1"/>
            <a:endCxn id="110" idx="3"/>
          </p:cNvCxnSpPr>
          <p:nvPr/>
        </p:nvCxnSpPr>
        <p:spPr>
          <a:xfrm rot="10800000">
            <a:off x="4149874" y="5195481"/>
            <a:ext cx="650547" cy="2216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2" name="Connector: Elbow 151">
            <a:extLst>
              <a:ext uri="{FF2B5EF4-FFF2-40B4-BE49-F238E27FC236}">
                <a16:creationId xmlns:a16="http://schemas.microsoft.com/office/drawing/2014/main" id="{37319EFA-D5C8-EB32-13C6-000A4DA0BA01}"/>
              </a:ext>
            </a:extLst>
          </p:cNvPr>
          <p:cNvCxnSpPr>
            <a:cxnSpLocks/>
            <a:stCxn id="122" idx="1"/>
            <a:endCxn id="110" idx="3"/>
          </p:cNvCxnSpPr>
          <p:nvPr/>
        </p:nvCxnSpPr>
        <p:spPr>
          <a:xfrm rot="10800000">
            <a:off x="4149873" y="5195481"/>
            <a:ext cx="735172" cy="92575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4" name="Connector: Elbow 153">
            <a:extLst>
              <a:ext uri="{FF2B5EF4-FFF2-40B4-BE49-F238E27FC236}">
                <a16:creationId xmlns:a16="http://schemas.microsoft.com/office/drawing/2014/main" id="{AF510A5B-579C-FA3F-1706-186F67113926}"/>
              </a:ext>
            </a:extLst>
          </p:cNvPr>
          <p:cNvCxnSpPr>
            <a:cxnSpLocks/>
            <a:stCxn id="123" idx="1"/>
            <a:endCxn id="121" idx="3"/>
          </p:cNvCxnSpPr>
          <p:nvPr/>
        </p:nvCxnSpPr>
        <p:spPr>
          <a:xfrm rot="10800000">
            <a:off x="6200332" y="5217643"/>
            <a:ext cx="848817" cy="321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6" name="Connector: Elbow 155">
            <a:extLst>
              <a:ext uri="{FF2B5EF4-FFF2-40B4-BE49-F238E27FC236}">
                <a16:creationId xmlns:a16="http://schemas.microsoft.com/office/drawing/2014/main" id="{3A83F893-E7D4-7668-D6AA-F92C23587AE4}"/>
              </a:ext>
            </a:extLst>
          </p:cNvPr>
          <p:cNvCxnSpPr>
            <a:cxnSpLocks/>
            <a:stCxn id="124" idx="1"/>
            <a:endCxn id="121" idx="3"/>
          </p:cNvCxnSpPr>
          <p:nvPr/>
        </p:nvCxnSpPr>
        <p:spPr>
          <a:xfrm rot="10800000">
            <a:off x="6200332" y="5217643"/>
            <a:ext cx="836781" cy="54998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8" name="Connector: Elbow 157">
            <a:extLst>
              <a:ext uri="{FF2B5EF4-FFF2-40B4-BE49-F238E27FC236}">
                <a16:creationId xmlns:a16="http://schemas.microsoft.com/office/drawing/2014/main" id="{B84B2350-8A45-8545-FCC4-37427EEA7B05}"/>
              </a:ext>
            </a:extLst>
          </p:cNvPr>
          <p:cNvCxnSpPr>
            <a:cxnSpLocks/>
            <a:stCxn id="125" idx="1"/>
            <a:endCxn id="122" idx="3"/>
          </p:cNvCxnSpPr>
          <p:nvPr/>
        </p:nvCxnSpPr>
        <p:spPr>
          <a:xfrm rot="10800000">
            <a:off x="6237750" y="6121235"/>
            <a:ext cx="679569" cy="19335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292" name="Rectangle: Rounded Corners 291">
            <a:extLst>
              <a:ext uri="{FF2B5EF4-FFF2-40B4-BE49-F238E27FC236}">
                <a16:creationId xmlns:a16="http://schemas.microsoft.com/office/drawing/2014/main" id="{0F5103B2-D7C3-8BCC-127C-04DC3516CC90}"/>
              </a:ext>
            </a:extLst>
          </p:cNvPr>
          <p:cNvSpPr/>
          <p:nvPr/>
        </p:nvSpPr>
        <p:spPr>
          <a:xfrm>
            <a:off x="3137453" y="2251294"/>
            <a:ext cx="1128978" cy="440590"/>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plants are busy and many have added extra shifts</a:t>
            </a:r>
            <a:endParaRPr lang="zh-HK" altLang="en-US" sz="800" dirty="0"/>
          </a:p>
        </p:txBody>
      </p:sp>
      <p:sp>
        <p:nvSpPr>
          <p:cNvPr id="293" name="Rectangle: Rounded Corners 292">
            <a:extLst>
              <a:ext uri="{FF2B5EF4-FFF2-40B4-BE49-F238E27FC236}">
                <a16:creationId xmlns:a16="http://schemas.microsoft.com/office/drawing/2014/main" id="{469E3633-BA46-204C-8792-6F2904512414}"/>
              </a:ext>
            </a:extLst>
          </p:cNvPr>
          <p:cNvSpPr/>
          <p:nvPr/>
        </p:nvSpPr>
        <p:spPr>
          <a:xfrm>
            <a:off x="2868416" y="1351459"/>
            <a:ext cx="1192720" cy="536680"/>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Shorten policy notification advance time to 1 week or even less</a:t>
            </a:r>
            <a:endParaRPr lang="zh-HK" altLang="en-US" sz="800" dirty="0"/>
          </a:p>
        </p:txBody>
      </p:sp>
      <p:sp>
        <p:nvSpPr>
          <p:cNvPr id="159" name="Rectangle: Rounded Corners 158">
            <a:extLst>
              <a:ext uri="{FF2B5EF4-FFF2-40B4-BE49-F238E27FC236}">
                <a16:creationId xmlns:a16="http://schemas.microsoft.com/office/drawing/2014/main" id="{1FCFFEBE-4162-6872-1E0F-16E288DA3755}"/>
              </a:ext>
            </a:extLst>
          </p:cNvPr>
          <p:cNvSpPr/>
          <p:nvPr/>
        </p:nvSpPr>
        <p:spPr>
          <a:xfrm>
            <a:off x="4332516" y="1867127"/>
            <a:ext cx="2315251" cy="352030"/>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executives felt that temporary external circumstances caused the target shortfalls</a:t>
            </a:r>
            <a:endParaRPr lang="zh-HK" altLang="en-US" sz="800" dirty="0"/>
          </a:p>
        </p:txBody>
      </p:sp>
      <p:cxnSp>
        <p:nvCxnSpPr>
          <p:cNvPr id="163" name="Connector: Elbow 162">
            <a:extLst>
              <a:ext uri="{FF2B5EF4-FFF2-40B4-BE49-F238E27FC236}">
                <a16:creationId xmlns:a16="http://schemas.microsoft.com/office/drawing/2014/main" id="{3F81EF1D-1ACF-DB02-20E1-B89642FAF4D2}"/>
              </a:ext>
            </a:extLst>
          </p:cNvPr>
          <p:cNvCxnSpPr>
            <a:cxnSpLocks/>
            <a:stCxn id="118" idx="1"/>
            <a:endCxn id="116" idx="3"/>
          </p:cNvCxnSpPr>
          <p:nvPr/>
        </p:nvCxnSpPr>
        <p:spPr>
          <a:xfrm rot="10800000">
            <a:off x="6169338" y="3086021"/>
            <a:ext cx="1271653" cy="377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5" name="Connector: Elbow 164">
            <a:extLst>
              <a:ext uri="{FF2B5EF4-FFF2-40B4-BE49-F238E27FC236}">
                <a16:creationId xmlns:a16="http://schemas.microsoft.com/office/drawing/2014/main" id="{7E9BC2D0-E3D7-AD10-E614-903CA24F311E}"/>
              </a:ext>
            </a:extLst>
          </p:cNvPr>
          <p:cNvCxnSpPr>
            <a:cxnSpLocks/>
            <a:stCxn id="119" idx="1"/>
            <a:endCxn id="116" idx="3"/>
          </p:cNvCxnSpPr>
          <p:nvPr/>
        </p:nvCxnSpPr>
        <p:spPr>
          <a:xfrm rot="10800000">
            <a:off x="6169337" y="3086021"/>
            <a:ext cx="1342408" cy="51118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7" name="Connector: Elbow 166">
            <a:extLst>
              <a:ext uri="{FF2B5EF4-FFF2-40B4-BE49-F238E27FC236}">
                <a16:creationId xmlns:a16="http://schemas.microsoft.com/office/drawing/2014/main" id="{4F78C872-C971-DDEC-D67B-787F96386A63}"/>
              </a:ext>
            </a:extLst>
          </p:cNvPr>
          <p:cNvCxnSpPr>
            <a:cxnSpLocks/>
            <a:stCxn id="120" idx="1"/>
            <a:endCxn id="117" idx="3"/>
          </p:cNvCxnSpPr>
          <p:nvPr/>
        </p:nvCxnSpPr>
        <p:spPr>
          <a:xfrm rot="10800000">
            <a:off x="6820213" y="4363038"/>
            <a:ext cx="624873" cy="428"/>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68" name="Rectangle: Rounded Corners 167">
            <a:extLst>
              <a:ext uri="{FF2B5EF4-FFF2-40B4-BE49-F238E27FC236}">
                <a16:creationId xmlns:a16="http://schemas.microsoft.com/office/drawing/2014/main" id="{210E03A3-DBA0-A90B-5844-78C1F8D08365}"/>
              </a:ext>
            </a:extLst>
          </p:cNvPr>
          <p:cNvSpPr/>
          <p:nvPr/>
        </p:nvSpPr>
        <p:spPr>
          <a:xfrm>
            <a:off x="4542622" y="3292770"/>
            <a:ext cx="1838730" cy="473936"/>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ignored Lopez Debby's advice even though Debby has 14 years of experience</a:t>
            </a:r>
            <a:endParaRPr lang="zh-HK" altLang="en-US" sz="800" dirty="0"/>
          </a:p>
        </p:txBody>
      </p:sp>
      <p:sp>
        <p:nvSpPr>
          <p:cNvPr id="169" name="Rectangle: Rounded Corners 168">
            <a:extLst>
              <a:ext uri="{FF2B5EF4-FFF2-40B4-BE49-F238E27FC236}">
                <a16:creationId xmlns:a16="http://schemas.microsoft.com/office/drawing/2014/main" id="{EC7B571D-D683-363D-C2C4-E23B2B91AB0D}"/>
              </a:ext>
            </a:extLst>
          </p:cNvPr>
          <p:cNvSpPr/>
          <p:nvPr/>
        </p:nvSpPr>
        <p:spPr>
          <a:xfrm>
            <a:off x="4361836" y="4505900"/>
            <a:ext cx="2726490" cy="347745"/>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Dagmar Hilgard hired Ed Claiborne despite the chief financial officer, Charles Suh, expressed reservations</a:t>
            </a:r>
            <a:endParaRPr lang="zh-HK" altLang="en-US" sz="800" dirty="0"/>
          </a:p>
        </p:txBody>
      </p:sp>
      <p:sp>
        <p:nvSpPr>
          <p:cNvPr id="170" name="Rectangle: Rounded Corners 169">
            <a:extLst>
              <a:ext uri="{FF2B5EF4-FFF2-40B4-BE49-F238E27FC236}">
                <a16:creationId xmlns:a16="http://schemas.microsoft.com/office/drawing/2014/main" id="{B10882CF-2DA2-C0AE-9664-B9286E50A8EA}"/>
              </a:ext>
            </a:extLst>
          </p:cNvPr>
          <p:cNvSpPr/>
          <p:nvPr/>
        </p:nvSpPr>
        <p:spPr>
          <a:xfrm>
            <a:off x="4622587" y="3861134"/>
            <a:ext cx="2124331" cy="346480"/>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candidate being appointed a high-level position also requires approval from the board of directors</a:t>
            </a:r>
            <a:endParaRPr lang="zh-HK" altLang="en-US" sz="800" dirty="0"/>
          </a:p>
        </p:txBody>
      </p:sp>
      <p:sp>
        <p:nvSpPr>
          <p:cNvPr id="171" name="Rectangle: Rounded Corners 170">
            <a:extLst>
              <a:ext uri="{FF2B5EF4-FFF2-40B4-BE49-F238E27FC236}">
                <a16:creationId xmlns:a16="http://schemas.microsoft.com/office/drawing/2014/main" id="{3615F2D6-08CD-2978-C578-36AF2711F3A3}"/>
              </a:ext>
            </a:extLst>
          </p:cNvPr>
          <p:cNvSpPr/>
          <p:nvPr/>
        </p:nvSpPr>
        <p:spPr>
          <a:xfrm>
            <a:off x="4871974" y="5644359"/>
            <a:ext cx="1406249" cy="361419"/>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Onboarding for new high-level employees</a:t>
            </a:r>
            <a:endParaRPr lang="zh-HK" altLang="en-US" sz="800" dirty="0"/>
          </a:p>
        </p:txBody>
      </p:sp>
      <p:sp>
        <p:nvSpPr>
          <p:cNvPr id="172" name="Rectangle: Rounded Corners 171">
            <a:extLst>
              <a:ext uri="{FF2B5EF4-FFF2-40B4-BE49-F238E27FC236}">
                <a16:creationId xmlns:a16="http://schemas.microsoft.com/office/drawing/2014/main" id="{AB54EA75-732C-50BC-6D89-54E5DAB1B072}"/>
              </a:ext>
            </a:extLst>
          </p:cNvPr>
          <p:cNvSpPr/>
          <p:nvPr/>
        </p:nvSpPr>
        <p:spPr>
          <a:xfrm>
            <a:off x="6805164" y="6455976"/>
            <a:ext cx="2029198" cy="328056"/>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Dagmar Hilgard did not need to know the details of policy implementation</a:t>
            </a:r>
            <a:endParaRPr lang="zh-HK" altLang="en-US" sz="800" dirty="0"/>
          </a:p>
        </p:txBody>
      </p:sp>
      <p:sp>
        <p:nvSpPr>
          <p:cNvPr id="173" name="Rectangle: Rounded Corners 172">
            <a:extLst>
              <a:ext uri="{FF2B5EF4-FFF2-40B4-BE49-F238E27FC236}">
                <a16:creationId xmlns:a16="http://schemas.microsoft.com/office/drawing/2014/main" id="{25A11DA1-A225-E22E-DE5C-B9A37F34F6B7}"/>
              </a:ext>
            </a:extLst>
          </p:cNvPr>
          <p:cNvSpPr/>
          <p:nvPr/>
        </p:nvSpPr>
        <p:spPr>
          <a:xfrm>
            <a:off x="4962231" y="6259109"/>
            <a:ext cx="1207106" cy="491533"/>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was already assigned work on his first day</a:t>
            </a:r>
            <a:endParaRPr lang="zh-HK" altLang="en-US" sz="800" dirty="0"/>
          </a:p>
        </p:txBody>
      </p:sp>
      <p:sp>
        <p:nvSpPr>
          <p:cNvPr id="174" name="TextBox 173">
            <a:extLst>
              <a:ext uri="{FF2B5EF4-FFF2-40B4-BE49-F238E27FC236}">
                <a16:creationId xmlns:a16="http://schemas.microsoft.com/office/drawing/2014/main" id="{F4FFB1B9-24A7-C660-F836-F64A6E2456AB}"/>
              </a:ext>
            </a:extLst>
          </p:cNvPr>
          <p:cNvSpPr txBox="1"/>
          <p:nvPr/>
        </p:nvSpPr>
        <p:spPr>
          <a:xfrm>
            <a:off x="2024690" y="2295227"/>
            <a:ext cx="1112762" cy="307777"/>
          </a:xfrm>
          <a:prstGeom prst="rect">
            <a:avLst/>
          </a:prstGeom>
          <a:noFill/>
        </p:spPr>
        <p:txBody>
          <a:bodyPr wrap="square" rtlCol="0">
            <a:spAutoFit/>
          </a:bodyPr>
          <a:lstStyle/>
          <a:p>
            <a:r>
              <a:rPr lang="en-US" altLang="zh-HK" sz="1400" dirty="0"/>
              <a:t>7S: Strategy</a:t>
            </a:r>
            <a:endParaRPr lang="zh-HK" altLang="en-US" sz="1400" dirty="0"/>
          </a:p>
        </p:txBody>
      </p:sp>
      <p:sp>
        <p:nvSpPr>
          <p:cNvPr id="175" name="TextBox 174">
            <a:extLst>
              <a:ext uri="{FF2B5EF4-FFF2-40B4-BE49-F238E27FC236}">
                <a16:creationId xmlns:a16="http://schemas.microsoft.com/office/drawing/2014/main" id="{8E2856EF-BB31-8FA6-7E4D-CFAE8C384ECE}"/>
              </a:ext>
            </a:extLst>
          </p:cNvPr>
          <p:cNvSpPr txBox="1"/>
          <p:nvPr/>
        </p:nvSpPr>
        <p:spPr>
          <a:xfrm>
            <a:off x="2119884" y="3116354"/>
            <a:ext cx="1112762" cy="307777"/>
          </a:xfrm>
          <a:prstGeom prst="rect">
            <a:avLst/>
          </a:prstGeom>
          <a:noFill/>
        </p:spPr>
        <p:txBody>
          <a:bodyPr wrap="square" rtlCol="0">
            <a:spAutoFit/>
          </a:bodyPr>
          <a:lstStyle/>
          <a:p>
            <a:r>
              <a:rPr lang="en-US" altLang="zh-HK" sz="1400" dirty="0"/>
              <a:t>7S: Staff</a:t>
            </a:r>
            <a:endParaRPr lang="zh-HK" altLang="en-US" sz="1400" dirty="0"/>
          </a:p>
        </p:txBody>
      </p:sp>
      <p:sp>
        <p:nvSpPr>
          <p:cNvPr id="176" name="TextBox 175">
            <a:extLst>
              <a:ext uri="{FF2B5EF4-FFF2-40B4-BE49-F238E27FC236}">
                <a16:creationId xmlns:a16="http://schemas.microsoft.com/office/drawing/2014/main" id="{C5A80876-00F1-CC96-D29D-B8CCD11D9EA0}"/>
              </a:ext>
            </a:extLst>
          </p:cNvPr>
          <p:cNvSpPr txBox="1"/>
          <p:nvPr/>
        </p:nvSpPr>
        <p:spPr>
          <a:xfrm>
            <a:off x="2075642" y="5171277"/>
            <a:ext cx="1112762" cy="307777"/>
          </a:xfrm>
          <a:prstGeom prst="rect">
            <a:avLst/>
          </a:prstGeom>
          <a:noFill/>
        </p:spPr>
        <p:txBody>
          <a:bodyPr wrap="square" rtlCol="0">
            <a:spAutoFit/>
          </a:bodyPr>
          <a:lstStyle/>
          <a:p>
            <a:r>
              <a:rPr lang="en-US" altLang="zh-HK" sz="1400" dirty="0"/>
              <a:t>7S: Skills</a:t>
            </a:r>
            <a:endParaRPr lang="zh-HK" altLang="en-US" sz="1400" dirty="0"/>
          </a:p>
        </p:txBody>
      </p:sp>
      <p:sp>
        <p:nvSpPr>
          <p:cNvPr id="177" name="TextBox 176">
            <a:extLst>
              <a:ext uri="{FF2B5EF4-FFF2-40B4-BE49-F238E27FC236}">
                <a16:creationId xmlns:a16="http://schemas.microsoft.com/office/drawing/2014/main" id="{72339393-9F91-3B91-06D4-F2597F772FB2}"/>
              </a:ext>
            </a:extLst>
          </p:cNvPr>
          <p:cNvSpPr txBox="1"/>
          <p:nvPr/>
        </p:nvSpPr>
        <p:spPr>
          <a:xfrm>
            <a:off x="6161003" y="1504061"/>
            <a:ext cx="574746" cy="307777"/>
          </a:xfrm>
          <a:prstGeom prst="rect">
            <a:avLst/>
          </a:prstGeom>
          <a:noFill/>
        </p:spPr>
        <p:txBody>
          <a:bodyPr wrap="square" rtlCol="0">
            <a:spAutoFit/>
          </a:bodyPr>
          <a:lstStyle/>
          <a:p>
            <a:r>
              <a:rPr lang="en-US" altLang="zh-HK" sz="1400" dirty="0"/>
              <a:t>AND</a:t>
            </a:r>
            <a:endParaRPr lang="zh-HK" altLang="en-US" sz="1400" dirty="0"/>
          </a:p>
        </p:txBody>
      </p:sp>
      <p:sp>
        <p:nvSpPr>
          <p:cNvPr id="178" name="TextBox 177">
            <a:extLst>
              <a:ext uri="{FF2B5EF4-FFF2-40B4-BE49-F238E27FC236}">
                <a16:creationId xmlns:a16="http://schemas.microsoft.com/office/drawing/2014/main" id="{48ADB190-025B-499B-CE6B-38A454210AF9}"/>
              </a:ext>
            </a:extLst>
          </p:cNvPr>
          <p:cNvSpPr txBox="1"/>
          <p:nvPr/>
        </p:nvSpPr>
        <p:spPr>
          <a:xfrm>
            <a:off x="2456741" y="1748257"/>
            <a:ext cx="574746" cy="307777"/>
          </a:xfrm>
          <a:prstGeom prst="rect">
            <a:avLst/>
          </a:prstGeom>
          <a:noFill/>
        </p:spPr>
        <p:txBody>
          <a:bodyPr wrap="square" rtlCol="0">
            <a:spAutoFit/>
          </a:bodyPr>
          <a:lstStyle/>
          <a:p>
            <a:r>
              <a:rPr lang="en-US" altLang="zh-HK" sz="1400" dirty="0"/>
              <a:t>OR</a:t>
            </a:r>
            <a:endParaRPr lang="zh-HK" altLang="en-US" sz="1400" dirty="0"/>
          </a:p>
        </p:txBody>
      </p:sp>
      <p:sp>
        <p:nvSpPr>
          <p:cNvPr id="179" name="TextBox 178">
            <a:extLst>
              <a:ext uri="{FF2B5EF4-FFF2-40B4-BE49-F238E27FC236}">
                <a16:creationId xmlns:a16="http://schemas.microsoft.com/office/drawing/2014/main" id="{67AD908A-FF4C-E097-5C9D-A2BBCAD5223F}"/>
              </a:ext>
            </a:extLst>
          </p:cNvPr>
          <p:cNvSpPr txBox="1"/>
          <p:nvPr/>
        </p:nvSpPr>
        <p:spPr>
          <a:xfrm>
            <a:off x="6200331" y="2731136"/>
            <a:ext cx="574746" cy="307777"/>
          </a:xfrm>
          <a:prstGeom prst="rect">
            <a:avLst/>
          </a:prstGeom>
          <a:noFill/>
        </p:spPr>
        <p:txBody>
          <a:bodyPr wrap="square" rtlCol="0">
            <a:spAutoFit/>
          </a:bodyPr>
          <a:lstStyle/>
          <a:p>
            <a:r>
              <a:rPr lang="en-US" altLang="zh-HK" sz="1400" dirty="0"/>
              <a:t>AND</a:t>
            </a:r>
            <a:endParaRPr lang="zh-HK" altLang="en-US" sz="1400" dirty="0"/>
          </a:p>
        </p:txBody>
      </p:sp>
      <p:sp>
        <p:nvSpPr>
          <p:cNvPr id="180" name="TextBox 179">
            <a:extLst>
              <a:ext uri="{FF2B5EF4-FFF2-40B4-BE49-F238E27FC236}">
                <a16:creationId xmlns:a16="http://schemas.microsoft.com/office/drawing/2014/main" id="{18EF3EAA-C9C7-46F6-1869-E26F9D304CD6}"/>
              </a:ext>
            </a:extLst>
          </p:cNvPr>
          <p:cNvSpPr txBox="1"/>
          <p:nvPr/>
        </p:nvSpPr>
        <p:spPr>
          <a:xfrm>
            <a:off x="4115526" y="2714757"/>
            <a:ext cx="574746" cy="307777"/>
          </a:xfrm>
          <a:prstGeom prst="rect">
            <a:avLst/>
          </a:prstGeom>
          <a:noFill/>
        </p:spPr>
        <p:txBody>
          <a:bodyPr wrap="square" rtlCol="0">
            <a:spAutoFit/>
          </a:bodyPr>
          <a:lstStyle/>
          <a:p>
            <a:r>
              <a:rPr lang="en-US" altLang="zh-HK" sz="1400" dirty="0"/>
              <a:t>AND</a:t>
            </a:r>
            <a:endParaRPr lang="zh-HK" altLang="en-US" sz="1400" dirty="0"/>
          </a:p>
        </p:txBody>
      </p:sp>
      <p:sp>
        <p:nvSpPr>
          <p:cNvPr id="183" name="TextBox 182">
            <a:extLst>
              <a:ext uri="{FF2B5EF4-FFF2-40B4-BE49-F238E27FC236}">
                <a16:creationId xmlns:a16="http://schemas.microsoft.com/office/drawing/2014/main" id="{45D20551-EEFF-008C-E228-5C74DF318FB0}"/>
              </a:ext>
            </a:extLst>
          </p:cNvPr>
          <p:cNvSpPr txBox="1"/>
          <p:nvPr/>
        </p:nvSpPr>
        <p:spPr>
          <a:xfrm>
            <a:off x="6300127" y="4870224"/>
            <a:ext cx="574746" cy="307777"/>
          </a:xfrm>
          <a:prstGeom prst="rect">
            <a:avLst/>
          </a:prstGeom>
          <a:noFill/>
        </p:spPr>
        <p:txBody>
          <a:bodyPr wrap="square" rtlCol="0">
            <a:spAutoFit/>
          </a:bodyPr>
          <a:lstStyle/>
          <a:p>
            <a:r>
              <a:rPr lang="en-US" altLang="zh-HK" sz="1400" dirty="0"/>
              <a:t>AND</a:t>
            </a:r>
            <a:endParaRPr lang="zh-HK" altLang="en-US" sz="1400" dirty="0"/>
          </a:p>
        </p:txBody>
      </p:sp>
      <p:sp>
        <p:nvSpPr>
          <p:cNvPr id="185" name="TextBox 184">
            <a:extLst>
              <a:ext uri="{FF2B5EF4-FFF2-40B4-BE49-F238E27FC236}">
                <a16:creationId xmlns:a16="http://schemas.microsoft.com/office/drawing/2014/main" id="{3B880DDB-F2DF-22A8-B0A5-B98A64F44B47}"/>
              </a:ext>
            </a:extLst>
          </p:cNvPr>
          <p:cNvSpPr txBox="1"/>
          <p:nvPr/>
        </p:nvSpPr>
        <p:spPr>
          <a:xfrm>
            <a:off x="4125878" y="4870224"/>
            <a:ext cx="574746" cy="307777"/>
          </a:xfrm>
          <a:prstGeom prst="rect">
            <a:avLst/>
          </a:prstGeom>
          <a:noFill/>
        </p:spPr>
        <p:txBody>
          <a:bodyPr wrap="square" rtlCol="0">
            <a:spAutoFit/>
          </a:bodyPr>
          <a:lstStyle/>
          <a:p>
            <a:r>
              <a:rPr lang="en-US" altLang="zh-HK" sz="1400" dirty="0"/>
              <a:t>AND</a:t>
            </a:r>
            <a:endParaRPr lang="zh-HK" altLang="en-US" sz="1400" dirty="0"/>
          </a:p>
        </p:txBody>
      </p:sp>
      <p:sp>
        <p:nvSpPr>
          <p:cNvPr id="3" name="Rectangle: Rounded Corners 2">
            <a:extLst>
              <a:ext uri="{FF2B5EF4-FFF2-40B4-BE49-F238E27FC236}">
                <a16:creationId xmlns:a16="http://schemas.microsoft.com/office/drawing/2014/main" id="{DE442E0D-CE20-0AD7-F318-0FCCF03CAA7E}"/>
              </a:ext>
            </a:extLst>
          </p:cNvPr>
          <p:cNvSpPr/>
          <p:nvPr/>
        </p:nvSpPr>
        <p:spPr>
          <a:xfrm>
            <a:off x="10990648" y="655385"/>
            <a:ext cx="937911" cy="32992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1400" dirty="0"/>
              <a:t>Element</a:t>
            </a:r>
            <a:endParaRPr lang="zh-HK" altLang="en-US" sz="1400" dirty="0"/>
          </a:p>
        </p:txBody>
      </p:sp>
      <p:sp>
        <p:nvSpPr>
          <p:cNvPr id="4" name="Rectangle: Rounded Corners 3">
            <a:extLst>
              <a:ext uri="{FF2B5EF4-FFF2-40B4-BE49-F238E27FC236}">
                <a16:creationId xmlns:a16="http://schemas.microsoft.com/office/drawing/2014/main" id="{72BDDE57-BA92-8F8D-E3DF-186CF3E5570B}"/>
              </a:ext>
            </a:extLst>
          </p:cNvPr>
          <p:cNvSpPr/>
          <p:nvPr/>
        </p:nvSpPr>
        <p:spPr>
          <a:xfrm>
            <a:off x="10990766" y="344231"/>
            <a:ext cx="881137" cy="361419"/>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1400" dirty="0"/>
              <a:t>Solution</a:t>
            </a:r>
            <a:endParaRPr lang="zh-HK" altLang="en-US" sz="1400" dirty="0"/>
          </a:p>
        </p:txBody>
      </p:sp>
      <p:sp>
        <p:nvSpPr>
          <p:cNvPr id="5" name="Rectangle: Rounded Corners 4">
            <a:extLst>
              <a:ext uri="{FF2B5EF4-FFF2-40B4-BE49-F238E27FC236}">
                <a16:creationId xmlns:a16="http://schemas.microsoft.com/office/drawing/2014/main" id="{5D68D801-7867-9272-B71A-9D43B9B0FCD9}"/>
              </a:ext>
            </a:extLst>
          </p:cNvPr>
          <p:cNvSpPr/>
          <p:nvPr/>
        </p:nvSpPr>
        <p:spPr>
          <a:xfrm>
            <a:off x="10962342" y="937685"/>
            <a:ext cx="966218" cy="339980"/>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1400" dirty="0"/>
              <a:t>Evidence</a:t>
            </a:r>
            <a:endParaRPr lang="zh-HK" altLang="en-US" sz="1400" dirty="0"/>
          </a:p>
        </p:txBody>
      </p:sp>
    </p:spTree>
    <p:extLst>
      <p:ext uri="{BB962C8B-B14F-4D97-AF65-F5344CB8AC3E}">
        <p14:creationId xmlns:p14="http://schemas.microsoft.com/office/powerpoint/2010/main" val="1311244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EC12B-AE96-B794-7BDE-D3C65965571F}"/>
              </a:ext>
            </a:extLst>
          </p:cNvPr>
          <p:cNvSpPr>
            <a:spLocks noGrp="1"/>
          </p:cNvSpPr>
          <p:nvPr>
            <p:ph type="title"/>
          </p:nvPr>
        </p:nvSpPr>
        <p:spPr>
          <a:xfrm>
            <a:off x="1371599" y="294538"/>
            <a:ext cx="9895951" cy="1033669"/>
          </a:xfrm>
        </p:spPr>
        <p:txBody>
          <a:bodyPr>
            <a:normAutofit/>
          </a:bodyPr>
          <a:lstStyle/>
          <a:p>
            <a:r>
              <a:rPr lang="en-US" altLang="zh-HK" sz="3400">
                <a:solidFill>
                  <a:srgbClr val="FFFFFF"/>
                </a:solidFill>
              </a:rPr>
              <a:t>Q1. Root Cause Analysis in Cause Mapping notation (cont.)</a:t>
            </a:r>
            <a:endParaRPr lang="zh-HK" altLang="en-US" sz="3400">
              <a:solidFill>
                <a:srgbClr val="FFFFFF"/>
              </a:solidFill>
            </a:endParaRPr>
          </a:p>
        </p:txBody>
      </p:sp>
      <p:sp>
        <p:nvSpPr>
          <p:cNvPr id="205" name="Rectangle: Rounded Corners 204">
            <a:extLst>
              <a:ext uri="{FF2B5EF4-FFF2-40B4-BE49-F238E27FC236}">
                <a16:creationId xmlns:a16="http://schemas.microsoft.com/office/drawing/2014/main" id="{52C86D59-F211-9DBF-278B-12C30B336244}"/>
              </a:ext>
            </a:extLst>
          </p:cNvPr>
          <p:cNvSpPr/>
          <p:nvPr/>
        </p:nvSpPr>
        <p:spPr>
          <a:xfrm>
            <a:off x="10990648" y="655385"/>
            <a:ext cx="937911" cy="32992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1400" dirty="0"/>
              <a:t>Element</a:t>
            </a:r>
            <a:endParaRPr lang="zh-HK" altLang="en-US" sz="1400" dirty="0"/>
          </a:p>
        </p:txBody>
      </p:sp>
      <p:sp>
        <p:nvSpPr>
          <p:cNvPr id="206" name="Rectangle: Rounded Corners 205">
            <a:extLst>
              <a:ext uri="{FF2B5EF4-FFF2-40B4-BE49-F238E27FC236}">
                <a16:creationId xmlns:a16="http://schemas.microsoft.com/office/drawing/2014/main" id="{EABF40C9-83AE-D310-1D95-96F35A434E0B}"/>
              </a:ext>
            </a:extLst>
          </p:cNvPr>
          <p:cNvSpPr/>
          <p:nvPr/>
        </p:nvSpPr>
        <p:spPr>
          <a:xfrm>
            <a:off x="10990766" y="344231"/>
            <a:ext cx="881137" cy="361419"/>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1400" dirty="0"/>
              <a:t>Solution</a:t>
            </a:r>
            <a:endParaRPr lang="zh-HK" altLang="en-US" sz="1400" dirty="0"/>
          </a:p>
        </p:txBody>
      </p:sp>
      <p:sp>
        <p:nvSpPr>
          <p:cNvPr id="207" name="Rectangle: Rounded Corners 206">
            <a:extLst>
              <a:ext uri="{FF2B5EF4-FFF2-40B4-BE49-F238E27FC236}">
                <a16:creationId xmlns:a16="http://schemas.microsoft.com/office/drawing/2014/main" id="{43D3043D-6DBC-6C40-DF66-E9CE21011AF0}"/>
              </a:ext>
            </a:extLst>
          </p:cNvPr>
          <p:cNvSpPr/>
          <p:nvPr/>
        </p:nvSpPr>
        <p:spPr>
          <a:xfrm>
            <a:off x="10962342" y="937685"/>
            <a:ext cx="966218" cy="339980"/>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1400" dirty="0"/>
              <a:t>Evidence</a:t>
            </a:r>
            <a:endParaRPr lang="zh-HK" altLang="en-US" sz="1400" dirty="0"/>
          </a:p>
        </p:txBody>
      </p:sp>
      <p:sp>
        <p:nvSpPr>
          <p:cNvPr id="208" name="Rectangle: Rounded Corners 207">
            <a:extLst>
              <a:ext uri="{FF2B5EF4-FFF2-40B4-BE49-F238E27FC236}">
                <a16:creationId xmlns:a16="http://schemas.microsoft.com/office/drawing/2014/main" id="{4D69AB16-A71D-1DBA-0D53-9AE06FFB905B}"/>
              </a:ext>
            </a:extLst>
          </p:cNvPr>
          <p:cNvSpPr/>
          <p:nvPr/>
        </p:nvSpPr>
        <p:spPr>
          <a:xfrm>
            <a:off x="3012915" y="3087556"/>
            <a:ext cx="1111554" cy="35343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It is inconvenient to report contracts</a:t>
            </a:r>
          </a:p>
        </p:txBody>
      </p:sp>
      <p:sp>
        <p:nvSpPr>
          <p:cNvPr id="209" name="Rectangle: Rounded Corners 208">
            <a:extLst>
              <a:ext uri="{FF2B5EF4-FFF2-40B4-BE49-F238E27FC236}">
                <a16:creationId xmlns:a16="http://schemas.microsoft.com/office/drawing/2014/main" id="{1B7D1877-9FF5-764A-5878-50439C29F6B6}"/>
              </a:ext>
            </a:extLst>
          </p:cNvPr>
          <p:cNvSpPr/>
          <p:nvPr/>
        </p:nvSpPr>
        <p:spPr>
          <a:xfrm>
            <a:off x="3030952" y="3926474"/>
            <a:ext cx="1047926" cy="50400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procurement managers do not respect the policy</a:t>
            </a:r>
            <a:endParaRPr lang="zh-HK" altLang="en-US" sz="800" dirty="0"/>
          </a:p>
        </p:txBody>
      </p:sp>
      <p:sp>
        <p:nvSpPr>
          <p:cNvPr id="210" name="Rectangle: Rounded Corners 209">
            <a:extLst>
              <a:ext uri="{FF2B5EF4-FFF2-40B4-BE49-F238E27FC236}">
                <a16:creationId xmlns:a16="http://schemas.microsoft.com/office/drawing/2014/main" id="{ABA52AEA-EEEB-0E7B-D381-D78F017C729E}"/>
              </a:ext>
            </a:extLst>
          </p:cNvPr>
          <p:cNvSpPr/>
          <p:nvPr/>
        </p:nvSpPr>
        <p:spPr>
          <a:xfrm>
            <a:off x="3035375" y="5473445"/>
            <a:ext cx="1019537" cy="5658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cannot effectively command others in the company</a:t>
            </a:r>
            <a:endParaRPr lang="zh-HK" altLang="en-US" sz="800" dirty="0"/>
          </a:p>
        </p:txBody>
      </p:sp>
      <p:sp>
        <p:nvSpPr>
          <p:cNvPr id="211" name="Rectangle: Rounded Corners 210">
            <a:extLst>
              <a:ext uri="{FF2B5EF4-FFF2-40B4-BE49-F238E27FC236}">
                <a16:creationId xmlns:a16="http://schemas.microsoft.com/office/drawing/2014/main" id="{311F8199-C8D5-9759-4D26-B070A225C62E}"/>
              </a:ext>
            </a:extLst>
          </p:cNvPr>
          <p:cNvSpPr/>
          <p:nvPr/>
        </p:nvSpPr>
        <p:spPr>
          <a:xfrm>
            <a:off x="3028462" y="1881628"/>
            <a:ext cx="2058375" cy="39131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Corporate Vice President of Procurement does not directly command the plant procurement departments</a:t>
            </a:r>
            <a:endParaRPr lang="zh-HK" altLang="en-US" sz="800" dirty="0"/>
          </a:p>
        </p:txBody>
      </p:sp>
      <p:sp>
        <p:nvSpPr>
          <p:cNvPr id="212" name="Rectangle: Rounded Corners 211">
            <a:extLst>
              <a:ext uri="{FF2B5EF4-FFF2-40B4-BE49-F238E27FC236}">
                <a16:creationId xmlns:a16="http://schemas.microsoft.com/office/drawing/2014/main" id="{9C9FDE7C-3923-550D-22F9-A6B5A45C64C6}"/>
              </a:ext>
            </a:extLst>
          </p:cNvPr>
          <p:cNvSpPr/>
          <p:nvPr/>
        </p:nvSpPr>
        <p:spPr>
          <a:xfrm>
            <a:off x="5641214" y="1633591"/>
            <a:ext cx="1626806" cy="37831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It takes effort to reorganize the organization across plants</a:t>
            </a:r>
            <a:endParaRPr lang="zh-HK" altLang="en-US" sz="800" dirty="0"/>
          </a:p>
        </p:txBody>
      </p:sp>
      <p:sp>
        <p:nvSpPr>
          <p:cNvPr id="213" name="Rectangle: Rounded Corners 212">
            <a:extLst>
              <a:ext uri="{FF2B5EF4-FFF2-40B4-BE49-F238E27FC236}">
                <a16:creationId xmlns:a16="http://schemas.microsoft.com/office/drawing/2014/main" id="{4C537220-4664-C4FD-F2D7-6ED478999ECA}"/>
              </a:ext>
            </a:extLst>
          </p:cNvPr>
          <p:cNvSpPr/>
          <p:nvPr/>
        </p:nvSpPr>
        <p:spPr>
          <a:xfrm>
            <a:off x="8264174" y="1748182"/>
            <a:ext cx="1406249" cy="16371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organization is large</a:t>
            </a:r>
            <a:endParaRPr lang="zh-HK" altLang="en-US" sz="800" dirty="0"/>
          </a:p>
        </p:txBody>
      </p:sp>
      <p:sp>
        <p:nvSpPr>
          <p:cNvPr id="214" name="Rectangle: Rounded Corners 213">
            <a:extLst>
              <a:ext uri="{FF2B5EF4-FFF2-40B4-BE49-F238E27FC236}">
                <a16:creationId xmlns:a16="http://schemas.microsoft.com/office/drawing/2014/main" id="{8E73DB41-3996-C4E0-9EDA-ABBDEF6200F8}"/>
              </a:ext>
            </a:extLst>
          </p:cNvPr>
          <p:cNvSpPr/>
          <p:nvPr/>
        </p:nvSpPr>
        <p:spPr>
          <a:xfrm>
            <a:off x="8206231" y="2361098"/>
            <a:ext cx="1692512" cy="18495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Resistance from plant managers</a:t>
            </a:r>
            <a:endParaRPr lang="zh-HK" altLang="en-US" sz="800" dirty="0"/>
          </a:p>
        </p:txBody>
      </p:sp>
      <p:sp>
        <p:nvSpPr>
          <p:cNvPr id="215" name="Rectangle: Rounded Corners 214">
            <a:extLst>
              <a:ext uri="{FF2B5EF4-FFF2-40B4-BE49-F238E27FC236}">
                <a16:creationId xmlns:a16="http://schemas.microsoft.com/office/drawing/2014/main" id="{2D6DB715-E94E-71A6-CB70-B27C4785109F}"/>
              </a:ext>
            </a:extLst>
          </p:cNvPr>
          <p:cNvSpPr/>
          <p:nvPr/>
        </p:nvSpPr>
        <p:spPr>
          <a:xfrm>
            <a:off x="10493022" y="2185449"/>
            <a:ext cx="1278872" cy="53624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Plants have been having high autonomy for a long time</a:t>
            </a:r>
            <a:endParaRPr lang="zh-HK" altLang="en-US" sz="800" dirty="0"/>
          </a:p>
        </p:txBody>
      </p:sp>
      <p:sp>
        <p:nvSpPr>
          <p:cNvPr id="216" name="Rectangle: Rounded Corners 215">
            <a:extLst>
              <a:ext uri="{FF2B5EF4-FFF2-40B4-BE49-F238E27FC236}">
                <a16:creationId xmlns:a16="http://schemas.microsoft.com/office/drawing/2014/main" id="{79F1C47C-6D09-3F69-076B-3DB8D53A78DA}"/>
              </a:ext>
            </a:extLst>
          </p:cNvPr>
          <p:cNvSpPr/>
          <p:nvPr/>
        </p:nvSpPr>
        <p:spPr>
          <a:xfrm>
            <a:off x="4443778" y="3035360"/>
            <a:ext cx="1243392" cy="4311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No technology to integrate information across plants</a:t>
            </a:r>
          </a:p>
        </p:txBody>
      </p:sp>
      <p:sp>
        <p:nvSpPr>
          <p:cNvPr id="217" name="Rectangle: Rounded Corners 216">
            <a:extLst>
              <a:ext uri="{FF2B5EF4-FFF2-40B4-BE49-F238E27FC236}">
                <a16:creationId xmlns:a16="http://schemas.microsoft.com/office/drawing/2014/main" id="{2EEE7992-7C29-7FE8-B584-3BAFB7418E67}"/>
              </a:ext>
            </a:extLst>
          </p:cNvPr>
          <p:cNvSpPr/>
          <p:nvPr/>
        </p:nvSpPr>
        <p:spPr>
          <a:xfrm>
            <a:off x="7141382" y="3068254"/>
            <a:ext cx="2390808" cy="37776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company has no technology department to improve internal efficiency</a:t>
            </a:r>
          </a:p>
        </p:txBody>
      </p:sp>
      <p:sp>
        <p:nvSpPr>
          <p:cNvPr id="218" name="Rectangle: Rounded Corners 217">
            <a:extLst>
              <a:ext uri="{FF2B5EF4-FFF2-40B4-BE49-F238E27FC236}">
                <a16:creationId xmlns:a16="http://schemas.microsoft.com/office/drawing/2014/main" id="{F30D6138-8A5A-3C66-B474-5808F3898A37}"/>
              </a:ext>
            </a:extLst>
          </p:cNvPr>
          <p:cNvSpPr/>
          <p:nvPr/>
        </p:nvSpPr>
        <p:spPr>
          <a:xfrm>
            <a:off x="7129539" y="3657562"/>
            <a:ext cx="1463197" cy="30777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Lack of desire within the company</a:t>
            </a:r>
          </a:p>
        </p:txBody>
      </p:sp>
      <p:sp>
        <p:nvSpPr>
          <p:cNvPr id="219" name="Rectangle: Rounded Corners 218">
            <a:extLst>
              <a:ext uri="{FF2B5EF4-FFF2-40B4-BE49-F238E27FC236}">
                <a16:creationId xmlns:a16="http://schemas.microsoft.com/office/drawing/2014/main" id="{0713ED82-4A43-BDBA-6910-D4B61B4F80B3}"/>
              </a:ext>
            </a:extLst>
          </p:cNvPr>
          <p:cNvSpPr/>
          <p:nvPr/>
        </p:nvSpPr>
        <p:spPr>
          <a:xfrm>
            <a:off x="10163206" y="3706101"/>
            <a:ext cx="1708695" cy="19932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Plants are highly autonomous</a:t>
            </a:r>
          </a:p>
        </p:txBody>
      </p:sp>
      <p:sp>
        <p:nvSpPr>
          <p:cNvPr id="220" name="Rectangle: Rounded Corners 219">
            <a:extLst>
              <a:ext uri="{FF2B5EF4-FFF2-40B4-BE49-F238E27FC236}">
                <a16:creationId xmlns:a16="http://schemas.microsoft.com/office/drawing/2014/main" id="{4E4D7854-8090-6CE0-4381-F16B2F3415AF}"/>
              </a:ext>
            </a:extLst>
          </p:cNvPr>
          <p:cNvSpPr/>
          <p:nvPr/>
        </p:nvSpPr>
        <p:spPr>
          <a:xfrm>
            <a:off x="10163207" y="4331350"/>
            <a:ext cx="1708695" cy="31837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Cooperation across plants are not actively encouraged</a:t>
            </a:r>
          </a:p>
        </p:txBody>
      </p:sp>
      <p:sp>
        <p:nvSpPr>
          <p:cNvPr id="221" name="Rectangle: Rounded Corners 220">
            <a:extLst>
              <a:ext uri="{FF2B5EF4-FFF2-40B4-BE49-F238E27FC236}">
                <a16:creationId xmlns:a16="http://schemas.microsoft.com/office/drawing/2014/main" id="{543C62EB-4131-21FC-800E-34415F8C7D92}"/>
              </a:ext>
            </a:extLst>
          </p:cNvPr>
          <p:cNvSpPr/>
          <p:nvPr/>
        </p:nvSpPr>
        <p:spPr>
          <a:xfrm>
            <a:off x="4522735" y="3993818"/>
            <a:ext cx="1419980" cy="34766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procurement managers do not respect Ed Claiborne</a:t>
            </a:r>
            <a:endParaRPr lang="zh-HK" altLang="en-US" sz="800" dirty="0"/>
          </a:p>
        </p:txBody>
      </p:sp>
      <p:sp>
        <p:nvSpPr>
          <p:cNvPr id="222" name="Rectangle: Rounded Corners 221">
            <a:extLst>
              <a:ext uri="{FF2B5EF4-FFF2-40B4-BE49-F238E27FC236}">
                <a16:creationId xmlns:a16="http://schemas.microsoft.com/office/drawing/2014/main" id="{C81AAD7F-6736-58FA-E175-40EA05C3ABBB}"/>
              </a:ext>
            </a:extLst>
          </p:cNvPr>
          <p:cNvSpPr/>
          <p:nvPr/>
        </p:nvSpPr>
        <p:spPr>
          <a:xfrm>
            <a:off x="4510308" y="5107296"/>
            <a:ext cx="1432406" cy="30834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There is little penalty not following the policy</a:t>
            </a:r>
            <a:endParaRPr lang="zh-HK" altLang="en-US" sz="800" dirty="0"/>
          </a:p>
        </p:txBody>
      </p:sp>
      <p:sp>
        <p:nvSpPr>
          <p:cNvPr id="223" name="Rectangle: Rounded Corners 222">
            <a:extLst>
              <a:ext uri="{FF2B5EF4-FFF2-40B4-BE49-F238E27FC236}">
                <a16:creationId xmlns:a16="http://schemas.microsoft.com/office/drawing/2014/main" id="{A2EA44D2-DF36-690E-F36A-89B9CE05EF10}"/>
              </a:ext>
            </a:extLst>
          </p:cNvPr>
          <p:cNvSpPr/>
          <p:nvPr/>
        </p:nvSpPr>
        <p:spPr>
          <a:xfrm>
            <a:off x="6708021" y="4064891"/>
            <a:ext cx="2344466" cy="19937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is newly employed by the company</a:t>
            </a:r>
            <a:endParaRPr lang="zh-HK" altLang="en-US" sz="800" dirty="0"/>
          </a:p>
        </p:txBody>
      </p:sp>
      <p:sp>
        <p:nvSpPr>
          <p:cNvPr id="224" name="Rectangle: Rounded Corners 223">
            <a:extLst>
              <a:ext uri="{FF2B5EF4-FFF2-40B4-BE49-F238E27FC236}">
                <a16:creationId xmlns:a16="http://schemas.microsoft.com/office/drawing/2014/main" id="{75BF71DB-0F17-A46D-D25E-7BAEDE97EF0A}"/>
              </a:ext>
            </a:extLst>
          </p:cNvPr>
          <p:cNvSpPr/>
          <p:nvPr/>
        </p:nvSpPr>
        <p:spPr>
          <a:xfrm>
            <a:off x="7129539" y="4803156"/>
            <a:ext cx="1840290" cy="17392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did not visit the plants</a:t>
            </a:r>
            <a:endParaRPr lang="zh-HK" altLang="en-US" sz="800" dirty="0"/>
          </a:p>
        </p:txBody>
      </p:sp>
      <p:sp>
        <p:nvSpPr>
          <p:cNvPr id="225" name="Rectangle: Rounded Corners 224">
            <a:extLst>
              <a:ext uri="{FF2B5EF4-FFF2-40B4-BE49-F238E27FC236}">
                <a16:creationId xmlns:a16="http://schemas.microsoft.com/office/drawing/2014/main" id="{BF1D7910-FF5D-079E-874D-0EC8969ED0BF}"/>
              </a:ext>
            </a:extLst>
          </p:cNvPr>
          <p:cNvSpPr/>
          <p:nvPr/>
        </p:nvSpPr>
        <p:spPr>
          <a:xfrm>
            <a:off x="7073681" y="5172290"/>
            <a:ext cx="2096111" cy="17068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management is highly autonomous</a:t>
            </a:r>
            <a:endParaRPr lang="zh-HK" altLang="en-US" sz="800" dirty="0"/>
          </a:p>
        </p:txBody>
      </p:sp>
      <p:sp>
        <p:nvSpPr>
          <p:cNvPr id="226" name="Rectangle: Rounded Corners 225">
            <a:extLst>
              <a:ext uri="{FF2B5EF4-FFF2-40B4-BE49-F238E27FC236}">
                <a16:creationId xmlns:a16="http://schemas.microsoft.com/office/drawing/2014/main" id="{F1AC5F72-031A-83E7-0DFB-ED576151C9FA}"/>
              </a:ext>
            </a:extLst>
          </p:cNvPr>
          <p:cNvSpPr/>
          <p:nvPr/>
        </p:nvSpPr>
        <p:spPr>
          <a:xfrm>
            <a:off x="4401825" y="5533358"/>
            <a:ext cx="1370024" cy="44597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Others in the company do not like Ed Claiborne</a:t>
            </a:r>
            <a:endParaRPr lang="zh-HK" altLang="en-US" sz="800" dirty="0"/>
          </a:p>
        </p:txBody>
      </p:sp>
      <p:sp>
        <p:nvSpPr>
          <p:cNvPr id="227" name="Rectangle: Rounded Corners 226">
            <a:extLst>
              <a:ext uri="{FF2B5EF4-FFF2-40B4-BE49-F238E27FC236}">
                <a16:creationId xmlns:a16="http://schemas.microsoft.com/office/drawing/2014/main" id="{4D8BBE3B-FDED-C640-B185-8D3C3D82FAE1}"/>
              </a:ext>
            </a:extLst>
          </p:cNvPr>
          <p:cNvSpPr/>
          <p:nvPr/>
        </p:nvSpPr>
        <p:spPr>
          <a:xfrm>
            <a:off x="6508198" y="5751048"/>
            <a:ext cx="1694537" cy="32831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is incompatible with the established company values</a:t>
            </a:r>
            <a:endParaRPr lang="zh-HK" altLang="en-US" sz="800" dirty="0"/>
          </a:p>
        </p:txBody>
      </p:sp>
      <p:sp>
        <p:nvSpPr>
          <p:cNvPr id="233" name="Rectangle: Rounded Corners 232">
            <a:extLst>
              <a:ext uri="{FF2B5EF4-FFF2-40B4-BE49-F238E27FC236}">
                <a16:creationId xmlns:a16="http://schemas.microsoft.com/office/drawing/2014/main" id="{81842B5F-A5D6-3848-9F99-8DB7AC4BD2FB}"/>
              </a:ext>
            </a:extLst>
          </p:cNvPr>
          <p:cNvSpPr/>
          <p:nvPr/>
        </p:nvSpPr>
        <p:spPr>
          <a:xfrm>
            <a:off x="9878048" y="5843895"/>
            <a:ext cx="2008589" cy="16348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values control</a:t>
            </a:r>
            <a:endParaRPr lang="zh-HK" altLang="en-US" sz="800" dirty="0"/>
          </a:p>
        </p:txBody>
      </p:sp>
      <p:sp>
        <p:nvSpPr>
          <p:cNvPr id="234" name="Rectangle: Rounded Corners 233">
            <a:extLst>
              <a:ext uri="{FF2B5EF4-FFF2-40B4-BE49-F238E27FC236}">
                <a16:creationId xmlns:a16="http://schemas.microsoft.com/office/drawing/2014/main" id="{C6E9754B-9E57-DB7C-FF1C-34C1B1D00DE3}"/>
              </a:ext>
            </a:extLst>
          </p:cNvPr>
          <p:cNvSpPr/>
          <p:nvPr/>
        </p:nvSpPr>
        <p:spPr>
          <a:xfrm>
            <a:off x="9884518" y="6347296"/>
            <a:ext cx="2155646" cy="3057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established company values are autonomy and decentralization</a:t>
            </a:r>
            <a:endParaRPr lang="zh-HK" altLang="en-US" sz="800" dirty="0"/>
          </a:p>
        </p:txBody>
      </p:sp>
      <p:sp>
        <p:nvSpPr>
          <p:cNvPr id="235" name="Rectangle: Rounded Corners 234">
            <a:extLst>
              <a:ext uri="{FF2B5EF4-FFF2-40B4-BE49-F238E27FC236}">
                <a16:creationId xmlns:a16="http://schemas.microsoft.com/office/drawing/2014/main" id="{B766AC13-96BE-B921-1C4F-6F31CFF36564}"/>
              </a:ext>
            </a:extLst>
          </p:cNvPr>
          <p:cNvSpPr/>
          <p:nvPr/>
        </p:nvSpPr>
        <p:spPr>
          <a:xfrm>
            <a:off x="100996" y="1746553"/>
            <a:ext cx="1031118" cy="653142"/>
          </a:xfrm>
          <a:prstGeom prst="roundRect">
            <a:avLst/>
          </a:prstGeom>
          <a:solidFill>
            <a:srgbClr val="FF0000"/>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solidFill>
                  <a:schemeClr val="bg1"/>
                </a:solidFill>
              </a:rPr>
              <a:t>Failure of implementing new procurement policy</a:t>
            </a:r>
            <a:endParaRPr lang="zh-HK" altLang="en-US" sz="800" dirty="0">
              <a:solidFill>
                <a:schemeClr val="bg1"/>
              </a:solidFill>
            </a:endParaRPr>
          </a:p>
        </p:txBody>
      </p:sp>
      <p:sp>
        <p:nvSpPr>
          <p:cNvPr id="236" name="Rectangle: Rounded Corners 235">
            <a:extLst>
              <a:ext uri="{FF2B5EF4-FFF2-40B4-BE49-F238E27FC236}">
                <a16:creationId xmlns:a16="http://schemas.microsoft.com/office/drawing/2014/main" id="{1E686DE5-24B1-4EBC-1C9A-A7E833183D36}"/>
              </a:ext>
            </a:extLst>
          </p:cNvPr>
          <p:cNvSpPr/>
          <p:nvPr/>
        </p:nvSpPr>
        <p:spPr>
          <a:xfrm>
            <a:off x="1313541" y="1821075"/>
            <a:ext cx="1207107" cy="4915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managers not reporting contracts over $250k in advance of 2 weeks</a:t>
            </a:r>
            <a:endParaRPr lang="zh-HK" altLang="en-US" sz="800" dirty="0"/>
          </a:p>
        </p:txBody>
      </p:sp>
      <p:cxnSp>
        <p:nvCxnSpPr>
          <p:cNvPr id="237" name="Connector: Elbow 236">
            <a:extLst>
              <a:ext uri="{FF2B5EF4-FFF2-40B4-BE49-F238E27FC236}">
                <a16:creationId xmlns:a16="http://schemas.microsoft.com/office/drawing/2014/main" id="{EA1CD14F-5449-494F-E63F-CC91502E3C26}"/>
              </a:ext>
            </a:extLst>
          </p:cNvPr>
          <p:cNvCxnSpPr>
            <a:stCxn id="236" idx="1"/>
            <a:endCxn id="235" idx="3"/>
          </p:cNvCxnSpPr>
          <p:nvPr/>
        </p:nvCxnSpPr>
        <p:spPr>
          <a:xfrm rot="10800000" flipV="1">
            <a:off x="1132115" y="2066842"/>
            <a:ext cx="181427" cy="628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9" name="Connector: Elbow 238">
            <a:extLst>
              <a:ext uri="{FF2B5EF4-FFF2-40B4-BE49-F238E27FC236}">
                <a16:creationId xmlns:a16="http://schemas.microsoft.com/office/drawing/2014/main" id="{0173AACA-CF96-26C4-3C7B-A18BBDF9422C}"/>
              </a:ext>
            </a:extLst>
          </p:cNvPr>
          <p:cNvCxnSpPr>
            <a:cxnSpLocks/>
            <a:stCxn id="211" idx="1"/>
            <a:endCxn id="236" idx="3"/>
          </p:cNvCxnSpPr>
          <p:nvPr/>
        </p:nvCxnSpPr>
        <p:spPr>
          <a:xfrm rot="10800000">
            <a:off x="2520648" y="2066842"/>
            <a:ext cx="507814" cy="1044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1" name="Connector: Elbow 240">
            <a:extLst>
              <a:ext uri="{FF2B5EF4-FFF2-40B4-BE49-F238E27FC236}">
                <a16:creationId xmlns:a16="http://schemas.microsoft.com/office/drawing/2014/main" id="{9C58CCE4-9BCA-EA29-7DED-25C330A489E3}"/>
              </a:ext>
            </a:extLst>
          </p:cNvPr>
          <p:cNvCxnSpPr>
            <a:cxnSpLocks/>
            <a:stCxn id="208" idx="1"/>
            <a:endCxn id="236" idx="3"/>
          </p:cNvCxnSpPr>
          <p:nvPr/>
        </p:nvCxnSpPr>
        <p:spPr>
          <a:xfrm rot="10800000">
            <a:off x="2520649" y="2066842"/>
            <a:ext cx="492267" cy="119743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4" name="Connector: Elbow 243">
            <a:extLst>
              <a:ext uri="{FF2B5EF4-FFF2-40B4-BE49-F238E27FC236}">
                <a16:creationId xmlns:a16="http://schemas.microsoft.com/office/drawing/2014/main" id="{4208364D-FF5B-9BFA-A39B-2827DE9115E1}"/>
              </a:ext>
            </a:extLst>
          </p:cNvPr>
          <p:cNvCxnSpPr>
            <a:cxnSpLocks/>
            <a:stCxn id="209" idx="1"/>
            <a:endCxn id="236" idx="3"/>
          </p:cNvCxnSpPr>
          <p:nvPr/>
        </p:nvCxnSpPr>
        <p:spPr>
          <a:xfrm rot="10800000">
            <a:off x="2520648" y="2066842"/>
            <a:ext cx="510304" cy="211163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0" name="Connector: Elbow 249">
            <a:extLst>
              <a:ext uri="{FF2B5EF4-FFF2-40B4-BE49-F238E27FC236}">
                <a16:creationId xmlns:a16="http://schemas.microsoft.com/office/drawing/2014/main" id="{06B5C029-7D7C-ECB8-F0D8-35E595AB4474}"/>
              </a:ext>
            </a:extLst>
          </p:cNvPr>
          <p:cNvCxnSpPr>
            <a:cxnSpLocks/>
            <a:stCxn id="210" idx="1"/>
            <a:endCxn id="236" idx="3"/>
          </p:cNvCxnSpPr>
          <p:nvPr/>
        </p:nvCxnSpPr>
        <p:spPr>
          <a:xfrm rot="10800000">
            <a:off x="2520649" y="2066842"/>
            <a:ext cx="514727" cy="368950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2" name="Connector: Elbow 251">
            <a:extLst>
              <a:ext uri="{FF2B5EF4-FFF2-40B4-BE49-F238E27FC236}">
                <a16:creationId xmlns:a16="http://schemas.microsoft.com/office/drawing/2014/main" id="{53012372-F828-9F76-651F-96AA590E4D56}"/>
              </a:ext>
            </a:extLst>
          </p:cNvPr>
          <p:cNvCxnSpPr>
            <a:cxnSpLocks/>
            <a:stCxn id="212" idx="1"/>
            <a:endCxn id="211" idx="3"/>
          </p:cNvCxnSpPr>
          <p:nvPr/>
        </p:nvCxnSpPr>
        <p:spPr>
          <a:xfrm rot="10800000" flipV="1">
            <a:off x="5086838" y="1822750"/>
            <a:ext cx="554377" cy="25453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4" name="Connector: Elbow 253">
            <a:extLst>
              <a:ext uri="{FF2B5EF4-FFF2-40B4-BE49-F238E27FC236}">
                <a16:creationId xmlns:a16="http://schemas.microsoft.com/office/drawing/2014/main" id="{C9CD77B3-224D-A37B-9156-890CB63410FC}"/>
              </a:ext>
            </a:extLst>
          </p:cNvPr>
          <p:cNvCxnSpPr>
            <a:cxnSpLocks/>
            <a:stCxn id="213" idx="1"/>
            <a:endCxn id="212" idx="3"/>
          </p:cNvCxnSpPr>
          <p:nvPr/>
        </p:nvCxnSpPr>
        <p:spPr>
          <a:xfrm rot="10800000">
            <a:off x="7268020" y="1822750"/>
            <a:ext cx="996154" cy="7288"/>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6" name="Connector: Elbow 255">
            <a:extLst>
              <a:ext uri="{FF2B5EF4-FFF2-40B4-BE49-F238E27FC236}">
                <a16:creationId xmlns:a16="http://schemas.microsoft.com/office/drawing/2014/main" id="{7026EC69-7A20-0D76-77C9-B3920C128E70}"/>
              </a:ext>
            </a:extLst>
          </p:cNvPr>
          <p:cNvCxnSpPr>
            <a:cxnSpLocks/>
            <a:stCxn id="214" idx="1"/>
            <a:endCxn id="212" idx="3"/>
          </p:cNvCxnSpPr>
          <p:nvPr/>
        </p:nvCxnSpPr>
        <p:spPr>
          <a:xfrm rot="10800000">
            <a:off x="7268021" y="1822750"/>
            <a:ext cx="938211" cy="63082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8" name="Connector: Elbow 257">
            <a:extLst>
              <a:ext uri="{FF2B5EF4-FFF2-40B4-BE49-F238E27FC236}">
                <a16:creationId xmlns:a16="http://schemas.microsoft.com/office/drawing/2014/main" id="{DB47626C-A639-1586-0925-1BA179CC58B2}"/>
              </a:ext>
            </a:extLst>
          </p:cNvPr>
          <p:cNvCxnSpPr>
            <a:cxnSpLocks/>
            <a:stCxn id="215" idx="1"/>
            <a:endCxn id="214" idx="3"/>
          </p:cNvCxnSpPr>
          <p:nvPr/>
        </p:nvCxnSpPr>
        <p:spPr>
          <a:xfrm rot="10800000">
            <a:off x="9898744" y="2453574"/>
            <a:ext cx="594279" cy="12700"/>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0" name="Connector: Elbow 259">
            <a:extLst>
              <a:ext uri="{FF2B5EF4-FFF2-40B4-BE49-F238E27FC236}">
                <a16:creationId xmlns:a16="http://schemas.microsoft.com/office/drawing/2014/main" id="{081FCADE-4BB6-E295-C65B-2C74DE9C2EF1}"/>
              </a:ext>
            </a:extLst>
          </p:cNvPr>
          <p:cNvCxnSpPr>
            <a:cxnSpLocks/>
            <a:stCxn id="216" idx="1"/>
            <a:endCxn id="208" idx="3"/>
          </p:cNvCxnSpPr>
          <p:nvPr/>
        </p:nvCxnSpPr>
        <p:spPr>
          <a:xfrm rot="10800000" flipV="1">
            <a:off x="4124470" y="3250910"/>
            <a:ext cx="319309" cy="13361"/>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2" name="Connector: Elbow 261">
            <a:extLst>
              <a:ext uri="{FF2B5EF4-FFF2-40B4-BE49-F238E27FC236}">
                <a16:creationId xmlns:a16="http://schemas.microsoft.com/office/drawing/2014/main" id="{9B9C5DCD-5D33-06C0-A389-9ABDEB42B3E3}"/>
              </a:ext>
            </a:extLst>
          </p:cNvPr>
          <p:cNvCxnSpPr>
            <a:cxnSpLocks/>
            <a:stCxn id="217" idx="1"/>
            <a:endCxn id="216" idx="3"/>
          </p:cNvCxnSpPr>
          <p:nvPr/>
        </p:nvCxnSpPr>
        <p:spPr>
          <a:xfrm rot="10800000">
            <a:off x="5687170" y="3250911"/>
            <a:ext cx="1454212" cy="622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4" name="Connector: Elbow 263">
            <a:extLst>
              <a:ext uri="{FF2B5EF4-FFF2-40B4-BE49-F238E27FC236}">
                <a16:creationId xmlns:a16="http://schemas.microsoft.com/office/drawing/2014/main" id="{3B104A93-07C0-FDC3-B42F-65827E2FDF9D}"/>
              </a:ext>
            </a:extLst>
          </p:cNvPr>
          <p:cNvCxnSpPr>
            <a:cxnSpLocks/>
            <a:stCxn id="218" idx="1"/>
            <a:endCxn id="216" idx="3"/>
          </p:cNvCxnSpPr>
          <p:nvPr/>
        </p:nvCxnSpPr>
        <p:spPr>
          <a:xfrm rot="10800000">
            <a:off x="5687171" y="3250911"/>
            <a:ext cx="1442369" cy="56054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6" name="Connector: Elbow 265">
            <a:extLst>
              <a:ext uri="{FF2B5EF4-FFF2-40B4-BE49-F238E27FC236}">
                <a16:creationId xmlns:a16="http://schemas.microsoft.com/office/drawing/2014/main" id="{F68D24BD-BB81-7F4B-04DC-47957EA3D96E}"/>
              </a:ext>
            </a:extLst>
          </p:cNvPr>
          <p:cNvCxnSpPr>
            <a:cxnSpLocks/>
            <a:stCxn id="219" idx="1"/>
            <a:endCxn id="218" idx="3"/>
          </p:cNvCxnSpPr>
          <p:nvPr/>
        </p:nvCxnSpPr>
        <p:spPr>
          <a:xfrm rot="10800000" flipV="1">
            <a:off x="8592736" y="3805765"/>
            <a:ext cx="1570470" cy="568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8" name="Connector: Elbow 267">
            <a:extLst>
              <a:ext uri="{FF2B5EF4-FFF2-40B4-BE49-F238E27FC236}">
                <a16:creationId xmlns:a16="http://schemas.microsoft.com/office/drawing/2014/main" id="{FA1613EE-AD07-E31B-1315-531E1067E46F}"/>
              </a:ext>
            </a:extLst>
          </p:cNvPr>
          <p:cNvCxnSpPr>
            <a:cxnSpLocks/>
            <a:stCxn id="220" idx="1"/>
            <a:endCxn id="218" idx="3"/>
          </p:cNvCxnSpPr>
          <p:nvPr/>
        </p:nvCxnSpPr>
        <p:spPr>
          <a:xfrm rot="10800000">
            <a:off x="8592737" y="3811452"/>
            <a:ext cx="1570471" cy="679085"/>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0" name="Connector: Elbow 269">
            <a:extLst>
              <a:ext uri="{FF2B5EF4-FFF2-40B4-BE49-F238E27FC236}">
                <a16:creationId xmlns:a16="http://schemas.microsoft.com/office/drawing/2014/main" id="{9EC0EDAD-E824-C256-8DBE-4A8858E25779}"/>
              </a:ext>
            </a:extLst>
          </p:cNvPr>
          <p:cNvCxnSpPr>
            <a:cxnSpLocks/>
            <a:stCxn id="221" idx="1"/>
            <a:endCxn id="209" idx="3"/>
          </p:cNvCxnSpPr>
          <p:nvPr/>
        </p:nvCxnSpPr>
        <p:spPr>
          <a:xfrm rot="10800000" flipV="1">
            <a:off x="4078879" y="4167650"/>
            <a:ext cx="443857" cy="1082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5" name="Connector: Elbow 274">
            <a:extLst>
              <a:ext uri="{FF2B5EF4-FFF2-40B4-BE49-F238E27FC236}">
                <a16:creationId xmlns:a16="http://schemas.microsoft.com/office/drawing/2014/main" id="{FCED563B-66B7-DFAD-7AFF-7B937FB2C045}"/>
              </a:ext>
            </a:extLst>
          </p:cNvPr>
          <p:cNvCxnSpPr>
            <a:cxnSpLocks/>
            <a:stCxn id="223" idx="1"/>
            <a:endCxn id="221" idx="3"/>
          </p:cNvCxnSpPr>
          <p:nvPr/>
        </p:nvCxnSpPr>
        <p:spPr>
          <a:xfrm rot="10800000" flipV="1">
            <a:off x="5942715" y="4164577"/>
            <a:ext cx="765306" cy="3073"/>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0" name="Connector: Elbow 279">
            <a:extLst>
              <a:ext uri="{FF2B5EF4-FFF2-40B4-BE49-F238E27FC236}">
                <a16:creationId xmlns:a16="http://schemas.microsoft.com/office/drawing/2014/main" id="{0D64B00A-E6E9-7AFE-7CB5-40EE75534919}"/>
              </a:ext>
            </a:extLst>
          </p:cNvPr>
          <p:cNvCxnSpPr>
            <a:cxnSpLocks/>
            <a:stCxn id="222" idx="1"/>
            <a:endCxn id="209" idx="3"/>
          </p:cNvCxnSpPr>
          <p:nvPr/>
        </p:nvCxnSpPr>
        <p:spPr>
          <a:xfrm rot="10800000">
            <a:off x="4078878" y="4178479"/>
            <a:ext cx="431430" cy="108298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2" name="Connector: Elbow 281">
            <a:extLst>
              <a:ext uri="{FF2B5EF4-FFF2-40B4-BE49-F238E27FC236}">
                <a16:creationId xmlns:a16="http://schemas.microsoft.com/office/drawing/2014/main" id="{0EBC3FA5-72DB-ACF1-CF92-CF973AE1427F}"/>
              </a:ext>
            </a:extLst>
          </p:cNvPr>
          <p:cNvCxnSpPr>
            <a:cxnSpLocks/>
            <a:stCxn id="225" idx="1"/>
            <a:endCxn id="222" idx="3"/>
          </p:cNvCxnSpPr>
          <p:nvPr/>
        </p:nvCxnSpPr>
        <p:spPr>
          <a:xfrm rot="10800000" flipV="1">
            <a:off x="5942715" y="5257633"/>
            <a:ext cx="1130967" cy="3833"/>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4" name="Connector: Elbow 283">
            <a:extLst>
              <a:ext uri="{FF2B5EF4-FFF2-40B4-BE49-F238E27FC236}">
                <a16:creationId xmlns:a16="http://schemas.microsoft.com/office/drawing/2014/main" id="{B8E57A84-0945-CB82-2034-322E3194E1A9}"/>
              </a:ext>
            </a:extLst>
          </p:cNvPr>
          <p:cNvCxnSpPr>
            <a:cxnSpLocks/>
            <a:stCxn id="226" idx="1"/>
            <a:endCxn id="210" idx="3"/>
          </p:cNvCxnSpPr>
          <p:nvPr/>
        </p:nvCxnSpPr>
        <p:spPr>
          <a:xfrm rot="10800000">
            <a:off x="4054913" y="5756346"/>
            <a:ext cx="346913" cy="1270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7" name="Connector: Elbow 286">
            <a:extLst>
              <a:ext uri="{FF2B5EF4-FFF2-40B4-BE49-F238E27FC236}">
                <a16:creationId xmlns:a16="http://schemas.microsoft.com/office/drawing/2014/main" id="{483272E2-F04D-4FEE-239D-094C77E7D6EF}"/>
              </a:ext>
            </a:extLst>
          </p:cNvPr>
          <p:cNvCxnSpPr>
            <a:cxnSpLocks/>
            <a:stCxn id="227" idx="1"/>
            <a:endCxn id="226" idx="3"/>
          </p:cNvCxnSpPr>
          <p:nvPr/>
        </p:nvCxnSpPr>
        <p:spPr>
          <a:xfrm rot="10800000">
            <a:off x="5771850" y="5756347"/>
            <a:ext cx="736349" cy="158859"/>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9" name="Connector: Elbow 288">
            <a:extLst>
              <a:ext uri="{FF2B5EF4-FFF2-40B4-BE49-F238E27FC236}">
                <a16:creationId xmlns:a16="http://schemas.microsoft.com/office/drawing/2014/main" id="{0899D824-1E10-366C-89F0-8EF4013208A3}"/>
              </a:ext>
            </a:extLst>
          </p:cNvPr>
          <p:cNvCxnSpPr>
            <a:cxnSpLocks/>
            <a:stCxn id="233" idx="1"/>
            <a:endCxn id="227" idx="3"/>
          </p:cNvCxnSpPr>
          <p:nvPr/>
        </p:nvCxnSpPr>
        <p:spPr>
          <a:xfrm rot="10800000">
            <a:off x="8202736" y="5915206"/>
            <a:ext cx="1675313" cy="10433"/>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1" name="Connector: Elbow 290">
            <a:extLst>
              <a:ext uri="{FF2B5EF4-FFF2-40B4-BE49-F238E27FC236}">
                <a16:creationId xmlns:a16="http://schemas.microsoft.com/office/drawing/2014/main" id="{498456FE-D7D4-E1A7-A19D-75B90065FF39}"/>
              </a:ext>
            </a:extLst>
          </p:cNvPr>
          <p:cNvCxnSpPr>
            <a:cxnSpLocks/>
            <a:stCxn id="234" idx="1"/>
            <a:endCxn id="227" idx="3"/>
          </p:cNvCxnSpPr>
          <p:nvPr/>
        </p:nvCxnSpPr>
        <p:spPr>
          <a:xfrm rot="10800000">
            <a:off x="8202736" y="5915205"/>
            <a:ext cx="1681783" cy="58494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294" name="Rectangle: Rounded Corners 293">
            <a:extLst>
              <a:ext uri="{FF2B5EF4-FFF2-40B4-BE49-F238E27FC236}">
                <a16:creationId xmlns:a16="http://schemas.microsoft.com/office/drawing/2014/main" id="{6A7986D4-4BEA-8845-EC49-2ED61E08EE44}"/>
              </a:ext>
            </a:extLst>
          </p:cNvPr>
          <p:cNvSpPr/>
          <p:nvPr/>
        </p:nvSpPr>
        <p:spPr>
          <a:xfrm>
            <a:off x="3245150" y="2258010"/>
            <a:ext cx="1966438" cy="272377"/>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procurement did not comply with the policy</a:t>
            </a:r>
            <a:endParaRPr lang="zh-HK" altLang="en-US" sz="800" dirty="0"/>
          </a:p>
        </p:txBody>
      </p:sp>
      <p:sp>
        <p:nvSpPr>
          <p:cNvPr id="295" name="Rectangle: Rounded Corners 294">
            <a:extLst>
              <a:ext uri="{FF2B5EF4-FFF2-40B4-BE49-F238E27FC236}">
                <a16:creationId xmlns:a16="http://schemas.microsoft.com/office/drawing/2014/main" id="{877FBDB6-873E-2F6C-21F3-51562BDD1BDB}"/>
              </a:ext>
            </a:extLst>
          </p:cNvPr>
          <p:cNvSpPr/>
          <p:nvPr/>
        </p:nvSpPr>
        <p:spPr>
          <a:xfrm>
            <a:off x="2974479" y="1580922"/>
            <a:ext cx="2351106" cy="311048"/>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Restructure the company to make procurement more centralized</a:t>
            </a:r>
            <a:endParaRPr lang="zh-HK" altLang="en-US" sz="800" dirty="0"/>
          </a:p>
        </p:txBody>
      </p:sp>
      <p:sp>
        <p:nvSpPr>
          <p:cNvPr id="296" name="Rectangle: Rounded Corners 295">
            <a:extLst>
              <a:ext uri="{FF2B5EF4-FFF2-40B4-BE49-F238E27FC236}">
                <a16:creationId xmlns:a16="http://schemas.microsoft.com/office/drawing/2014/main" id="{56BBD425-B761-4FF0-B782-49CF8C33196E}"/>
              </a:ext>
            </a:extLst>
          </p:cNvPr>
          <p:cNvSpPr/>
          <p:nvPr/>
        </p:nvSpPr>
        <p:spPr>
          <a:xfrm>
            <a:off x="8188093" y="1880751"/>
            <a:ext cx="1854808" cy="305202"/>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The company has 21 manufacturing plants in the United States</a:t>
            </a:r>
            <a:endParaRPr lang="zh-HK" altLang="en-US" sz="800" dirty="0"/>
          </a:p>
        </p:txBody>
      </p:sp>
      <p:sp>
        <p:nvSpPr>
          <p:cNvPr id="297" name="Rectangle: Rounded Corners 296">
            <a:extLst>
              <a:ext uri="{FF2B5EF4-FFF2-40B4-BE49-F238E27FC236}">
                <a16:creationId xmlns:a16="http://schemas.microsoft.com/office/drawing/2014/main" id="{8CDD6C13-2F29-C491-81A9-92EEAAD1C350}"/>
              </a:ext>
            </a:extLst>
          </p:cNvPr>
          <p:cNvSpPr/>
          <p:nvPr/>
        </p:nvSpPr>
        <p:spPr>
          <a:xfrm>
            <a:off x="4208864" y="2792473"/>
            <a:ext cx="1628288" cy="256927"/>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Invest in information technology to manage plants</a:t>
            </a:r>
            <a:endParaRPr lang="zh-HK" altLang="en-US" sz="800" dirty="0"/>
          </a:p>
        </p:txBody>
      </p:sp>
      <p:sp>
        <p:nvSpPr>
          <p:cNvPr id="298" name="Rectangle: Rounded Corners 297">
            <a:extLst>
              <a:ext uri="{FF2B5EF4-FFF2-40B4-BE49-F238E27FC236}">
                <a16:creationId xmlns:a16="http://schemas.microsoft.com/office/drawing/2014/main" id="{FB3C5FCF-E0C0-ADFF-B820-3AAE6D4B533B}"/>
              </a:ext>
            </a:extLst>
          </p:cNvPr>
          <p:cNvSpPr/>
          <p:nvPr/>
        </p:nvSpPr>
        <p:spPr>
          <a:xfrm>
            <a:off x="4232957" y="3409053"/>
            <a:ext cx="1577218" cy="402420"/>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 managers informally share information on vendors with each other</a:t>
            </a:r>
            <a:endParaRPr lang="zh-HK" altLang="en-US" sz="800" dirty="0"/>
          </a:p>
        </p:txBody>
      </p:sp>
      <p:sp>
        <p:nvSpPr>
          <p:cNvPr id="299" name="Rectangle: Rounded Corners 298">
            <a:extLst>
              <a:ext uri="{FF2B5EF4-FFF2-40B4-BE49-F238E27FC236}">
                <a16:creationId xmlns:a16="http://schemas.microsoft.com/office/drawing/2014/main" id="{542BEEB3-0A3B-0F25-ED6A-DE948B2D6539}"/>
              </a:ext>
            </a:extLst>
          </p:cNvPr>
          <p:cNvSpPr/>
          <p:nvPr/>
        </p:nvSpPr>
        <p:spPr>
          <a:xfrm>
            <a:off x="7158562" y="2883589"/>
            <a:ext cx="2180789" cy="206595"/>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Setup a technology department</a:t>
            </a:r>
            <a:endParaRPr lang="zh-HK" altLang="en-US" sz="800" dirty="0"/>
          </a:p>
        </p:txBody>
      </p:sp>
      <p:sp>
        <p:nvSpPr>
          <p:cNvPr id="300" name="Rectangle: Rounded Corners 299">
            <a:extLst>
              <a:ext uri="{FF2B5EF4-FFF2-40B4-BE49-F238E27FC236}">
                <a16:creationId xmlns:a16="http://schemas.microsoft.com/office/drawing/2014/main" id="{2526AE30-659F-E9F1-F074-14E33A91D939}"/>
              </a:ext>
            </a:extLst>
          </p:cNvPr>
          <p:cNvSpPr/>
          <p:nvPr/>
        </p:nvSpPr>
        <p:spPr>
          <a:xfrm>
            <a:off x="10168956" y="4027624"/>
            <a:ext cx="1708695" cy="318373"/>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Setup incentives to encourage cooperation across plants</a:t>
            </a:r>
            <a:endParaRPr lang="zh-HK" altLang="en-US" sz="800" dirty="0"/>
          </a:p>
        </p:txBody>
      </p:sp>
      <p:sp>
        <p:nvSpPr>
          <p:cNvPr id="301" name="Rectangle: Rounded Corners 300">
            <a:extLst>
              <a:ext uri="{FF2B5EF4-FFF2-40B4-BE49-F238E27FC236}">
                <a16:creationId xmlns:a16="http://schemas.microsoft.com/office/drawing/2014/main" id="{A6324E94-816F-F2A6-C9E7-F8F8007673DF}"/>
              </a:ext>
            </a:extLst>
          </p:cNvPr>
          <p:cNvSpPr/>
          <p:nvPr/>
        </p:nvSpPr>
        <p:spPr>
          <a:xfrm>
            <a:off x="6753400" y="4533859"/>
            <a:ext cx="2403287" cy="280805"/>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should visit some of the plants for suggestions on centralizing procurement</a:t>
            </a:r>
          </a:p>
        </p:txBody>
      </p:sp>
      <p:sp>
        <p:nvSpPr>
          <p:cNvPr id="302" name="Rectangle: Rounded Corners 301">
            <a:extLst>
              <a:ext uri="{FF2B5EF4-FFF2-40B4-BE49-F238E27FC236}">
                <a16:creationId xmlns:a16="http://schemas.microsoft.com/office/drawing/2014/main" id="{F434C447-B3BE-9E96-6C49-A7DA463F9C50}"/>
              </a:ext>
            </a:extLst>
          </p:cNvPr>
          <p:cNvSpPr/>
          <p:nvPr/>
        </p:nvSpPr>
        <p:spPr>
          <a:xfrm>
            <a:off x="4507630" y="4745877"/>
            <a:ext cx="1406249" cy="361419"/>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Impose small penalties for failing to follow policies</a:t>
            </a:r>
          </a:p>
        </p:txBody>
      </p:sp>
      <p:sp>
        <p:nvSpPr>
          <p:cNvPr id="303" name="Rectangle: Rounded Corners 302">
            <a:extLst>
              <a:ext uri="{FF2B5EF4-FFF2-40B4-BE49-F238E27FC236}">
                <a16:creationId xmlns:a16="http://schemas.microsoft.com/office/drawing/2014/main" id="{95E04CC5-1288-75EB-3FA8-F564F8412900}"/>
              </a:ext>
            </a:extLst>
          </p:cNvPr>
          <p:cNvSpPr/>
          <p:nvPr/>
        </p:nvSpPr>
        <p:spPr>
          <a:xfrm>
            <a:off x="7268020" y="5320896"/>
            <a:ext cx="1838857" cy="282170"/>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Several plants are allowed to miss their targets in the previous 3 years</a:t>
            </a:r>
            <a:endParaRPr lang="zh-HK" altLang="en-US" sz="800" dirty="0"/>
          </a:p>
        </p:txBody>
      </p:sp>
      <p:sp>
        <p:nvSpPr>
          <p:cNvPr id="304" name="Rectangle: Rounded Corners 303">
            <a:extLst>
              <a:ext uri="{FF2B5EF4-FFF2-40B4-BE49-F238E27FC236}">
                <a16:creationId xmlns:a16="http://schemas.microsoft.com/office/drawing/2014/main" id="{87FA6FC5-6A22-BF05-546A-2884FE65238B}"/>
              </a:ext>
            </a:extLst>
          </p:cNvPr>
          <p:cNvSpPr/>
          <p:nvPr/>
        </p:nvSpPr>
        <p:spPr>
          <a:xfrm>
            <a:off x="6270762" y="5659487"/>
            <a:ext cx="2109495" cy="144593"/>
          </a:xfrm>
          <a:prstGeom prst="round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Company workshops to help realign values</a:t>
            </a:r>
          </a:p>
        </p:txBody>
      </p:sp>
      <p:sp>
        <p:nvSpPr>
          <p:cNvPr id="305" name="Rectangle: Rounded Corners 304">
            <a:extLst>
              <a:ext uri="{FF2B5EF4-FFF2-40B4-BE49-F238E27FC236}">
                <a16:creationId xmlns:a16="http://schemas.microsoft.com/office/drawing/2014/main" id="{B6472CE5-0680-1C92-3B65-DFA38069DCE1}"/>
              </a:ext>
            </a:extLst>
          </p:cNvPr>
          <p:cNvSpPr/>
          <p:nvPr/>
        </p:nvSpPr>
        <p:spPr>
          <a:xfrm>
            <a:off x="9917359" y="5998621"/>
            <a:ext cx="1929967" cy="243023"/>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Ed Claiborne had been working for a firm with a strict chain of command</a:t>
            </a:r>
            <a:endParaRPr lang="zh-HK" altLang="en-US" sz="800" dirty="0"/>
          </a:p>
        </p:txBody>
      </p:sp>
      <p:sp>
        <p:nvSpPr>
          <p:cNvPr id="306" name="Rectangle: Rounded Corners 305">
            <a:extLst>
              <a:ext uri="{FF2B5EF4-FFF2-40B4-BE49-F238E27FC236}">
                <a16:creationId xmlns:a16="http://schemas.microsoft.com/office/drawing/2014/main" id="{555BE6F7-021C-93F9-45B5-07A257210295}"/>
              </a:ext>
            </a:extLst>
          </p:cNvPr>
          <p:cNvSpPr/>
          <p:nvPr/>
        </p:nvSpPr>
        <p:spPr>
          <a:xfrm>
            <a:off x="9958047" y="6638042"/>
            <a:ext cx="2082117" cy="183672"/>
          </a:xfrm>
          <a:prstGeom prst="roundRect">
            <a:avLst/>
          </a:prstGeom>
          <a:solidFill>
            <a:srgbClr val="FFCCFF"/>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HK" sz="800" dirty="0"/>
              <a:t>Plants have their own departments</a:t>
            </a:r>
            <a:endParaRPr lang="zh-HK" altLang="en-US" sz="800" dirty="0"/>
          </a:p>
        </p:txBody>
      </p:sp>
      <p:sp>
        <p:nvSpPr>
          <p:cNvPr id="307" name="TextBox 306">
            <a:extLst>
              <a:ext uri="{FF2B5EF4-FFF2-40B4-BE49-F238E27FC236}">
                <a16:creationId xmlns:a16="http://schemas.microsoft.com/office/drawing/2014/main" id="{11B4B110-7D78-C0C8-5C7E-51B7ABEDC4F7}"/>
              </a:ext>
            </a:extLst>
          </p:cNvPr>
          <p:cNvSpPr txBox="1"/>
          <p:nvPr/>
        </p:nvSpPr>
        <p:spPr>
          <a:xfrm>
            <a:off x="2084345" y="2314381"/>
            <a:ext cx="1193549" cy="307777"/>
          </a:xfrm>
          <a:prstGeom prst="rect">
            <a:avLst/>
          </a:prstGeom>
          <a:noFill/>
        </p:spPr>
        <p:txBody>
          <a:bodyPr wrap="square" rtlCol="0">
            <a:spAutoFit/>
          </a:bodyPr>
          <a:lstStyle/>
          <a:p>
            <a:r>
              <a:rPr lang="en-US" altLang="zh-HK" sz="1400" dirty="0"/>
              <a:t>7S: Structure</a:t>
            </a:r>
            <a:endParaRPr lang="zh-HK" altLang="en-US" sz="1400" dirty="0"/>
          </a:p>
        </p:txBody>
      </p:sp>
      <p:sp>
        <p:nvSpPr>
          <p:cNvPr id="308" name="TextBox 307">
            <a:extLst>
              <a:ext uri="{FF2B5EF4-FFF2-40B4-BE49-F238E27FC236}">
                <a16:creationId xmlns:a16="http://schemas.microsoft.com/office/drawing/2014/main" id="{0F9EFAAF-C398-A091-04B7-74051B3113FE}"/>
              </a:ext>
            </a:extLst>
          </p:cNvPr>
          <p:cNvSpPr txBox="1"/>
          <p:nvPr/>
        </p:nvSpPr>
        <p:spPr>
          <a:xfrm>
            <a:off x="2007572" y="3253183"/>
            <a:ext cx="1193549" cy="307777"/>
          </a:xfrm>
          <a:prstGeom prst="rect">
            <a:avLst/>
          </a:prstGeom>
          <a:noFill/>
        </p:spPr>
        <p:txBody>
          <a:bodyPr wrap="square" rtlCol="0">
            <a:spAutoFit/>
          </a:bodyPr>
          <a:lstStyle/>
          <a:p>
            <a:r>
              <a:rPr lang="en-US" altLang="zh-HK" sz="1400" dirty="0"/>
              <a:t>7S: System</a:t>
            </a:r>
            <a:endParaRPr lang="zh-HK" altLang="en-US" sz="1400" dirty="0"/>
          </a:p>
        </p:txBody>
      </p:sp>
      <p:sp>
        <p:nvSpPr>
          <p:cNvPr id="310" name="TextBox 309">
            <a:extLst>
              <a:ext uri="{FF2B5EF4-FFF2-40B4-BE49-F238E27FC236}">
                <a16:creationId xmlns:a16="http://schemas.microsoft.com/office/drawing/2014/main" id="{2376EEEF-981E-D4F4-02B3-3008D0F35467}"/>
              </a:ext>
            </a:extLst>
          </p:cNvPr>
          <p:cNvSpPr txBox="1"/>
          <p:nvPr/>
        </p:nvSpPr>
        <p:spPr>
          <a:xfrm>
            <a:off x="2200193" y="4142526"/>
            <a:ext cx="1193549" cy="307777"/>
          </a:xfrm>
          <a:prstGeom prst="rect">
            <a:avLst/>
          </a:prstGeom>
          <a:noFill/>
        </p:spPr>
        <p:txBody>
          <a:bodyPr wrap="square" rtlCol="0">
            <a:spAutoFit/>
          </a:bodyPr>
          <a:lstStyle/>
          <a:p>
            <a:r>
              <a:rPr lang="en-US" altLang="zh-HK" sz="1400" dirty="0"/>
              <a:t>7S: Style</a:t>
            </a:r>
            <a:endParaRPr lang="zh-HK" altLang="en-US" sz="1400" dirty="0"/>
          </a:p>
        </p:txBody>
      </p:sp>
      <p:sp>
        <p:nvSpPr>
          <p:cNvPr id="311" name="TextBox 310">
            <a:extLst>
              <a:ext uri="{FF2B5EF4-FFF2-40B4-BE49-F238E27FC236}">
                <a16:creationId xmlns:a16="http://schemas.microsoft.com/office/drawing/2014/main" id="{E732B14A-0AC1-8DC0-CF46-B8881456D10D}"/>
              </a:ext>
            </a:extLst>
          </p:cNvPr>
          <p:cNvSpPr txBox="1"/>
          <p:nvPr/>
        </p:nvSpPr>
        <p:spPr>
          <a:xfrm>
            <a:off x="1506698" y="5725670"/>
            <a:ext cx="1577583" cy="307777"/>
          </a:xfrm>
          <a:prstGeom prst="rect">
            <a:avLst/>
          </a:prstGeom>
          <a:noFill/>
        </p:spPr>
        <p:txBody>
          <a:bodyPr wrap="square" rtlCol="0">
            <a:spAutoFit/>
          </a:bodyPr>
          <a:lstStyle/>
          <a:p>
            <a:r>
              <a:rPr lang="en-US" altLang="zh-HK" sz="1400" dirty="0"/>
              <a:t>7S: Shared values</a:t>
            </a:r>
            <a:endParaRPr lang="zh-HK" altLang="en-US" sz="1400" dirty="0"/>
          </a:p>
        </p:txBody>
      </p:sp>
      <p:sp>
        <p:nvSpPr>
          <p:cNvPr id="313" name="TextBox 312">
            <a:extLst>
              <a:ext uri="{FF2B5EF4-FFF2-40B4-BE49-F238E27FC236}">
                <a16:creationId xmlns:a16="http://schemas.microsoft.com/office/drawing/2014/main" id="{8934DC6E-8922-5577-35EB-0DA1458D8B18}"/>
              </a:ext>
            </a:extLst>
          </p:cNvPr>
          <p:cNvSpPr txBox="1"/>
          <p:nvPr/>
        </p:nvSpPr>
        <p:spPr>
          <a:xfrm>
            <a:off x="2547205" y="1775955"/>
            <a:ext cx="574746" cy="307777"/>
          </a:xfrm>
          <a:prstGeom prst="rect">
            <a:avLst/>
          </a:prstGeom>
          <a:noFill/>
        </p:spPr>
        <p:txBody>
          <a:bodyPr wrap="square" rtlCol="0">
            <a:spAutoFit/>
          </a:bodyPr>
          <a:lstStyle/>
          <a:p>
            <a:r>
              <a:rPr lang="en-US" altLang="zh-HK" sz="1400" dirty="0"/>
              <a:t>OR</a:t>
            </a:r>
            <a:endParaRPr lang="zh-HK" altLang="en-US" sz="1400" dirty="0"/>
          </a:p>
        </p:txBody>
      </p:sp>
      <p:sp>
        <p:nvSpPr>
          <p:cNvPr id="314" name="TextBox 313">
            <a:extLst>
              <a:ext uri="{FF2B5EF4-FFF2-40B4-BE49-F238E27FC236}">
                <a16:creationId xmlns:a16="http://schemas.microsoft.com/office/drawing/2014/main" id="{7480960D-3B95-4A59-6639-BDCF3A862FEB}"/>
              </a:ext>
            </a:extLst>
          </p:cNvPr>
          <p:cNvSpPr txBox="1"/>
          <p:nvPr/>
        </p:nvSpPr>
        <p:spPr>
          <a:xfrm>
            <a:off x="7407249" y="1544191"/>
            <a:ext cx="574746" cy="307777"/>
          </a:xfrm>
          <a:prstGeom prst="rect">
            <a:avLst/>
          </a:prstGeom>
          <a:noFill/>
        </p:spPr>
        <p:txBody>
          <a:bodyPr wrap="square" rtlCol="0">
            <a:spAutoFit/>
          </a:bodyPr>
          <a:lstStyle/>
          <a:p>
            <a:r>
              <a:rPr lang="en-US" altLang="zh-HK" sz="1400" dirty="0"/>
              <a:t>OR</a:t>
            </a:r>
            <a:endParaRPr lang="zh-HK" altLang="en-US" sz="1400" dirty="0"/>
          </a:p>
        </p:txBody>
      </p:sp>
      <p:sp>
        <p:nvSpPr>
          <p:cNvPr id="315" name="TextBox 314">
            <a:extLst>
              <a:ext uri="{FF2B5EF4-FFF2-40B4-BE49-F238E27FC236}">
                <a16:creationId xmlns:a16="http://schemas.microsoft.com/office/drawing/2014/main" id="{37DC4577-73A7-FC98-2DB1-C3F199E140C9}"/>
              </a:ext>
            </a:extLst>
          </p:cNvPr>
          <p:cNvSpPr txBox="1"/>
          <p:nvPr/>
        </p:nvSpPr>
        <p:spPr>
          <a:xfrm>
            <a:off x="5837152" y="2911097"/>
            <a:ext cx="574746" cy="307777"/>
          </a:xfrm>
          <a:prstGeom prst="rect">
            <a:avLst/>
          </a:prstGeom>
          <a:noFill/>
        </p:spPr>
        <p:txBody>
          <a:bodyPr wrap="square" rtlCol="0">
            <a:spAutoFit/>
          </a:bodyPr>
          <a:lstStyle/>
          <a:p>
            <a:r>
              <a:rPr lang="en-US" altLang="zh-HK" sz="1400" dirty="0"/>
              <a:t>OR</a:t>
            </a:r>
            <a:endParaRPr lang="zh-HK" altLang="en-US" sz="1400" dirty="0"/>
          </a:p>
        </p:txBody>
      </p:sp>
      <p:sp>
        <p:nvSpPr>
          <p:cNvPr id="317" name="TextBox 316">
            <a:extLst>
              <a:ext uri="{FF2B5EF4-FFF2-40B4-BE49-F238E27FC236}">
                <a16:creationId xmlns:a16="http://schemas.microsoft.com/office/drawing/2014/main" id="{ACD6B166-14BC-FBF5-C7C5-89AD7F7A9A6D}"/>
              </a:ext>
            </a:extLst>
          </p:cNvPr>
          <p:cNvSpPr txBox="1"/>
          <p:nvPr/>
        </p:nvSpPr>
        <p:spPr>
          <a:xfrm>
            <a:off x="8715741" y="3499296"/>
            <a:ext cx="574746" cy="307777"/>
          </a:xfrm>
          <a:prstGeom prst="rect">
            <a:avLst/>
          </a:prstGeom>
          <a:noFill/>
        </p:spPr>
        <p:txBody>
          <a:bodyPr wrap="square" rtlCol="0">
            <a:spAutoFit/>
          </a:bodyPr>
          <a:lstStyle/>
          <a:p>
            <a:r>
              <a:rPr lang="en-US" altLang="zh-HK" sz="1400" dirty="0"/>
              <a:t>OR</a:t>
            </a:r>
            <a:endParaRPr lang="zh-HK" altLang="en-US" sz="1400" dirty="0"/>
          </a:p>
        </p:txBody>
      </p:sp>
      <p:sp>
        <p:nvSpPr>
          <p:cNvPr id="319" name="TextBox 318">
            <a:extLst>
              <a:ext uri="{FF2B5EF4-FFF2-40B4-BE49-F238E27FC236}">
                <a16:creationId xmlns:a16="http://schemas.microsoft.com/office/drawing/2014/main" id="{14361EC3-661B-F003-67EB-5357BA68E6BC}"/>
              </a:ext>
            </a:extLst>
          </p:cNvPr>
          <p:cNvSpPr txBox="1"/>
          <p:nvPr/>
        </p:nvSpPr>
        <p:spPr>
          <a:xfrm>
            <a:off x="4050591" y="3809088"/>
            <a:ext cx="574746" cy="307777"/>
          </a:xfrm>
          <a:prstGeom prst="rect">
            <a:avLst/>
          </a:prstGeom>
          <a:noFill/>
        </p:spPr>
        <p:txBody>
          <a:bodyPr wrap="square" rtlCol="0">
            <a:spAutoFit/>
          </a:bodyPr>
          <a:lstStyle/>
          <a:p>
            <a:r>
              <a:rPr lang="en-US" altLang="zh-HK" sz="1400" dirty="0"/>
              <a:t>AND</a:t>
            </a:r>
            <a:endParaRPr lang="zh-HK" altLang="en-US" sz="1400" dirty="0"/>
          </a:p>
        </p:txBody>
      </p:sp>
      <p:sp>
        <p:nvSpPr>
          <p:cNvPr id="320" name="TextBox 319">
            <a:extLst>
              <a:ext uri="{FF2B5EF4-FFF2-40B4-BE49-F238E27FC236}">
                <a16:creationId xmlns:a16="http://schemas.microsoft.com/office/drawing/2014/main" id="{4CDFED81-1F8A-6801-9827-C70607120706}"/>
              </a:ext>
            </a:extLst>
          </p:cNvPr>
          <p:cNvSpPr txBox="1"/>
          <p:nvPr/>
        </p:nvSpPr>
        <p:spPr>
          <a:xfrm>
            <a:off x="5913879" y="3899745"/>
            <a:ext cx="574746" cy="307777"/>
          </a:xfrm>
          <a:prstGeom prst="rect">
            <a:avLst/>
          </a:prstGeom>
          <a:noFill/>
        </p:spPr>
        <p:txBody>
          <a:bodyPr wrap="square" rtlCol="0">
            <a:spAutoFit/>
          </a:bodyPr>
          <a:lstStyle/>
          <a:p>
            <a:r>
              <a:rPr lang="en-US" altLang="zh-HK" sz="1400" dirty="0"/>
              <a:t>OR</a:t>
            </a:r>
            <a:endParaRPr lang="zh-HK" altLang="en-US" sz="1400" dirty="0"/>
          </a:p>
        </p:txBody>
      </p:sp>
      <p:sp>
        <p:nvSpPr>
          <p:cNvPr id="321" name="TextBox 320">
            <a:extLst>
              <a:ext uri="{FF2B5EF4-FFF2-40B4-BE49-F238E27FC236}">
                <a16:creationId xmlns:a16="http://schemas.microsoft.com/office/drawing/2014/main" id="{A3AD444B-8221-0994-E292-04DBCD4F2492}"/>
              </a:ext>
            </a:extLst>
          </p:cNvPr>
          <p:cNvSpPr txBox="1"/>
          <p:nvPr/>
        </p:nvSpPr>
        <p:spPr>
          <a:xfrm>
            <a:off x="8519197" y="5646522"/>
            <a:ext cx="574746" cy="307777"/>
          </a:xfrm>
          <a:prstGeom prst="rect">
            <a:avLst/>
          </a:prstGeom>
          <a:noFill/>
        </p:spPr>
        <p:txBody>
          <a:bodyPr wrap="square" rtlCol="0">
            <a:spAutoFit/>
          </a:bodyPr>
          <a:lstStyle/>
          <a:p>
            <a:r>
              <a:rPr lang="en-US" altLang="zh-HK" sz="1400" dirty="0"/>
              <a:t>AND</a:t>
            </a:r>
            <a:endParaRPr lang="zh-HK" altLang="en-US" sz="1400" dirty="0"/>
          </a:p>
        </p:txBody>
      </p:sp>
      <p:cxnSp>
        <p:nvCxnSpPr>
          <p:cNvPr id="407" name="Connector: Elbow 406">
            <a:extLst>
              <a:ext uri="{FF2B5EF4-FFF2-40B4-BE49-F238E27FC236}">
                <a16:creationId xmlns:a16="http://schemas.microsoft.com/office/drawing/2014/main" id="{68723FF2-BE69-43A7-FA96-BEE6AC0D0AE3}"/>
              </a:ext>
            </a:extLst>
          </p:cNvPr>
          <p:cNvCxnSpPr>
            <a:cxnSpLocks/>
            <a:stCxn id="224" idx="1"/>
            <a:endCxn id="221" idx="3"/>
          </p:cNvCxnSpPr>
          <p:nvPr/>
        </p:nvCxnSpPr>
        <p:spPr>
          <a:xfrm rot="10800000">
            <a:off x="5942715" y="4167652"/>
            <a:ext cx="1186824" cy="722467"/>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8181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EC12B-AE96-B794-7BDE-D3C65965571F}"/>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altLang="zh-HK" sz="3700" kern="1200">
                <a:solidFill>
                  <a:srgbClr val="FFFFFF"/>
                </a:solidFill>
                <a:latin typeface="+mj-lt"/>
                <a:ea typeface="+mj-ea"/>
                <a:cs typeface="+mj-cs"/>
              </a:rPr>
              <a:t>Q1. Root Cause Analysis in Cause Mapping notation (report card)</a:t>
            </a:r>
          </a:p>
        </p:txBody>
      </p:sp>
      <p:sp>
        <p:nvSpPr>
          <p:cNvPr id="4" name="Content Placeholder 4">
            <a:extLst>
              <a:ext uri="{FF2B5EF4-FFF2-40B4-BE49-F238E27FC236}">
                <a16:creationId xmlns:a16="http://schemas.microsoft.com/office/drawing/2014/main" id="{C6062CBC-0B7B-00DE-CE85-B404EF4B6121}"/>
              </a:ext>
            </a:extLst>
          </p:cNvPr>
          <p:cNvSpPr>
            <a:spLocks noGrp="1"/>
          </p:cNvSpPr>
          <p:nvPr>
            <p:ph idx="1"/>
          </p:nvPr>
        </p:nvSpPr>
        <p:spPr>
          <a:xfrm>
            <a:off x="8572499" y="390832"/>
            <a:ext cx="3233585" cy="873612"/>
          </a:xfrm>
        </p:spPr>
        <p:txBody>
          <a:bodyPr vert="horz" lIns="91440" tIns="45720" rIns="91440" bIns="45720" rtlCol="0" anchor="ctr">
            <a:normAutofit fontScale="85000" lnSpcReduction="20000"/>
          </a:bodyPr>
          <a:lstStyle/>
          <a:p>
            <a:pPr marL="0" indent="0">
              <a:buNone/>
            </a:pPr>
            <a:r>
              <a:rPr lang="en-US" altLang="zh-HK" sz="2000" kern="1200" dirty="0">
                <a:solidFill>
                  <a:srgbClr val="FFFFFF"/>
                </a:solidFill>
                <a:latin typeface="+mn-lt"/>
                <a:ea typeface="+mn-ea"/>
                <a:cs typeface="+mn-cs"/>
              </a:rPr>
              <a:t>For capability, a red dot means “broken”, a yellow rot means “slightly broken”, and a green dot means “OK”.</a:t>
            </a:r>
          </a:p>
        </p:txBody>
      </p:sp>
      <p:graphicFrame>
        <p:nvGraphicFramePr>
          <p:cNvPr id="3" name="Table 2">
            <a:extLst>
              <a:ext uri="{FF2B5EF4-FFF2-40B4-BE49-F238E27FC236}">
                <a16:creationId xmlns:a16="http://schemas.microsoft.com/office/drawing/2014/main" id="{F181E525-92A0-95BA-C2A5-40745A3D4461}"/>
              </a:ext>
            </a:extLst>
          </p:cNvPr>
          <p:cNvGraphicFramePr>
            <a:graphicFrameLocks noGrp="1"/>
          </p:cNvGraphicFramePr>
          <p:nvPr>
            <p:extLst>
              <p:ext uri="{D42A27DB-BD31-4B8C-83A1-F6EECF244321}">
                <p14:modId xmlns:p14="http://schemas.microsoft.com/office/powerpoint/2010/main" val="507091681"/>
              </p:ext>
            </p:extLst>
          </p:nvPr>
        </p:nvGraphicFramePr>
        <p:xfrm>
          <a:off x="432225" y="2156164"/>
          <a:ext cx="11327550" cy="4072422"/>
        </p:xfrm>
        <a:graphic>
          <a:graphicData uri="http://schemas.openxmlformats.org/drawingml/2006/table">
            <a:tbl>
              <a:tblPr>
                <a:tableStyleId>{5C22544A-7EE6-4342-B048-85BDC9FD1C3A}</a:tableStyleId>
              </a:tblPr>
              <a:tblGrid>
                <a:gridCol w="1989964">
                  <a:extLst>
                    <a:ext uri="{9D8B030D-6E8A-4147-A177-3AD203B41FA5}">
                      <a16:colId xmlns:a16="http://schemas.microsoft.com/office/drawing/2014/main" val="230623537"/>
                    </a:ext>
                  </a:extLst>
                </a:gridCol>
                <a:gridCol w="1407240">
                  <a:extLst>
                    <a:ext uri="{9D8B030D-6E8A-4147-A177-3AD203B41FA5}">
                      <a16:colId xmlns:a16="http://schemas.microsoft.com/office/drawing/2014/main" val="3012309499"/>
                    </a:ext>
                  </a:extLst>
                </a:gridCol>
                <a:gridCol w="7930346">
                  <a:extLst>
                    <a:ext uri="{9D8B030D-6E8A-4147-A177-3AD203B41FA5}">
                      <a16:colId xmlns:a16="http://schemas.microsoft.com/office/drawing/2014/main" val="4183110492"/>
                    </a:ext>
                  </a:extLst>
                </a:gridCol>
              </a:tblGrid>
              <a:tr h="274776">
                <a:tc>
                  <a:txBody>
                    <a:bodyPr/>
                    <a:lstStyle/>
                    <a:p>
                      <a:pPr algn="l" fontAlgn="ctr">
                        <a:spcBef>
                          <a:spcPts val="0"/>
                        </a:spcBef>
                        <a:spcAft>
                          <a:spcPts val="0"/>
                        </a:spcAft>
                      </a:pPr>
                      <a:r>
                        <a:rPr lang="en-US" sz="1400" b="0" u="none" strike="noStrike">
                          <a:effectLst/>
                        </a:rPr>
                        <a:t>7S dimension</a:t>
                      </a:r>
                      <a:endParaRPr lang="en-US" altLang="zh-HK" sz="1400" b="0" i="0" u="none" strike="noStrike">
                        <a:effectLst/>
                        <a:latin typeface="Arial" panose="020B0604020202020204" pitchFamily="34" charset="0"/>
                      </a:endParaRPr>
                    </a:p>
                  </a:txBody>
                  <a:tcPr marL="28085" marR="28085" marT="14042" marB="14042" anchor="ctr"/>
                </a:tc>
                <a:tc>
                  <a:txBody>
                    <a:bodyPr/>
                    <a:lstStyle/>
                    <a:p>
                      <a:pPr algn="ctr" fontAlgn="ctr">
                        <a:spcBef>
                          <a:spcPts val="0"/>
                        </a:spcBef>
                        <a:spcAft>
                          <a:spcPts val="0"/>
                        </a:spcAft>
                      </a:pPr>
                      <a:r>
                        <a:rPr lang="en-US" sz="1400" b="0" u="none" strike="noStrike">
                          <a:effectLst/>
                        </a:rPr>
                        <a:t>Capability</a:t>
                      </a:r>
                      <a:endParaRPr lang="en-US" altLang="zh-HK" sz="1400" b="0" i="0" u="none" strike="noStrike">
                        <a:effectLst/>
                        <a:latin typeface="Arial" panose="020B0604020202020204" pitchFamily="34" charset="0"/>
                      </a:endParaRPr>
                    </a:p>
                  </a:txBody>
                  <a:tcPr marL="28085" marR="28085" marT="14042" marB="14042" anchor="ctr"/>
                </a:tc>
                <a:tc>
                  <a:txBody>
                    <a:bodyPr/>
                    <a:lstStyle/>
                    <a:p>
                      <a:pPr algn="l" fontAlgn="ctr">
                        <a:spcBef>
                          <a:spcPts val="0"/>
                        </a:spcBef>
                        <a:spcAft>
                          <a:spcPts val="0"/>
                        </a:spcAft>
                      </a:pPr>
                      <a:r>
                        <a:rPr lang="en-US" sz="1400" b="0" u="none" strike="noStrike">
                          <a:effectLst/>
                        </a:rPr>
                        <a:t>Rationale</a:t>
                      </a:r>
                      <a:endParaRPr lang="en-US" altLang="zh-HK" sz="1400" b="0" i="0" u="none" strike="noStrike">
                        <a:effectLst/>
                        <a:latin typeface="Arial" panose="020B0604020202020204" pitchFamily="34" charset="0"/>
                      </a:endParaRPr>
                    </a:p>
                  </a:txBody>
                  <a:tcPr marL="28085" marR="28085" marT="14042" marB="14042" anchor="ctr"/>
                </a:tc>
                <a:extLst>
                  <a:ext uri="{0D108BD9-81ED-4DB2-BD59-A6C34878D82A}">
                    <a16:rowId xmlns:a16="http://schemas.microsoft.com/office/drawing/2014/main" val="3344910276"/>
                  </a:ext>
                </a:extLst>
              </a:tr>
              <a:tr h="483022">
                <a:tc>
                  <a:txBody>
                    <a:bodyPr/>
                    <a:lstStyle/>
                    <a:p>
                      <a:pPr algn="l" fontAlgn="ctr">
                        <a:spcBef>
                          <a:spcPts val="0"/>
                        </a:spcBef>
                        <a:spcAft>
                          <a:spcPts val="0"/>
                        </a:spcAft>
                      </a:pPr>
                      <a:r>
                        <a:rPr lang="en-US" sz="1400" b="0" u="none" strike="noStrike">
                          <a:effectLst/>
                        </a:rPr>
                        <a:t>Strategy</a:t>
                      </a:r>
                      <a:endParaRPr lang="en-US" altLang="zh-HK" sz="1400" b="0" i="0" u="none" strike="noStrike">
                        <a:effectLst/>
                        <a:latin typeface="Arial" panose="020B0604020202020204" pitchFamily="34" charset="0"/>
                      </a:endParaRPr>
                    </a:p>
                  </a:txBody>
                  <a:tcPr marL="28085" marR="28085" marT="14042" marB="14042" anchor="ctr"/>
                </a:tc>
                <a:tc>
                  <a:txBody>
                    <a:bodyPr/>
                    <a:lstStyle/>
                    <a:p>
                      <a:pPr algn="ctr" fontAlgn="ctr">
                        <a:spcBef>
                          <a:spcPts val="0"/>
                        </a:spcBef>
                        <a:spcAft>
                          <a:spcPts val="0"/>
                        </a:spcAft>
                      </a:pPr>
                      <a:r>
                        <a:rPr lang="zh-HK" altLang="en-US" sz="1400" b="0" u="none" strike="noStrike">
                          <a:solidFill>
                            <a:srgbClr val="FFD700"/>
                          </a:solidFill>
                          <a:effectLst/>
                        </a:rPr>
                        <a:t>●</a:t>
                      </a:r>
                      <a:endParaRPr lang="zh-HK" altLang="en-US" sz="1400" b="0" i="0" u="none" strike="noStrike">
                        <a:solidFill>
                          <a:srgbClr val="FFD700"/>
                        </a:solidFill>
                        <a:effectLst/>
                        <a:latin typeface="Arial" panose="020B0604020202020204" pitchFamily="34" charset="0"/>
                      </a:endParaRPr>
                    </a:p>
                  </a:txBody>
                  <a:tcPr marL="28085" marR="28085" marT="14042" marB="14042" anchor="ctr"/>
                </a:tc>
                <a:tc>
                  <a:txBody>
                    <a:bodyPr/>
                    <a:lstStyle/>
                    <a:p>
                      <a:pPr algn="l" fontAlgn="ctr">
                        <a:spcBef>
                          <a:spcPts val="0"/>
                        </a:spcBef>
                        <a:spcAft>
                          <a:spcPts val="0"/>
                        </a:spcAft>
                      </a:pPr>
                      <a:r>
                        <a:rPr lang="en-US" sz="1400" b="0" u="none" strike="noStrike">
                          <a:effectLst/>
                        </a:rPr>
                        <a:t>The company management can consider strategies other than cost reduction, such as reducing the proportion of fixed-cost contracts.</a:t>
                      </a:r>
                      <a:endParaRPr lang="en-US" altLang="zh-HK" sz="1400" b="0" i="0" u="none" strike="noStrike">
                        <a:effectLst/>
                        <a:latin typeface="Arial" panose="020B0604020202020204" pitchFamily="34" charset="0"/>
                      </a:endParaRPr>
                    </a:p>
                  </a:txBody>
                  <a:tcPr marL="28085" marR="28085" marT="14042" marB="14042" anchor="ctr"/>
                </a:tc>
                <a:extLst>
                  <a:ext uri="{0D108BD9-81ED-4DB2-BD59-A6C34878D82A}">
                    <a16:rowId xmlns:a16="http://schemas.microsoft.com/office/drawing/2014/main" val="1823559262"/>
                  </a:ext>
                </a:extLst>
              </a:tr>
              <a:tr h="691268">
                <a:tc>
                  <a:txBody>
                    <a:bodyPr/>
                    <a:lstStyle/>
                    <a:p>
                      <a:pPr algn="l" fontAlgn="ctr">
                        <a:spcBef>
                          <a:spcPts val="0"/>
                        </a:spcBef>
                        <a:spcAft>
                          <a:spcPts val="0"/>
                        </a:spcAft>
                      </a:pPr>
                      <a:r>
                        <a:rPr lang="en-US" sz="1400" b="0" u="none" strike="noStrike">
                          <a:effectLst/>
                        </a:rPr>
                        <a:t>Staff</a:t>
                      </a:r>
                      <a:endParaRPr lang="en-US" altLang="zh-HK" sz="1400" b="0" i="0" u="none" strike="noStrike">
                        <a:effectLst/>
                        <a:latin typeface="Arial" panose="020B0604020202020204" pitchFamily="34" charset="0"/>
                      </a:endParaRPr>
                    </a:p>
                  </a:txBody>
                  <a:tcPr marL="28085" marR="28085" marT="14042" marB="14042" anchor="ctr"/>
                </a:tc>
                <a:tc>
                  <a:txBody>
                    <a:bodyPr/>
                    <a:lstStyle/>
                    <a:p>
                      <a:pPr algn="ctr" fontAlgn="ctr">
                        <a:spcBef>
                          <a:spcPts val="0"/>
                        </a:spcBef>
                        <a:spcAft>
                          <a:spcPts val="0"/>
                        </a:spcAft>
                      </a:pPr>
                      <a:r>
                        <a:rPr lang="zh-HK" altLang="en-US" sz="1400" b="0" u="none" strike="noStrike">
                          <a:solidFill>
                            <a:srgbClr val="FFD700"/>
                          </a:solidFill>
                          <a:effectLst/>
                        </a:rPr>
                        <a:t>●</a:t>
                      </a:r>
                      <a:endParaRPr lang="zh-HK" altLang="en-US" sz="1400" b="0" i="0" u="none" strike="noStrike">
                        <a:solidFill>
                          <a:srgbClr val="FFD700"/>
                        </a:solidFill>
                        <a:effectLst/>
                        <a:latin typeface="Arial" panose="020B0604020202020204" pitchFamily="34" charset="0"/>
                      </a:endParaRPr>
                    </a:p>
                  </a:txBody>
                  <a:tcPr marL="28085" marR="28085" marT="14042" marB="14042" anchor="ctr"/>
                </a:tc>
                <a:tc>
                  <a:txBody>
                    <a:bodyPr/>
                    <a:lstStyle/>
                    <a:p>
                      <a:pPr algn="l" fontAlgn="ctr">
                        <a:spcBef>
                          <a:spcPts val="0"/>
                        </a:spcBef>
                        <a:spcAft>
                          <a:spcPts val="0"/>
                        </a:spcAft>
                      </a:pPr>
                      <a:r>
                        <a:rPr lang="en-US" sz="1400" b="0" u="none" strike="noStrike">
                          <a:effectLst/>
                        </a:rPr>
                        <a:t>Dagmar Hilgard should be more careful with hiring high-level positions. Ed Claiborne is acceptable, but not the most suitable for the position in the company. The position could had been held by a better person.</a:t>
                      </a:r>
                      <a:endParaRPr lang="en-US" altLang="zh-HK" sz="1400" b="0" i="0" u="none" strike="noStrike">
                        <a:effectLst/>
                        <a:latin typeface="Arial" panose="020B0604020202020204" pitchFamily="34" charset="0"/>
                      </a:endParaRPr>
                    </a:p>
                  </a:txBody>
                  <a:tcPr marL="28085" marR="28085" marT="14042" marB="14042" anchor="ctr"/>
                </a:tc>
                <a:extLst>
                  <a:ext uri="{0D108BD9-81ED-4DB2-BD59-A6C34878D82A}">
                    <a16:rowId xmlns:a16="http://schemas.microsoft.com/office/drawing/2014/main" val="1514000085"/>
                  </a:ext>
                </a:extLst>
              </a:tr>
              <a:tr h="483022">
                <a:tc>
                  <a:txBody>
                    <a:bodyPr/>
                    <a:lstStyle/>
                    <a:p>
                      <a:pPr algn="l" fontAlgn="ctr">
                        <a:spcBef>
                          <a:spcPts val="0"/>
                        </a:spcBef>
                        <a:spcAft>
                          <a:spcPts val="0"/>
                        </a:spcAft>
                      </a:pPr>
                      <a:r>
                        <a:rPr lang="en-US" sz="1400" b="0" u="none" strike="noStrike">
                          <a:effectLst/>
                        </a:rPr>
                        <a:t>Skills</a:t>
                      </a:r>
                      <a:endParaRPr lang="en-US" altLang="zh-HK" sz="1400" b="0" i="0" u="none" strike="noStrike">
                        <a:effectLst/>
                        <a:latin typeface="Arial" panose="020B0604020202020204" pitchFamily="34" charset="0"/>
                      </a:endParaRPr>
                    </a:p>
                  </a:txBody>
                  <a:tcPr marL="28085" marR="28085" marT="14042" marB="14042" anchor="ctr"/>
                </a:tc>
                <a:tc>
                  <a:txBody>
                    <a:bodyPr/>
                    <a:lstStyle/>
                    <a:p>
                      <a:pPr algn="ctr" fontAlgn="ctr">
                        <a:spcBef>
                          <a:spcPts val="0"/>
                        </a:spcBef>
                        <a:spcAft>
                          <a:spcPts val="0"/>
                        </a:spcAft>
                      </a:pPr>
                      <a:r>
                        <a:rPr lang="zh-HK" altLang="en-US" sz="1400" b="0" u="none" strike="noStrike">
                          <a:solidFill>
                            <a:srgbClr val="FF0000"/>
                          </a:solidFill>
                          <a:effectLst/>
                        </a:rPr>
                        <a:t>●</a:t>
                      </a:r>
                      <a:endParaRPr lang="zh-HK" altLang="en-US" sz="1400" b="0" i="0" u="none" strike="noStrike">
                        <a:effectLst/>
                        <a:latin typeface="Arial" panose="020B0604020202020204" pitchFamily="34" charset="0"/>
                      </a:endParaRPr>
                    </a:p>
                  </a:txBody>
                  <a:tcPr marL="28085" marR="28085" marT="14042" marB="14042" anchor="ctr"/>
                </a:tc>
                <a:tc>
                  <a:txBody>
                    <a:bodyPr/>
                    <a:lstStyle/>
                    <a:p>
                      <a:pPr algn="l" fontAlgn="ctr">
                        <a:spcBef>
                          <a:spcPts val="0"/>
                        </a:spcBef>
                        <a:spcAft>
                          <a:spcPts val="0"/>
                        </a:spcAft>
                      </a:pPr>
                      <a:r>
                        <a:rPr lang="en-US" sz="1400" b="0" u="none" strike="noStrike">
                          <a:effectLst/>
                        </a:rPr>
                        <a:t>There is almost no onboarding for Ed Claiborne for holding such a high-level position. Ed Claiborne went straight into the work without learning about the company structure at all.</a:t>
                      </a:r>
                      <a:endParaRPr lang="en-US" altLang="zh-HK" sz="1400" b="0" i="0" u="none" strike="noStrike">
                        <a:effectLst/>
                        <a:latin typeface="Arial" panose="020B0604020202020204" pitchFamily="34" charset="0"/>
                      </a:endParaRPr>
                    </a:p>
                  </a:txBody>
                  <a:tcPr marL="28085" marR="28085" marT="14042" marB="14042" anchor="ctr"/>
                </a:tc>
                <a:extLst>
                  <a:ext uri="{0D108BD9-81ED-4DB2-BD59-A6C34878D82A}">
                    <a16:rowId xmlns:a16="http://schemas.microsoft.com/office/drawing/2014/main" val="3960874925"/>
                  </a:ext>
                </a:extLst>
              </a:tr>
              <a:tr h="691268">
                <a:tc>
                  <a:txBody>
                    <a:bodyPr/>
                    <a:lstStyle/>
                    <a:p>
                      <a:pPr algn="l" fontAlgn="ctr">
                        <a:spcBef>
                          <a:spcPts val="0"/>
                        </a:spcBef>
                        <a:spcAft>
                          <a:spcPts val="0"/>
                        </a:spcAft>
                      </a:pPr>
                      <a:r>
                        <a:rPr lang="en-US" sz="1400" b="0" u="none" strike="noStrike">
                          <a:effectLst/>
                        </a:rPr>
                        <a:t>Structure</a:t>
                      </a:r>
                      <a:endParaRPr lang="en-US" altLang="zh-HK" sz="1400" b="0" i="0" u="none" strike="noStrike">
                        <a:effectLst/>
                        <a:latin typeface="Arial" panose="020B0604020202020204" pitchFamily="34" charset="0"/>
                      </a:endParaRPr>
                    </a:p>
                  </a:txBody>
                  <a:tcPr marL="28085" marR="28085" marT="14042" marB="14042" anchor="ctr"/>
                </a:tc>
                <a:tc>
                  <a:txBody>
                    <a:bodyPr/>
                    <a:lstStyle/>
                    <a:p>
                      <a:pPr algn="ctr" fontAlgn="ctr">
                        <a:spcBef>
                          <a:spcPts val="0"/>
                        </a:spcBef>
                        <a:spcAft>
                          <a:spcPts val="0"/>
                        </a:spcAft>
                      </a:pPr>
                      <a:r>
                        <a:rPr lang="zh-HK" altLang="en-US" sz="1400" b="0" u="none" strike="noStrike">
                          <a:solidFill>
                            <a:srgbClr val="FFD700"/>
                          </a:solidFill>
                          <a:effectLst/>
                        </a:rPr>
                        <a:t>●</a:t>
                      </a:r>
                      <a:endParaRPr lang="zh-HK" altLang="en-US" sz="1400" b="0" i="0" u="none" strike="noStrike">
                        <a:solidFill>
                          <a:srgbClr val="FFD700"/>
                        </a:solidFill>
                        <a:effectLst/>
                        <a:latin typeface="Arial" panose="020B0604020202020204" pitchFamily="34" charset="0"/>
                      </a:endParaRPr>
                    </a:p>
                  </a:txBody>
                  <a:tcPr marL="28085" marR="28085" marT="14042" marB="14042" anchor="ctr"/>
                </a:tc>
                <a:tc>
                  <a:txBody>
                    <a:bodyPr/>
                    <a:lstStyle/>
                    <a:p>
                      <a:pPr algn="l" fontAlgn="ctr">
                        <a:spcBef>
                          <a:spcPts val="0"/>
                        </a:spcBef>
                        <a:spcAft>
                          <a:spcPts val="0"/>
                        </a:spcAft>
                      </a:pPr>
                      <a:r>
                        <a:rPr lang="en-US" sz="1400" b="0" u="none" strike="noStrike">
                          <a:effectLst/>
                        </a:rPr>
                        <a:t>The newly added Corporate Vice President of Procurement is not placed at the right position of the company structure. This is understandable, given that the position is new and reorganization takes time.</a:t>
                      </a:r>
                      <a:endParaRPr lang="en-US" altLang="zh-HK" sz="1400" b="0" i="0" u="none" strike="noStrike">
                        <a:effectLst/>
                        <a:latin typeface="Arial" panose="020B0604020202020204" pitchFamily="34" charset="0"/>
                      </a:endParaRPr>
                    </a:p>
                  </a:txBody>
                  <a:tcPr marL="28085" marR="28085" marT="14042" marB="14042" anchor="ctr"/>
                </a:tc>
                <a:extLst>
                  <a:ext uri="{0D108BD9-81ED-4DB2-BD59-A6C34878D82A}">
                    <a16:rowId xmlns:a16="http://schemas.microsoft.com/office/drawing/2014/main" val="1677431146"/>
                  </a:ext>
                </a:extLst>
              </a:tr>
              <a:tr h="483022">
                <a:tc>
                  <a:txBody>
                    <a:bodyPr/>
                    <a:lstStyle/>
                    <a:p>
                      <a:pPr algn="l" fontAlgn="ctr">
                        <a:spcBef>
                          <a:spcPts val="0"/>
                        </a:spcBef>
                        <a:spcAft>
                          <a:spcPts val="0"/>
                        </a:spcAft>
                      </a:pPr>
                      <a:r>
                        <a:rPr lang="en-US" sz="1400" b="0" u="none" strike="noStrike">
                          <a:effectLst/>
                        </a:rPr>
                        <a:t>System</a:t>
                      </a:r>
                      <a:endParaRPr lang="en-US" altLang="zh-HK" sz="1400" b="0" i="0" u="none" strike="noStrike">
                        <a:effectLst/>
                        <a:latin typeface="Arial" panose="020B0604020202020204" pitchFamily="34" charset="0"/>
                      </a:endParaRPr>
                    </a:p>
                  </a:txBody>
                  <a:tcPr marL="28085" marR="28085" marT="14042" marB="14042" anchor="ctr"/>
                </a:tc>
                <a:tc>
                  <a:txBody>
                    <a:bodyPr/>
                    <a:lstStyle/>
                    <a:p>
                      <a:pPr algn="ctr" fontAlgn="ctr">
                        <a:spcBef>
                          <a:spcPts val="0"/>
                        </a:spcBef>
                        <a:spcAft>
                          <a:spcPts val="0"/>
                        </a:spcAft>
                      </a:pPr>
                      <a:r>
                        <a:rPr lang="zh-HK" altLang="en-US" sz="1400" b="0" u="none" strike="noStrike">
                          <a:solidFill>
                            <a:srgbClr val="FF0000"/>
                          </a:solidFill>
                          <a:effectLst/>
                        </a:rPr>
                        <a:t>●</a:t>
                      </a:r>
                      <a:endParaRPr lang="zh-HK" altLang="en-US" sz="1400" b="0" i="0" u="none" strike="noStrike">
                        <a:effectLst/>
                        <a:latin typeface="Arial" panose="020B0604020202020204" pitchFamily="34" charset="0"/>
                      </a:endParaRPr>
                    </a:p>
                  </a:txBody>
                  <a:tcPr marL="28085" marR="28085" marT="14042" marB="14042" anchor="ctr"/>
                </a:tc>
                <a:tc>
                  <a:txBody>
                    <a:bodyPr/>
                    <a:lstStyle/>
                    <a:p>
                      <a:pPr algn="l" fontAlgn="ctr">
                        <a:spcBef>
                          <a:spcPts val="0"/>
                        </a:spcBef>
                        <a:spcAft>
                          <a:spcPts val="0"/>
                        </a:spcAft>
                      </a:pPr>
                      <a:r>
                        <a:rPr lang="en-US" sz="1400" b="0" u="none" strike="noStrike">
                          <a:effectLst/>
                        </a:rPr>
                        <a:t>There is little technology in coordinating activities between plants. It shows the company should put a lot of resources into internal infrastructure to improve its operational efficiency.</a:t>
                      </a:r>
                      <a:endParaRPr lang="en-US" altLang="zh-HK" sz="1400" b="0" i="0" u="none" strike="noStrike">
                        <a:effectLst/>
                        <a:latin typeface="Arial" panose="020B0604020202020204" pitchFamily="34" charset="0"/>
                      </a:endParaRPr>
                    </a:p>
                  </a:txBody>
                  <a:tcPr marL="28085" marR="28085" marT="14042" marB="14042" anchor="ctr"/>
                </a:tc>
                <a:extLst>
                  <a:ext uri="{0D108BD9-81ED-4DB2-BD59-A6C34878D82A}">
                    <a16:rowId xmlns:a16="http://schemas.microsoft.com/office/drawing/2014/main" val="1654459000"/>
                  </a:ext>
                </a:extLst>
              </a:tr>
              <a:tr h="483022">
                <a:tc>
                  <a:txBody>
                    <a:bodyPr/>
                    <a:lstStyle/>
                    <a:p>
                      <a:pPr algn="l" fontAlgn="ctr">
                        <a:spcBef>
                          <a:spcPts val="0"/>
                        </a:spcBef>
                        <a:spcAft>
                          <a:spcPts val="0"/>
                        </a:spcAft>
                      </a:pPr>
                      <a:r>
                        <a:rPr lang="en-US" sz="1400" b="0" u="none" strike="noStrike">
                          <a:effectLst/>
                        </a:rPr>
                        <a:t>Style</a:t>
                      </a:r>
                      <a:endParaRPr lang="en-US" altLang="zh-HK" sz="1400" b="0" i="0" u="none" strike="noStrike">
                        <a:effectLst/>
                        <a:latin typeface="Arial" panose="020B0604020202020204" pitchFamily="34" charset="0"/>
                      </a:endParaRPr>
                    </a:p>
                  </a:txBody>
                  <a:tcPr marL="28085" marR="28085" marT="14042" marB="14042" anchor="ctr"/>
                </a:tc>
                <a:tc>
                  <a:txBody>
                    <a:bodyPr/>
                    <a:lstStyle/>
                    <a:p>
                      <a:pPr algn="ctr" fontAlgn="ctr">
                        <a:spcBef>
                          <a:spcPts val="0"/>
                        </a:spcBef>
                        <a:spcAft>
                          <a:spcPts val="0"/>
                        </a:spcAft>
                      </a:pPr>
                      <a:r>
                        <a:rPr lang="zh-HK" altLang="en-US" sz="1400" b="0" u="none" strike="noStrike">
                          <a:solidFill>
                            <a:srgbClr val="008000"/>
                          </a:solidFill>
                          <a:effectLst/>
                        </a:rPr>
                        <a:t>●</a:t>
                      </a:r>
                      <a:endParaRPr lang="zh-HK" altLang="en-US" sz="1400" b="0" i="0" u="none" strike="noStrike">
                        <a:effectLst/>
                        <a:latin typeface="Arial" panose="020B0604020202020204" pitchFamily="34" charset="0"/>
                      </a:endParaRPr>
                    </a:p>
                  </a:txBody>
                  <a:tcPr marL="28085" marR="28085" marT="14042" marB="14042" anchor="ctr"/>
                </a:tc>
                <a:tc>
                  <a:txBody>
                    <a:bodyPr/>
                    <a:lstStyle/>
                    <a:p>
                      <a:pPr algn="l" fontAlgn="ctr">
                        <a:spcBef>
                          <a:spcPts val="0"/>
                        </a:spcBef>
                        <a:spcAft>
                          <a:spcPts val="0"/>
                        </a:spcAft>
                      </a:pPr>
                      <a:r>
                        <a:rPr lang="en-US" sz="1400" b="0" u="none" strike="noStrike">
                          <a:effectLst/>
                        </a:rPr>
                        <a:t>The company management is consistent with its shared values. That plant managers do not respect Ed Claiborne is a natural result of this management style.</a:t>
                      </a:r>
                      <a:endParaRPr lang="en-US" altLang="zh-HK" sz="1400" b="0" i="0" u="none" strike="noStrike">
                        <a:effectLst/>
                        <a:latin typeface="Arial" panose="020B0604020202020204" pitchFamily="34" charset="0"/>
                      </a:endParaRPr>
                    </a:p>
                  </a:txBody>
                  <a:tcPr marL="28085" marR="28085" marT="14042" marB="14042" anchor="ctr"/>
                </a:tc>
                <a:extLst>
                  <a:ext uri="{0D108BD9-81ED-4DB2-BD59-A6C34878D82A}">
                    <a16:rowId xmlns:a16="http://schemas.microsoft.com/office/drawing/2014/main" val="784916451"/>
                  </a:ext>
                </a:extLst>
              </a:tr>
              <a:tr h="483022">
                <a:tc>
                  <a:txBody>
                    <a:bodyPr/>
                    <a:lstStyle/>
                    <a:p>
                      <a:pPr algn="l" fontAlgn="ctr">
                        <a:spcBef>
                          <a:spcPts val="0"/>
                        </a:spcBef>
                        <a:spcAft>
                          <a:spcPts val="0"/>
                        </a:spcAft>
                      </a:pPr>
                      <a:r>
                        <a:rPr lang="en-US" sz="1400" b="0" u="none" strike="noStrike">
                          <a:effectLst/>
                        </a:rPr>
                        <a:t>Shared values</a:t>
                      </a:r>
                      <a:endParaRPr lang="en-US" altLang="zh-HK" sz="1400" b="0" i="0" u="none" strike="noStrike">
                        <a:effectLst/>
                        <a:latin typeface="Arial" panose="020B0604020202020204" pitchFamily="34" charset="0"/>
                      </a:endParaRPr>
                    </a:p>
                  </a:txBody>
                  <a:tcPr marL="28085" marR="28085" marT="14042" marB="14042" anchor="ctr"/>
                </a:tc>
                <a:tc>
                  <a:txBody>
                    <a:bodyPr/>
                    <a:lstStyle/>
                    <a:p>
                      <a:pPr algn="ctr" fontAlgn="ctr">
                        <a:spcBef>
                          <a:spcPts val="0"/>
                        </a:spcBef>
                        <a:spcAft>
                          <a:spcPts val="0"/>
                        </a:spcAft>
                      </a:pPr>
                      <a:r>
                        <a:rPr lang="zh-HK" altLang="en-US" sz="1400" b="0" u="none" strike="noStrike">
                          <a:solidFill>
                            <a:srgbClr val="008000"/>
                          </a:solidFill>
                          <a:effectLst/>
                        </a:rPr>
                        <a:t>●</a:t>
                      </a:r>
                      <a:endParaRPr lang="zh-HK" altLang="en-US" sz="1400" b="0" i="0" u="none" strike="noStrike">
                        <a:effectLst/>
                        <a:latin typeface="Arial" panose="020B0604020202020204" pitchFamily="34" charset="0"/>
                      </a:endParaRPr>
                    </a:p>
                  </a:txBody>
                  <a:tcPr marL="28085" marR="28085" marT="14042" marB="14042" anchor="ctr"/>
                </a:tc>
                <a:tc>
                  <a:txBody>
                    <a:bodyPr/>
                    <a:lstStyle/>
                    <a:p>
                      <a:pPr algn="l" fontAlgn="ctr">
                        <a:spcBef>
                          <a:spcPts val="0"/>
                        </a:spcBef>
                        <a:spcAft>
                          <a:spcPts val="0"/>
                        </a:spcAft>
                      </a:pPr>
                      <a:r>
                        <a:rPr lang="en-US" sz="1400" b="0" u="none" strike="noStrike">
                          <a:effectLst/>
                        </a:rPr>
                        <a:t>There is nothing inherently wrong with autonomy and decentralization. Furthermore, only Ed Claiborne is incompatible with the shared values in the situation.</a:t>
                      </a:r>
                      <a:endParaRPr lang="en-US" altLang="zh-HK" sz="1400" b="0" i="0" u="none" strike="noStrike">
                        <a:effectLst/>
                        <a:latin typeface="Arial" panose="020B0604020202020204" pitchFamily="34" charset="0"/>
                      </a:endParaRPr>
                    </a:p>
                  </a:txBody>
                  <a:tcPr marL="28085" marR="28085" marT="14042" marB="14042" anchor="ctr"/>
                </a:tc>
                <a:extLst>
                  <a:ext uri="{0D108BD9-81ED-4DB2-BD59-A6C34878D82A}">
                    <a16:rowId xmlns:a16="http://schemas.microsoft.com/office/drawing/2014/main" val="3419741445"/>
                  </a:ext>
                </a:extLst>
              </a:tr>
            </a:tbl>
          </a:graphicData>
        </a:graphic>
      </p:graphicFrame>
    </p:spTree>
    <p:extLst>
      <p:ext uri="{BB962C8B-B14F-4D97-AF65-F5344CB8AC3E}">
        <p14:creationId xmlns:p14="http://schemas.microsoft.com/office/powerpoint/2010/main" val="2709299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 name="Rectangle 8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EC12B-AE96-B794-7BDE-D3C65965571F}"/>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altLang="zh-HK" sz="4000" kern="1200">
                <a:solidFill>
                  <a:srgbClr val="FFFFFF"/>
                </a:solidFill>
                <a:latin typeface="+mj-lt"/>
                <a:ea typeface="+mj-ea"/>
                <a:cs typeface="+mj-cs"/>
              </a:rPr>
              <a:t>Q2. A table of solutions</a:t>
            </a:r>
          </a:p>
        </p:txBody>
      </p:sp>
      <p:sp>
        <p:nvSpPr>
          <p:cNvPr id="5" name="Content Placeholder 4">
            <a:extLst>
              <a:ext uri="{FF2B5EF4-FFF2-40B4-BE49-F238E27FC236}">
                <a16:creationId xmlns:a16="http://schemas.microsoft.com/office/drawing/2014/main" id="{CCE74780-DC6E-9713-5579-EEC535E4CCE5}"/>
              </a:ext>
            </a:extLst>
          </p:cNvPr>
          <p:cNvSpPr>
            <a:spLocks noGrp="1"/>
          </p:cNvSpPr>
          <p:nvPr>
            <p:ph idx="1"/>
          </p:nvPr>
        </p:nvSpPr>
        <p:spPr>
          <a:xfrm>
            <a:off x="8572499" y="390832"/>
            <a:ext cx="3233585" cy="873612"/>
          </a:xfrm>
        </p:spPr>
        <p:txBody>
          <a:bodyPr vert="horz" lIns="91440" tIns="45720" rIns="91440" bIns="45720" rtlCol="0" anchor="ctr">
            <a:normAutofit/>
          </a:bodyPr>
          <a:lstStyle/>
          <a:p>
            <a:pPr marL="0" indent="0">
              <a:buNone/>
            </a:pPr>
            <a:r>
              <a:rPr lang="en-US" altLang="zh-HK" sz="1700" kern="1200" dirty="0">
                <a:solidFill>
                  <a:srgbClr val="FFFFFF"/>
                </a:solidFill>
                <a:latin typeface="+mn-lt"/>
                <a:ea typeface="+mn-ea"/>
                <a:cs typeface="+mn-cs"/>
              </a:rPr>
              <a:t>The solutions below are ordered by descending effectiveness.</a:t>
            </a:r>
          </a:p>
        </p:txBody>
      </p:sp>
      <p:graphicFrame>
        <p:nvGraphicFramePr>
          <p:cNvPr id="7" name="Table 6">
            <a:extLst>
              <a:ext uri="{FF2B5EF4-FFF2-40B4-BE49-F238E27FC236}">
                <a16:creationId xmlns:a16="http://schemas.microsoft.com/office/drawing/2014/main" id="{8F976D78-DDFD-E17A-8C2D-0E5DADB91771}"/>
              </a:ext>
            </a:extLst>
          </p:cNvPr>
          <p:cNvGraphicFramePr>
            <a:graphicFrameLocks noGrp="1"/>
          </p:cNvGraphicFramePr>
          <p:nvPr>
            <p:extLst>
              <p:ext uri="{D42A27DB-BD31-4B8C-83A1-F6EECF244321}">
                <p14:modId xmlns:p14="http://schemas.microsoft.com/office/powerpoint/2010/main" val="4087566815"/>
              </p:ext>
            </p:extLst>
          </p:nvPr>
        </p:nvGraphicFramePr>
        <p:xfrm>
          <a:off x="432225" y="2005308"/>
          <a:ext cx="11327552" cy="4374138"/>
        </p:xfrm>
        <a:graphic>
          <a:graphicData uri="http://schemas.openxmlformats.org/drawingml/2006/table">
            <a:tbl>
              <a:tblPr firstRow="1" bandRow="1">
                <a:noFill/>
              </a:tblPr>
              <a:tblGrid>
                <a:gridCol w="458207">
                  <a:extLst>
                    <a:ext uri="{9D8B030D-6E8A-4147-A177-3AD203B41FA5}">
                      <a16:colId xmlns:a16="http://schemas.microsoft.com/office/drawing/2014/main" val="875983677"/>
                    </a:ext>
                  </a:extLst>
                </a:gridCol>
                <a:gridCol w="4828929">
                  <a:extLst>
                    <a:ext uri="{9D8B030D-6E8A-4147-A177-3AD203B41FA5}">
                      <a16:colId xmlns:a16="http://schemas.microsoft.com/office/drawing/2014/main" val="235565983"/>
                    </a:ext>
                  </a:extLst>
                </a:gridCol>
                <a:gridCol w="4489092">
                  <a:extLst>
                    <a:ext uri="{9D8B030D-6E8A-4147-A177-3AD203B41FA5}">
                      <a16:colId xmlns:a16="http://schemas.microsoft.com/office/drawing/2014/main" val="2450533771"/>
                    </a:ext>
                  </a:extLst>
                </a:gridCol>
                <a:gridCol w="656425">
                  <a:extLst>
                    <a:ext uri="{9D8B030D-6E8A-4147-A177-3AD203B41FA5}">
                      <a16:colId xmlns:a16="http://schemas.microsoft.com/office/drawing/2014/main" val="2479219681"/>
                    </a:ext>
                  </a:extLst>
                </a:gridCol>
                <a:gridCol w="894899">
                  <a:extLst>
                    <a:ext uri="{9D8B030D-6E8A-4147-A177-3AD203B41FA5}">
                      <a16:colId xmlns:a16="http://schemas.microsoft.com/office/drawing/2014/main" val="1086919528"/>
                    </a:ext>
                  </a:extLst>
                </a:gridCol>
              </a:tblGrid>
              <a:tr h="266609">
                <a:tc>
                  <a:txBody>
                    <a:bodyPr/>
                    <a:lstStyle/>
                    <a:p>
                      <a:pPr algn="l"/>
                      <a:r>
                        <a:rPr lang="en-US" sz="800" b="1" cap="all" spc="60">
                          <a:solidFill>
                            <a:schemeClr val="tx1"/>
                          </a:solidFill>
                          <a:effectLst/>
                        </a:rPr>
                        <a:t>No.</a:t>
                      </a:r>
                    </a:p>
                  </a:txBody>
                  <a:tcPr marL="5522" marR="5522" marT="60593" marB="60593" anchor="b">
                    <a:lnL w="12700" cmpd="sng">
                      <a:noFill/>
                    </a:lnL>
                    <a:lnR w="12700" cmpd="sng">
                      <a:noFill/>
                    </a:lnR>
                    <a:lnT w="12700" cmpd="sng">
                      <a:noFill/>
                    </a:lnT>
                    <a:lnB w="38100" cmpd="sng">
                      <a:noFill/>
                    </a:lnB>
                    <a:noFill/>
                  </a:tcPr>
                </a:tc>
                <a:tc>
                  <a:txBody>
                    <a:bodyPr/>
                    <a:lstStyle/>
                    <a:p>
                      <a:pPr algn="l"/>
                      <a:r>
                        <a:rPr lang="en-US" sz="800" b="1" cap="all" spc="60">
                          <a:solidFill>
                            <a:schemeClr val="tx1"/>
                          </a:solidFill>
                          <a:effectLst/>
                        </a:rPr>
                        <a:t>Description</a:t>
                      </a:r>
                    </a:p>
                  </a:txBody>
                  <a:tcPr marL="5522" marR="5522" marT="60593" marB="60593" anchor="b">
                    <a:lnL w="12700" cmpd="sng">
                      <a:noFill/>
                    </a:lnL>
                    <a:lnR w="12700" cmpd="sng">
                      <a:noFill/>
                    </a:lnR>
                    <a:lnT w="12700" cmpd="sng">
                      <a:noFill/>
                    </a:lnT>
                    <a:lnB w="38100" cmpd="sng">
                      <a:noFill/>
                    </a:lnB>
                    <a:noFill/>
                  </a:tcPr>
                </a:tc>
                <a:tc>
                  <a:txBody>
                    <a:bodyPr/>
                    <a:lstStyle/>
                    <a:p>
                      <a:pPr algn="l"/>
                      <a:r>
                        <a:rPr lang="en-US" sz="800" b="1" cap="all" spc="60">
                          <a:solidFill>
                            <a:schemeClr val="tx1"/>
                          </a:solidFill>
                          <a:effectLst/>
                        </a:rPr>
                        <a:t>Who</a:t>
                      </a:r>
                    </a:p>
                  </a:txBody>
                  <a:tcPr marL="5522" marR="5522" marT="60593" marB="60593" anchor="b">
                    <a:lnL w="12700" cmpd="sng">
                      <a:noFill/>
                    </a:lnL>
                    <a:lnR w="12700" cmpd="sng">
                      <a:noFill/>
                    </a:lnR>
                    <a:lnT w="12700" cmpd="sng">
                      <a:noFill/>
                    </a:lnT>
                    <a:lnB w="38100" cmpd="sng">
                      <a:noFill/>
                    </a:lnB>
                    <a:noFill/>
                  </a:tcPr>
                </a:tc>
                <a:tc>
                  <a:txBody>
                    <a:bodyPr/>
                    <a:lstStyle/>
                    <a:p>
                      <a:pPr algn="l"/>
                      <a:r>
                        <a:rPr lang="en-US" sz="800" b="1" cap="all" spc="60">
                          <a:solidFill>
                            <a:schemeClr val="tx1"/>
                          </a:solidFill>
                          <a:effectLst/>
                        </a:rPr>
                        <a:t>Weeks</a:t>
                      </a:r>
                    </a:p>
                  </a:txBody>
                  <a:tcPr marL="5522" marR="5522" marT="60593" marB="60593" anchor="b">
                    <a:lnL w="12700" cmpd="sng">
                      <a:noFill/>
                    </a:lnL>
                    <a:lnR w="12700" cmpd="sng">
                      <a:noFill/>
                    </a:lnR>
                    <a:lnT w="12700" cmpd="sng">
                      <a:noFill/>
                    </a:lnT>
                    <a:lnB w="38100" cmpd="sng">
                      <a:noFill/>
                    </a:lnB>
                    <a:noFill/>
                  </a:tcPr>
                </a:tc>
                <a:tc>
                  <a:txBody>
                    <a:bodyPr/>
                    <a:lstStyle/>
                    <a:p>
                      <a:pPr algn="l"/>
                      <a:r>
                        <a:rPr lang="en-US" sz="800" b="1" cap="all" spc="60">
                          <a:solidFill>
                            <a:schemeClr val="tx1"/>
                          </a:solidFill>
                          <a:effectLst/>
                        </a:rPr>
                        <a:t>Budget</a:t>
                      </a:r>
                    </a:p>
                  </a:txBody>
                  <a:tcPr marL="5522" marR="5522" marT="60593" marB="60593" anchor="b">
                    <a:lnL w="12700" cmpd="sng">
                      <a:noFill/>
                    </a:lnL>
                    <a:lnR w="12700" cmpd="sng">
                      <a:noFill/>
                    </a:lnR>
                    <a:lnT w="12700" cmpd="sng">
                      <a:noFill/>
                    </a:lnT>
                    <a:lnB w="38100" cmpd="sng">
                      <a:noFill/>
                    </a:lnB>
                    <a:noFill/>
                  </a:tcPr>
                </a:tc>
                <a:extLst>
                  <a:ext uri="{0D108BD9-81ED-4DB2-BD59-A6C34878D82A}">
                    <a16:rowId xmlns:a16="http://schemas.microsoft.com/office/drawing/2014/main" val="1584113870"/>
                  </a:ext>
                </a:extLst>
              </a:tr>
              <a:tr h="410753">
                <a:tc>
                  <a:txBody>
                    <a:bodyPr/>
                    <a:lstStyle/>
                    <a:p>
                      <a:r>
                        <a:rPr lang="en-US" altLang="zh-HK" sz="1100" cap="none" spc="0">
                          <a:solidFill>
                            <a:schemeClr val="tx1"/>
                          </a:solidFill>
                          <a:effectLst/>
                        </a:rPr>
                        <a:t>1</a:t>
                      </a:r>
                    </a:p>
                  </a:txBody>
                  <a:tcPr marL="5522" marR="5522" marT="2761" marB="60593" anchor="ctr">
                    <a:lnL w="12700" cap="flat" cmpd="sng" algn="ctr">
                      <a:solidFill>
                        <a:schemeClr val="tx1"/>
                      </a:solidFill>
                      <a:prstDash val="solid"/>
                    </a:lnL>
                    <a:lnR w="12700" cmpd="sng">
                      <a:noFill/>
                      <a:prstDash val="solid"/>
                    </a:lnR>
                    <a:lnT w="38100" cmpd="sng">
                      <a:noFill/>
                    </a:lnT>
                    <a:lnB w="12700" cmpd="sng">
                      <a:noFill/>
                      <a:prstDash val="solid"/>
                    </a:lnB>
                    <a:noFill/>
                  </a:tcPr>
                </a:tc>
                <a:tc>
                  <a:txBody>
                    <a:bodyPr/>
                    <a:lstStyle/>
                    <a:p>
                      <a:r>
                        <a:rPr lang="en-US" sz="1100" cap="none" spc="0">
                          <a:solidFill>
                            <a:schemeClr val="tx1"/>
                          </a:solidFill>
                          <a:effectLst/>
                        </a:rPr>
                        <a:t>Shorten policy notification advance time to 1 week or less. This takes into account that the plants are very busy.</a:t>
                      </a:r>
                    </a:p>
                  </a:txBody>
                  <a:tcPr marL="5522" marR="5522" marT="2761" marB="60593" anchor="ctr">
                    <a:lnL w="12700" cmpd="sng">
                      <a:noFill/>
                      <a:prstDash val="solid"/>
                    </a:lnL>
                    <a:lnR w="12700" cmpd="sng">
                      <a:noFill/>
                      <a:prstDash val="solid"/>
                    </a:lnR>
                    <a:lnT w="38100" cmpd="sng">
                      <a:noFill/>
                    </a:lnT>
                    <a:lnB w="12700" cmpd="sng">
                      <a:noFill/>
                      <a:prstDash val="solid"/>
                    </a:lnB>
                    <a:noFill/>
                  </a:tcPr>
                </a:tc>
                <a:tc>
                  <a:txBody>
                    <a:bodyPr/>
                    <a:lstStyle/>
                    <a:p>
                      <a:r>
                        <a:rPr lang="en-US" sz="1100" cap="none" spc="0">
                          <a:solidFill>
                            <a:schemeClr val="tx1"/>
                          </a:solidFill>
                          <a:effectLst/>
                        </a:rPr>
                        <a:t>Corporate Vice President of Procurement</a:t>
                      </a:r>
                    </a:p>
                  </a:txBody>
                  <a:tcPr marL="5522" marR="5522" marT="2761" marB="60593" anchor="ctr">
                    <a:lnL w="12700" cmpd="sng">
                      <a:noFill/>
                      <a:prstDash val="solid"/>
                    </a:lnL>
                    <a:lnR w="12700" cmpd="sng">
                      <a:noFill/>
                      <a:prstDash val="solid"/>
                    </a:lnR>
                    <a:lnT w="38100" cmpd="sng">
                      <a:noFill/>
                    </a:lnT>
                    <a:lnB w="12700" cmpd="sng">
                      <a:noFill/>
                      <a:prstDash val="solid"/>
                    </a:lnB>
                    <a:noFill/>
                  </a:tcPr>
                </a:tc>
                <a:tc>
                  <a:txBody>
                    <a:bodyPr/>
                    <a:lstStyle/>
                    <a:p>
                      <a:r>
                        <a:rPr lang="en-US" altLang="zh-HK" sz="1100" cap="none" spc="0">
                          <a:solidFill>
                            <a:schemeClr val="tx1"/>
                          </a:solidFill>
                          <a:effectLst/>
                        </a:rPr>
                        <a:t>1</a:t>
                      </a:r>
                    </a:p>
                  </a:txBody>
                  <a:tcPr marL="5522" marR="5522" marT="2761" marB="60593" anchor="ctr">
                    <a:lnL w="12700" cmpd="sng">
                      <a:noFill/>
                      <a:prstDash val="solid"/>
                    </a:lnL>
                    <a:lnR w="12700" cmpd="sng">
                      <a:noFill/>
                      <a:prstDash val="solid"/>
                    </a:lnR>
                    <a:lnT w="38100" cmpd="sng">
                      <a:noFill/>
                    </a:lnT>
                    <a:lnB w="12700" cmpd="sng">
                      <a:noFill/>
                      <a:prstDash val="solid"/>
                    </a:lnB>
                    <a:noFill/>
                  </a:tcPr>
                </a:tc>
                <a:tc>
                  <a:txBody>
                    <a:bodyPr/>
                    <a:lstStyle/>
                    <a:p>
                      <a:r>
                        <a:rPr lang="en-US" sz="1100" cap="none" spc="0">
                          <a:solidFill>
                            <a:schemeClr val="tx1"/>
                          </a:solidFill>
                          <a:effectLst/>
                        </a:rPr>
                        <a:t>US$0</a:t>
                      </a:r>
                    </a:p>
                  </a:txBody>
                  <a:tcPr marL="5522" marR="5522" marT="2761" marB="60593"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3664950760"/>
                  </a:ext>
                </a:extLst>
              </a:tr>
              <a:tr h="410753">
                <a:tc>
                  <a:txBody>
                    <a:bodyPr/>
                    <a:lstStyle/>
                    <a:p>
                      <a:r>
                        <a:rPr lang="en-US" altLang="zh-HK" sz="1100" cap="none" spc="0">
                          <a:solidFill>
                            <a:schemeClr val="tx1"/>
                          </a:solidFill>
                          <a:effectLst/>
                        </a:rPr>
                        <a:t>2</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Ed Claiborne should visit some of the plants for suggestions on centralizing procurement.</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Corporate Vice President of Procurement</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altLang="zh-HK" sz="1100" cap="none" spc="0">
                          <a:solidFill>
                            <a:schemeClr val="tx1"/>
                          </a:solidFill>
                          <a:effectLst/>
                        </a:rPr>
                        <a:t>4</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US$10k</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102101839"/>
                  </a:ext>
                </a:extLst>
              </a:tr>
              <a:tr h="410753">
                <a:tc>
                  <a:txBody>
                    <a:bodyPr/>
                    <a:lstStyle/>
                    <a:p>
                      <a:r>
                        <a:rPr lang="en-US" altLang="zh-HK" sz="1100" cap="none" spc="0">
                          <a:solidFill>
                            <a:schemeClr val="tx1"/>
                          </a:solidFill>
                          <a:effectLst/>
                        </a:rPr>
                        <a:t>3</a:t>
                      </a:r>
                    </a:p>
                  </a:txBody>
                  <a:tcPr marL="5522" marR="5522" marT="2761" marB="60593"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Onboarding for new high-level employees. This helps avoid said employees doing things unsuitable for the company.</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Chief Executive Officer, Human Resources Officer</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altLang="zh-HK" sz="1100" cap="none" spc="0">
                          <a:solidFill>
                            <a:schemeClr val="tx1"/>
                          </a:solidFill>
                          <a:effectLst/>
                        </a:rPr>
                        <a:t>4</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US$10k</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065503961"/>
                  </a:ext>
                </a:extLst>
              </a:tr>
              <a:tr h="410753">
                <a:tc>
                  <a:txBody>
                    <a:bodyPr/>
                    <a:lstStyle/>
                    <a:p>
                      <a:r>
                        <a:rPr lang="en-US" altLang="zh-HK" sz="1100" cap="none" spc="0">
                          <a:solidFill>
                            <a:schemeClr val="tx1"/>
                          </a:solidFill>
                          <a:effectLst/>
                        </a:rPr>
                        <a:t>4</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Setup a technology department, and add a Chief Digital Officer position. This also helps with future digital transformation of the company.</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Board of Directors, Chief Executive Officers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altLang="zh-HK" sz="1100" cap="none" spc="0">
                          <a:solidFill>
                            <a:schemeClr val="tx1"/>
                          </a:solidFill>
                          <a:effectLst/>
                        </a:rPr>
                        <a:t>13</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US$1M</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72975087"/>
                  </a:ext>
                </a:extLst>
              </a:tr>
              <a:tr h="410753">
                <a:tc>
                  <a:txBody>
                    <a:bodyPr/>
                    <a:lstStyle/>
                    <a:p>
                      <a:r>
                        <a:rPr lang="en-US" altLang="zh-HK" sz="1100" cap="none" spc="0">
                          <a:solidFill>
                            <a:schemeClr val="tx1"/>
                          </a:solidFill>
                          <a:effectLst/>
                        </a:rPr>
                        <a:t>5</a:t>
                      </a:r>
                    </a:p>
                  </a:txBody>
                  <a:tcPr marL="5522" marR="5522" marT="2761" marB="60593"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Invest in information technology to manage plants. This helps with centralizing procurement and other things.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Chief Digital Officer</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altLang="zh-HK" sz="1100" cap="none" spc="0">
                          <a:solidFill>
                            <a:schemeClr val="tx1"/>
                          </a:solidFill>
                          <a:effectLst/>
                        </a:rPr>
                        <a:t>52</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US$10M</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982399326"/>
                  </a:ext>
                </a:extLst>
              </a:tr>
              <a:tr h="249172">
                <a:tc>
                  <a:txBody>
                    <a:bodyPr/>
                    <a:lstStyle/>
                    <a:p>
                      <a:r>
                        <a:rPr lang="en-US" altLang="zh-HK" sz="1100" cap="none" spc="0">
                          <a:solidFill>
                            <a:schemeClr val="tx1"/>
                          </a:solidFill>
                          <a:effectLst/>
                        </a:rPr>
                        <a:t>6</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Setup incentives to encourage cooperation across plants.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Plant General Managers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altLang="zh-HK" sz="1100" cap="none" spc="0">
                          <a:solidFill>
                            <a:schemeClr val="tx1"/>
                          </a:solidFill>
                          <a:effectLst/>
                        </a:rPr>
                        <a:t>13</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US$1M</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600490507"/>
                  </a:ext>
                </a:extLst>
              </a:tr>
              <a:tr h="572333">
                <a:tc>
                  <a:txBody>
                    <a:bodyPr/>
                    <a:lstStyle/>
                    <a:p>
                      <a:r>
                        <a:rPr lang="en-US" altLang="zh-HK" sz="1100" cap="none" spc="0">
                          <a:solidFill>
                            <a:schemeClr val="tx1"/>
                          </a:solidFill>
                          <a:effectLst/>
                        </a:rPr>
                        <a:t>7</a:t>
                      </a:r>
                    </a:p>
                  </a:txBody>
                  <a:tcPr marL="5522" marR="5522" marT="2761" marB="60593"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The candidate being appointed a high-level position also requires approval from the board of directors. This helps avoid choosing a less-than-ideal candidates for high-level positions.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Board of Directors, Chief Executive Officer</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altLang="zh-HK" sz="1100" cap="none" spc="0">
                          <a:solidFill>
                            <a:schemeClr val="tx1"/>
                          </a:solidFill>
                          <a:effectLst/>
                        </a:rPr>
                        <a:t>2</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US$10k</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805782234"/>
                  </a:ext>
                </a:extLst>
              </a:tr>
              <a:tr h="410753">
                <a:tc>
                  <a:txBody>
                    <a:bodyPr/>
                    <a:lstStyle/>
                    <a:p>
                      <a:r>
                        <a:rPr lang="en-US" altLang="zh-HK" sz="1100" cap="none" spc="0">
                          <a:solidFill>
                            <a:schemeClr val="tx1"/>
                          </a:solidFill>
                          <a:effectLst/>
                        </a:rPr>
                        <a:t>8</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Restructure the company to make procurement more centralized. The current structure as is is ineffective for procurement centralization.</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Chief Executive Officer, Corporate Vice President of Procurement, Plant Procurement Managers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altLang="zh-HK" sz="1100" cap="none" spc="0">
                          <a:solidFill>
                            <a:schemeClr val="tx1"/>
                          </a:solidFill>
                          <a:effectLst/>
                        </a:rPr>
                        <a:t>13</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US$100k</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452370180"/>
                  </a:ext>
                </a:extLst>
              </a:tr>
              <a:tr h="410753">
                <a:tc>
                  <a:txBody>
                    <a:bodyPr/>
                    <a:lstStyle/>
                    <a:p>
                      <a:r>
                        <a:rPr lang="en-US" altLang="zh-HK" sz="1100" cap="none" spc="0">
                          <a:solidFill>
                            <a:schemeClr val="tx1"/>
                          </a:solidFill>
                          <a:effectLst/>
                        </a:rPr>
                        <a:t>9</a:t>
                      </a:r>
                    </a:p>
                  </a:txBody>
                  <a:tcPr marL="5522" marR="5522" marT="2761" marB="60593" anchor="ctr">
                    <a:lnL w="12700"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Impose small penalties for failing to follow policies. The penalties should not be too large to avoid conflicting with shared values.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Chief Executive Officer, Plant General Managers</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altLang="zh-HK" sz="1100" cap="none" spc="0">
                          <a:solidFill>
                            <a:schemeClr val="tx1"/>
                          </a:solidFill>
                          <a:effectLst/>
                        </a:rPr>
                        <a:t>4</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100" cap="none" spc="0">
                          <a:solidFill>
                            <a:schemeClr val="tx1"/>
                          </a:solidFill>
                          <a:effectLst/>
                        </a:rPr>
                        <a:t>US$10k</a:t>
                      </a:r>
                    </a:p>
                  </a:txBody>
                  <a:tcPr marL="5522" marR="5522" marT="2761" marB="6059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646846764"/>
                  </a:ext>
                </a:extLst>
              </a:tr>
              <a:tr h="410753">
                <a:tc>
                  <a:txBody>
                    <a:bodyPr/>
                    <a:lstStyle/>
                    <a:p>
                      <a:r>
                        <a:rPr lang="en-US" altLang="zh-HK" sz="1100" cap="none" spc="0">
                          <a:solidFill>
                            <a:schemeClr val="tx1"/>
                          </a:solidFill>
                          <a:effectLst/>
                        </a:rPr>
                        <a:t>10</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Company workshops to help realign values. This might work to nudge employee values slightly.</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Human Resources Officer</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altLang="zh-HK" sz="1100" cap="none" spc="0">
                          <a:solidFill>
                            <a:schemeClr val="tx1"/>
                          </a:solidFill>
                          <a:effectLst/>
                        </a:rPr>
                        <a:t>4</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r>
                        <a:rPr lang="en-US" sz="1100" cap="none" spc="0">
                          <a:solidFill>
                            <a:schemeClr val="tx1"/>
                          </a:solidFill>
                          <a:effectLst/>
                        </a:rPr>
                        <a:t>US$10k</a:t>
                      </a:r>
                    </a:p>
                  </a:txBody>
                  <a:tcPr marL="5522" marR="5522" marT="2761" marB="60593"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455867944"/>
                  </a:ext>
                </a:extLst>
              </a:tr>
            </a:tbl>
          </a:graphicData>
        </a:graphic>
      </p:graphicFrame>
    </p:spTree>
    <p:extLst>
      <p:ext uri="{BB962C8B-B14F-4D97-AF65-F5344CB8AC3E}">
        <p14:creationId xmlns:p14="http://schemas.microsoft.com/office/powerpoint/2010/main" val="2356172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1EC12B-AE96-B794-7BDE-D3C65965571F}"/>
              </a:ext>
            </a:extLst>
          </p:cNvPr>
          <p:cNvSpPr>
            <a:spLocks noGrp="1"/>
          </p:cNvSpPr>
          <p:nvPr>
            <p:ph type="title"/>
          </p:nvPr>
        </p:nvSpPr>
        <p:spPr>
          <a:xfrm>
            <a:off x="1371599" y="294538"/>
            <a:ext cx="9895951" cy="1033669"/>
          </a:xfrm>
        </p:spPr>
        <p:txBody>
          <a:bodyPr>
            <a:normAutofit/>
          </a:bodyPr>
          <a:lstStyle/>
          <a:p>
            <a:r>
              <a:rPr lang="en-US" altLang="zh-HK" sz="3700">
                <a:solidFill>
                  <a:srgbClr val="FFFFFF"/>
                </a:solidFill>
              </a:rPr>
              <a:t>Q3. An email in 5-Step Persuasive Selling format</a:t>
            </a:r>
            <a:endParaRPr lang="zh-HK" altLang="en-US" sz="3700">
              <a:solidFill>
                <a:srgbClr val="FFFFFF"/>
              </a:solidFill>
            </a:endParaRPr>
          </a:p>
        </p:txBody>
      </p:sp>
      <p:sp>
        <p:nvSpPr>
          <p:cNvPr id="3" name="Content Placeholder 2">
            <a:extLst>
              <a:ext uri="{FF2B5EF4-FFF2-40B4-BE49-F238E27FC236}">
                <a16:creationId xmlns:a16="http://schemas.microsoft.com/office/drawing/2014/main" id="{27BEE0F7-CC87-197D-E66C-A949990FD723}"/>
              </a:ext>
            </a:extLst>
          </p:cNvPr>
          <p:cNvSpPr>
            <a:spLocks noGrp="1"/>
          </p:cNvSpPr>
          <p:nvPr>
            <p:ph idx="1"/>
          </p:nvPr>
        </p:nvSpPr>
        <p:spPr>
          <a:xfrm>
            <a:off x="1371599" y="2318197"/>
            <a:ext cx="9724031" cy="3683358"/>
          </a:xfrm>
        </p:spPr>
        <p:txBody>
          <a:bodyPr anchor="ctr">
            <a:normAutofit/>
          </a:bodyPr>
          <a:lstStyle/>
          <a:p>
            <a:pPr marL="0" indent="0">
              <a:buNone/>
            </a:pPr>
            <a:r>
              <a:rPr lang="en-US" altLang="zh-HK" sz="1100" dirty="0"/>
              <a:t>Dear Ms. Hilgard,</a:t>
            </a:r>
          </a:p>
          <a:p>
            <a:pPr marL="0" indent="0">
              <a:buNone/>
            </a:pPr>
            <a:r>
              <a:rPr lang="en-US" altLang="zh-HK" sz="1100" dirty="0"/>
              <a:t>As you know, some plants missed their targets for the previous 3 years. Thus, the new Corporate Vice President of Procurement, Mr. Claiborne, introduced a new policy of notifying him of purchases over $250k in advance of 2 weeks. However, no one notified him of any purchases for the several weeks this policy is implemented. We found that bad policy implementation, lack of new employee onboarding, and insufficient information technology to be the root causes.</a:t>
            </a:r>
          </a:p>
          <a:p>
            <a:pPr marL="0" indent="0">
              <a:buNone/>
            </a:pPr>
            <a:r>
              <a:rPr lang="en-US" altLang="zh-HK" sz="1100" dirty="0"/>
              <a:t>Our solution is improving policy implementation, better onboarding, and better information technology.</a:t>
            </a:r>
          </a:p>
          <a:p>
            <a:pPr marL="0" indent="0">
              <a:buNone/>
            </a:pPr>
            <a:r>
              <a:rPr lang="en-US" altLang="zh-HK" sz="1100" dirty="0"/>
              <a:t>To help fix the new policy quickly, Mr. Claiborne can shorten the advance duration to 1 week or less. In the long term, he should visit the plants and ask the plant managers for advice on his policy. Meanwhile, you and the human resources department should help Mr. Claiborne and any new high-level employees with company onboarding. Finally, you and the board of directors should consider setting a technology department to invest in information technology.</a:t>
            </a:r>
          </a:p>
          <a:p>
            <a:pPr marL="0" indent="0">
              <a:buNone/>
            </a:pPr>
            <a:r>
              <a:rPr lang="en-US" altLang="zh-HK" sz="1100" dirty="0"/>
              <a:t>Our solution above can help with compliance with the new policy and refine it. It can help new high-level employees avoid making mistakes. And the technology department can help with the company's digital transformation and improve operational efficiency. Digital transformation is the next big thing, and other companies are investing in technology too, so we should not fall behind and invest in technology.</a:t>
            </a:r>
          </a:p>
          <a:p>
            <a:pPr marL="0" indent="0">
              <a:buNone/>
            </a:pPr>
            <a:r>
              <a:rPr lang="en-US" altLang="zh-HK" sz="1100" dirty="0"/>
              <a:t>I would like go over the details with you as soon as possible. Could we schedule a meeting? Thanks.</a:t>
            </a:r>
          </a:p>
          <a:p>
            <a:pPr marL="0" indent="0">
              <a:buNone/>
            </a:pPr>
            <a:r>
              <a:rPr lang="en-US" altLang="zh-HK" sz="1100" dirty="0"/>
              <a:t>Sincerely,</a:t>
            </a:r>
            <a:br>
              <a:rPr lang="en-US" altLang="zh-HK" sz="1100" dirty="0"/>
            </a:br>
            <a:r>
              <a:rPr lang="en-US" altLang="zh-HK" sz="1100" dirty="0"/>
              <a:t>Bruce Lee</a:t>
            </a:r>
          </a:p>
          <a:p>
            <a:pPr marL="0" indent="0">
              <a:buNone/>
            </a:pPr>
            <a:r>
              <a:rPr lang="en-US" altLang="zh-HK" sz="1100" i="1" dirty="0"/>
              <a:t>250 words.</a:t>
            </a:r>
            <a:endParaRPr lang="zh-HK" altLang="en-US" sz="1100" i="1" dirty="0"/>
          </a:p>
        </p:txBody>
      </p:sp>
    </p:spTree>
    <p:extLst>
      <p:ext uri="{BB962C8B-B14F-4D97-AF65-F5344CB8AC3E}">
        <p14:creationId xmlns:p14="http://schemas.microsoft.com/office/powerpoint/2010/main" val="1462987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TotalTime>
  <Words>1510</Words>
  <PresentationFormat>Widescreen</PresentationFormat>
  <Paragraphs>189</Paragraphs>
  <Slides>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W11 Organizational Analysis (DRW)</vt:lpstr>
      <vt:lpstr>Q1. Root Cause Analysis in Cause Mapping notation</vt:lpstr>
      <vt:lpstr>Q1. Root Cause Analysis in Cause Mapping notation (cont.)</vt:lpstr>
      <vt:lpstr>Q1. Root Cause Analysis in Cause Mapping notation (report card)</vt:lpstr>
      <vt:lpstr>Q2. A table of solutions</vt:lpstr>
      <vt:lpstr>Q3. An email in 5-Step Persuasive Selling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2024-04-14T14:27:55Z</dcterms:created>
  <dcterms:modified xsi:type="dcterms:W3CDTF">2024-04-21T15:59:24Z</dcterms:modified>
</cp:coreProperties>
</file>